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0" r:id="rId2"/>
    <p:sldId id="259" r:id="rId3"/>
    <p:sldId id="308" r:id="rId4"/>
    <p:sldId id="278" r:id="rId5"/>
    <p:sldId id="291" r:id="rId6"/>
    <p:sldId id="292" r:id="rId7"/>
    <p:sldId id="309" r:id="rId8"/>
    <p:sldId id="295" r:id="rId9"/>
    <p:sldId id="283" r:id="rId10"/>
    <p:sldId id="284" r:id="rId11"/>
    <p:sldId id="310" r:id="rId12"/>
    <p:sldId id="303" r:id="rId13"/>
    <p:sldId id="28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8FEDAE-9A46-4FB5-9B9D-46117FB89E41}" type="datetimeFigureOut">
              <a:rPr lang="zh-CN" altLang="en-US" smtClean="0"/>
              <a:t>2026/7/14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DC81C3-8C10-4FA4-9902-D21FA5646ECE}" type="slidenum">
              <a:rPr lang="zh-CN" altLang="en-US" smtClean="0"/>
              <a:t>‹#›</a:t>
            </a:fld>
            <a:endParaRPr lang="zh-CN" altLang="en-US"/>
          </a:p>
        </p:txBody>
      </p:sp>
    </p:spTree>
    <p:extLst>
      <p:ext uri="{BB962C8B-B14F-4D97-AF65-F5344CB8AC3E}">
        <p14:creationId xmlns:p14="http://schemas.microsoft.com/office/powerpoint/2010/main" val="56614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仿宋_GB2312"/>
                <a:cs typeface="Times New Roman" panose="02020603050405020304" pitchFamily="18" charset="0"/>
              </a:rPr>
              <a:t>本课题选择基于模型的强化学习算法框架的原因在于环境中存在不随博弈关系变化的共性物理规律，这部分知识可被学习一次并在所有关系构型下复用；而真正随关系演化的只是各智能体的收益偏好与最优响应。若采用无模型方法，策略会将收益结构和环境动力学混杂进同一个端到端映射，一旦关系偏移，整个策略只能通过大量新交互重新调整，样本效率很低。相比之下，基于模型的方法显式学习环境动态模型，可利用规划前瞻性决策，并允许将共性动力学与关系敏感的收益预测解耦，从而在关系变化时仅需更新收益部分，无需重新学习环境模型，大幅提升样本效率与适应速度。</a:t>
            </a:r>
            <a:r>
              <a:rPr lang="zh-CN" altLang="en-US" dirty="0"/>
              <a:t>角色感知模块从私有角色行向量与观测历史中提取当前角色和当前构型的上下文表征；主观，客观分离的世界模型模块以该上下文为条件，由超网络生成各智能体专属的奖励与策略预测参数，同时以权重共享的客观网络刻画与关系无关的环境动力学。</a:t>
            </a:r>
          </a:p>
        </p:txBody>
      </p:sp>
      <p:sp>
        <p:nvSpPr>
          <p:cNvPr id="4" name="灯片编号占位符 3"/>
          <p:cNvSpPr>
            <a:spLocks noGrp="1"/>
          </p:cNvSpPr>
          <p:nvPr>
            <p:ph type="sldNum" sz="quarter" idx="5"/>
          </p:nvPr>
        </p:nvSpPr>
        <p:spPr/>
        <p:txBody>
          <a:bodyPr/>
          <a:lstStyle/>
          <a:p>
            <a:fld id="{CFBC9B1C-0A13-4BA1-BA34-1E4B1773898A}" type="slidenum">
              <a:rPr lang="zh-CN" altLang="en-US" smtClean="0"/>
              <a:t>6</a:t>
            </a:fld>
            <a:endParaRPr lang="zh-CN" altLang="en-US"/>
          </a:p>
        </p:txBody>
      </p:sp>
    </p:spTree>
    <p:extLst>
      <p:ext uri="{BB962C8B-B14F-4D97-AF65-F5344CB8AC3E}">
        <p14:creationId xmlns:p14="http://schemas.microsoft.com/office/powerpoint/2010/main" val="1427578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F117C-0DE6-428A-A29C-6230DE9F38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E2BA0BC-3319-4B3D-B51E-B62D5A9DE0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2EC1AA4-86DB-401C-93A7-DFB0A4FF2E6A}"/>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B8ECB6BE-FB5E-4B9B-9EA0-6EEF6FCC04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20DE3A-982F-470A-8259-B892B422FA65}"/>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2625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FE673-3432-47FE-9E6F-CD6D9EC3C0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301417-48BD-4FAA-A097-18CA18C514C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F7F990-8BFE-4A44-BDAC-305345C1E04C}"/>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76601D40-71E3-45C8-AAAC-782324DBA8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C1308F-3E20-42FD-AB97-F50DEC583467}"/>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528525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D008B-B215-47CE-B987-00585BB929A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CE70BDC-0EF3-4ED4-8179-B87EC823AB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55B74C-AECD-4DE8-8E5F-08F6B76A804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0DCA714B-4DBA-4FE1-9B36-1E67C9732C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479785-A801-4EE6-A952-950C0BE0BBFD}"/>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403616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D4F4D-774C-4742-B229-CC19850865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9ABF86-0DA9-470B-ADDA-95A648BAD6D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95103F6-AB9F-4E7C-9BAE-A122268BE4E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A095E27-78CB-4AB0-8F3E-08D74152DC9E}"/>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19B6666D-F661-4AE9-A3A2-49F9C2962BB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035D14-13DA-4CA9-B782-CF0181627A34}"/>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2420208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0F56A4-5149-46AE-B10D-F4248B399F0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460BCDA-06FC-4D8E-89CA-B102E1F3CF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492DC72-08D6-4214-81F0-6DA154161FC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CE6C53C-D54D-4B91-B36B-EE3883F29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0174132-DB35-4186-88B2-CDA43DA8868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0B4916B-3CF7-4481-8DF4-D83253F41A87}"/>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8" name="页脚占位符 7">
            <a:extLst>
              <a:ext uri="{FF2B5EF4-FFF2-40B4-BE49-F238E27FC236}">
                <a16:creationId xmlns:a16="http://schemas.microsoft.com/office/drawing/2014/main" id="{3381A3F9-6F39-4328-9FBB-19E7C98205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EB62E3-1D5A-4C1C-AE3F-56CFB93566A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844134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05AA7-2F53-4883-A32F-3EA421887D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4B8212-D93E-4976-A541-2186ADC107A0}"/>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4" name="页脚占位符 3">
            <a:extLst>
              <a:ext uri="{FF2B5EF4-FFF2-40B4-BE49-F238E27FC236}">
                <a16:creationId xmlns:a16="http://schemas.microsoft.com/office/drawing/2014/main" id="{E92F0D15-F63D-4E86-A76F-8426585DBDC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DBA79D3-F9F2-4841-B24E-61B20E84FCE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211527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FEEF843-452B-4EC0-A42E-15F0BAE9481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3" name="页脚占位符 2">
            <a:extLst>
              <a:ext uri="{FF2B5EF4-FFF2-40B4-BE49-F238E27FC236}">
                <a16:creationId xmlns:a16="http://schemas.microsoft.com/office/drawing/2014/main" id="{D4ECA252-4FE5-4EA7-93D5-2450F2B7E3C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D08000F-FFD3-4001-BE8B-2CB20337EAC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091108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7C4B03-2C87-472F-B5BC-7F2BC75992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047F1B-B69E-4430-B2E0-C55F574ADF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C115B1-5473-4958-AA82-354A7E5FC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24C063-1381-427F-A59B-F06FED4EA80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C2D5FC66-787B-4309-894C-77883E3B5E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74307C-283F-4F7D-ACC0-A9F22E441648}"/>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295106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849A2E-010E-4FEC-807E-2FE9875961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30BA28B-B2F3-418A-9C97-EE28BB2680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0A67005-A58A-4C8B-94E0-A1CCE4066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32FD64-2860-41BE-B996-C2C157BF48C5}"/>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51313CDA-5F00-42D6-B99A-4EC580D4E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AC53CF-EBD9-474E-9675-A369D7CA0A32}"/>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70847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28AD6A-695C-4113-8662-AE82CCFF90C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D86A8A7-8121-433B-898F-C3C71133942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E4DE22-2073-48FE-BA0E-659C6B3F20ED}"/>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A3934F59-DBEF-474F-AFDA-B49BDEC403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547901-7F63-44CD-987D-68AF95313B74}"/>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5693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30B3939-3065-4877-A8A1-03039DC9904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B9AEBD9-1A1F-4F69-8ABD-E190FECA3B2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6A282D-608F-4261-9914-F99BC66CBCCF}"/>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89583964-9A6C-403C-95A2-4702F620C9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B74CF4-A0E6-40F5-9790-3C22817711AD}"/>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464696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7985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4EF95DE-F530-4F0D-926C-29BD2A9C9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8D19D24-4347-4DC2-819C-1620A8D7F6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B6A3B8-20F5-4C1E-AF35-40DAAF898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C0CDED3E-B293-43BF-A588-F69E90F00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3FB53F-8F2D-449A-93FA-A6C6C11D2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308830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9AEE-3D07-4CD3-00B5-902B906251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354FC1-CD70-140F-DF44-403A3341CEB5}"/>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D8DA57AD-B573-4945-4115-62ADD1412AEE}"/>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1</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D10955C8-D5F3-0F6F-F2C5-E0B7FC38C205}"/>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研究背景与问题</a:t>
            </a:r>
          </a:p>
        </p:txBody>
      </p:sp>
      <p:sp>
        <p:nvSpPr>
          <p:cNvPr id="16" name="矩形 15">
            <a:extLst>
              <a:ext uri="{FF2B5EF4-FFF2-40B4-BE49-F238E27FC236}">
                <a16:creationId xmlns:a16="http://schemas.microsoft.com/office/drawing/2014/main" id="{02984A20-EF91-6BC9-9D99-1D35AF64E83E}"/>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5973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787215" y="385281"/>
            <a:ext cx="3996217"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研究背景与问题</a:t>
            </a:r>
          </a:p>
        </p:txBody>
      </p:sp>
      <p:sp>
        <p:nvSpPr>
          <p:cNvPr id="11" name="标题 1"/>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7" name="文本框 26">
            <a:extLst>
              <a:ext uri="{FF2B5EF4-FFF2-40B4-BE49-F238E27FC236}">
                <a16:creationId xmlns:a16="http://schemas.microsoft.com/office/drawing/2014/main" id="{622D6FB0-DABE-095B-E8FC-74226E037EC3}"/>
              </a:ext>
            </a:extLst>
          </p:cNvPr>
          <p:cNvSpPr txBox="1"/>
          <p:nvPr/>
        </p:nvSpPr>
        <p:spPr>
          <a:xfrm>
            <a:off x="787215" y="1083073"/>
            <a:ext cx="8098368" cy="313932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基于模型的多智能体强化学习（</a:t>
            </a:r>
            <a:r>
              <a:rPr lang="en-US" altLang="zh-CN" dirty="0">
                <a:latin typeface="微软雅黑" panose="020B0503020204020204" pitchFamily="34" charset="-122"/>
                <a:ea typeface="微软雅黑" panose="020B0503020204020204" pitchFamily="34" charset="-122"/>
              </a:rPr>
              <a:t>model-base MARL</a:t>
            </a:r>
            <a:r>
              <a:rPr lang="zh-CN" altLang="en-US" dirty="0">
                <a:latin typeface="微软雅黑" panose="020B0503020204020204" pitchFamily="34" charset="-122"/>
                <a:ea typeface="微软雅黑" panose="020B0503020204020204" pitchFamily="34" charset="-122"/>
              </a:rPr>
              <a:t>）通过显式地学习环境的动力学模型。然后利用该模型交互进行训练。</a:t>
            </a:r>
            <a:r>
              <a:rPr lang="en-US" altLang="zh-CN" dirty="0">
                <a:latin typeface="微软雅黑" panose="020B0503020204020204" pitchFamily="34" charset="-122"/>
                <a:ea typeface="微软雅黑" panose="020B0503020204020204" pitchFamily="34" charset="-122"/>
              </a:rPr>
              <a:t>model-base MARL </a:t>
            </a:r>
            <a:r>
              <a:rPr lang="zh-CN" altLang="en-US" dirty="0">
                <a:latin typeface="微软雅黑" panose="020B0503020204020204" pitchFamily="34" charset="-122"/>
                <a:ea typeface="微软雅黑" panose="020B0503020204020204" pitchFamily="34" charset="-122"/>
              </a:rPr>
              <a:t>方法大致可以分为两类：</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第一类是基于模型 </a:t>
            </a:r>
            <a:r>
              <a:rPr lang="en-US" altLang="zh-CN" dirty="0">
                <a:latin typeface="微软雅黑" panose="020B0503020204020204" pitchFamily="34" charset="-122"/>
                <a:ea typeface="微软雅黑" panose="020B0503020204020204" pitchFamily="34" charset="-122"/>
              </a:rPr>
              <a:t>rollout </a:t>
            </a:r>
            <a:r>
              <a:rPr lang="zh-CN" altLang="en-US" dirty="0">
                <a:latin typeface="微软雅黑" panose="020B0503020204020204" pitchFamily="34" charset="-122"/>
                <a:ea typeface="微软雅黑" panose="020B0503020204020204" pitchFamily="34" charset="-122"/>
              </a:rPr>
              <a:t>的方法：如</a:t>
            </a:r>
            <a:r>
              <a:rPr lang="en-US" altLang="zh-CN" dirty="0">
                <a:latin typeface="微软雅黑" panose="020B0503020204020204" pitchFamily="34" charset="-122"/>
                <a:ea typeface="微软雅黑" panose="020B0503020204020204" pitchFamily="34" charset="-122"/>
              </a:rPr>
              <a:t>MAMBA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AORPO</a:t>
            </a:r>
            <a:r>
              <a:rPr lang="zh-CN" altLang="en-US" dirty="0">
                <a:latin typeface="微软雅黑" panose="020B0503020204020204" pitchFamily="34" charset="-122"/>
                <a:ea typeface="微软雅黑" panose="020B0503020204020204" pitchFamily="34" charset="-122"/>
              </a:rPr>
              <a:t>等，它们利用学习到的模型生成虚拟轨迹来扩充训练数据。但是模型预测误差会在长时序 </a:t>
            </a:r>
            <a:r>
              <a:rPr lang="en-US" altLang="zh-CN" dirty="0">
                <a:latin typeface="微软雅黑" panose="020B0503020204020204" pitchFamily="34" charset="-122"/>
                <a:ea typeface="微软雅黑" panose="020B0503020204020204" pitchFamily="34" charset="-122"/>
              </a:rPr>
              <a:t>rollout </a:t>
            </a:r>
            <a:r>
              <a:rPr lang="zh-CN" altLang="en-US" dirty="0">
                <a:latin typeface="微软雅黑" panose="020B0503020204020204" pitchFamily="34" charset="-122"/>
                <a:ea typeface="微软雅黑" panose="020B0503020204020204" pitchFamily="34" charset="-122"/>
              </a:rPr>
              <a:t>中累积。</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第二类是基于规划的方法，如 </a:t>
            </a:r>
            <a:r>
              <a:rPr lang="en-US" altLang="zh-CN" dirty="0" err="1">
                <a:latin typeface="微软雅黑" panose="020B0503020204020204" pitchFamily="34" charset="-122"/>
                <a:ea typeface="微软雅黑" panose="020B0503020204020204" pitchFamily="34" charset="-122"/>
              </a:rPr>
              <a:t>MAZero</a:t>
            </a:r>
            <a:r>
              <a:rPr lang="zh-CN" altLang="en-US" dirty="0">
                <a:latin typeface="微软雅黑" panose="020B0503020204020204" pitchFamily="34" charset="-122"/>
                <a:ea typeface="微软雅黑" panose="020B0503020204020204" pitchFamily="34" charset="-122"/>
              </a:rPr>
              <a:t>，通过参数共享实现分布式执行与集中式训练，以乐观价值估计进行动作规划。但是</a:t>
            </a:r>
            <a:r>
              <a:rPr lang="en-US" altLang="zh-CN" dirty="0" err="1">
                <a:latin typeface="微软雅黑" panose="020B0503020204020204" pitchFamily="34" charset="-122"/>
                <a:ea typeface="微软雅黑" panose="020B0503020204020204" pitchFamily="34" charset="-122"/>
              </a:rPr>
              <a:t>MAZero</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的世界模型假设环境是确定性的，无法求解关系动态演变下的混合博弈。</a:t>
            </a:r>
            <a:endParaRPr lang="en-US" altLang="zh-CN" dirty="0">
              <a:latin typeface="微软雅黑" panose="020B0503020204020204" pitchFamily="34" charset="-122"/>
              <a:ea typeface="微软雅黑" panose="020B0503020204020204" pitchFamily="34" charset="-122"/>
            </a:endParaRPr>
          </a:p>
        </p:txBody>
      </p:sp>
      <p:sp>
        <p:nvSpPr>
          <p:cNvPr id="28" name="TextBox 27"/>
          <p:cNvSpPr txBox="1"/>
          <p:nvPr/>
        </p:nvSpPr>
        <p:spPr>
          <a:xfrm>
            <a:off x="9144000" y="1024128"/>
            <a:ext cx="2880360" cy="384048"/>
          </a:xfrm>
          <a:prstGeom prst="rect">
            <a:avLst/>
          </a:prstGeom>
          <a:noFill/>
        </p:spPr>
        <p:txBody>
          <a:bodyPr wrap="square">
            <a:spAutoFit/>
          </a:bodyPr>
          <a:lstStyle/>
          <a:p>
            <a:pPr algn="ctr"/>
            <a:r>
              <a:rPr sz="1400" b="1">
                <a:solidFill>
                  <a:srgbClr val="2B77CC"/>
                </a:solidFill>
                <a:latin typeface="微软雅黑"/>
                <a:cs typeface="微软雅黑"/>
                <a:ea typeface="微软雅黑"/>
              </a:rPr>
              <a:t>问题：关系演化使既有训练失效</a:t>
            </a:r>
          </a:p>
        </p:txBody>
      </p:sp>
      <p:sp>
        <p:nvSpPr>
          <p:cNvPr id="29" name="Rounded Rectangle 28"/>
          <p:cNvSpPr/>
          <p:nvPr/>
        </p:nvSpPr>
        <p:spPr>
          <a:xfrm>
            <a:off x="9144000" y="1463040"/>
            <a:ext cx="2880360" cy="786384"/>
          </a:xfrm>
          <a:prstGeom prst="roundRect">
            <a:avLst/>
          </a:prstGeom>
          <a:solidFill>
            <a:srgbClr val="DCEAF7"/>
          </a:solidFill>
          <a:ln w="15875">
            <a:solidFill>
              <a:srgbClr val="2B77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1F3859"/>
                </a:solidFill>
                <a:latin typeface="微软雅黑"/>
                <a:cs typeface="微软雅黑"/>
                <a:ea typeface="微软雅黑"/>
              </a:rPr>
              <a:t>关系A下训练的世界模型</a:t>
            </a:r>
          </a:p>
        </p:txBody>
      </p:sp>
      <p:sp>
        <p:nvSpPr>
          <p:cNvPr id="30" name="Down Arrow 29"/>
          <p:cNvSpPr/>
          <p:nvPr/>
        </p:nvSpPr>
        <p:spPr>
          <a:xfrm>
            <a:off x="10428732" y="2267712"/>
            <a:ext cx="310896" cy="292608"/>
          </a:xfrm>
          <a:prstGeom prst="downArrow">
            <a:avLst/>
          </a:prstGeom>
          <a:solidFill>
            <a:srgbClr val="2B7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44000" y="2560320"/>
            <a:ext cx="2880360" cy="786384"/>
          </a:xfrm>
          <a:prstGeom prst="roundRect">
            <a:avLst/>
          </a:prstGeom>
          <a:solidFill>
            <a:srgbClr val="DCEAF7"/>
          </a:solidFill>
          <a:ln w="15875">
            <a:solidFill>
              <a:srgbClr val="2B77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1F3859"/>
                </a:solidFill>
                <a:latin typeface="微软雅黑"/>
                <a:cs typeface="微软雅黑"/>
                <a:ea typeface="微软雅黑"/>
              </a:rPr>
              <a:t>智能体间关系发生改变</a:t>
            </a:r>
          </a:p>
        </p:txBody>
      </p:sp>
      <p:sp>
        <p:nvSpPr>
          <p:cNvPr id="32" name="Down Arrow 31"/>
          <p:cNvSpPr/>
          <p:nvPr/>
        </p:nvSpPr>
        <p:spPr>
          <a:xfrm>
            <a:off x="10428732" y="3364991"/>
            <a:ext cx="310896" cy="292608"/>
          </a:xfrm>
          <a:prstGeom prst="downArrow">
            <a:avLst/>
          </a:prstGeom>
          <a:solidFill>
            <a:srgbClr val="2B7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0" y="3657600"/>
            <a:ext cx="2880360" cy="786384"/>
          </a:xfrm>
          <a:prstGeom prst="roundRect">
            <a:avLst/>
          </a:prstGeom>
          <a:solidFill>
            <a:srgbClr val="DCEAF7"/>
          </a:solidFill>
          <a:ln w="15875">
            <a:solidFill>
              <a:srgbClr val="2B77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1F3859"/>
                </a:solidFill>
                <a:latin typeface="微软雅黑"/>
                <a:cs typeface="微软雅黑"/>
                <a:ea typeface="微软雅黑"/>
              </a:rPr>
              <a:t>博弈结构动态演化</a:t>
            </a:r>
          </a:p>
        </p:txBody>
      </p:sp>
      <p:sp>
        <p:nvSpPr>
          <p:cNvPr id="34" name="Down Arrow 33"/>
          <p:cNvSpPr/>
          <p:nvPr/>
        </p:nvSpPr>
        <p:spPr>
          <a:xfrm>
            <a:off x="10428732" y="4462272"/>
            <a:ext cx="310896" cy="292608"/>
          </a:xfrm>
          <a:prstGeom prst="downArrow">
            <a:avLst/>
          </a:prstGeom>
          <a:solidFill>
            <a:srgbClr val="2B7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144000" y="4754880"/>
            <a:ext cx="2880360" cy="786384"/>
          </a:xfrm>
          <a:prstGeom prst="roundRect">
            <a:avLst/>
          </a:prstGeom>
          <a:solidFill>
            <a:srgbClr val="FDE7E7"/>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C00000"/>
                </a:solidFill>
                <a:latin typeface="微软雅黑"/>
                <a:cs typeface="微软雅黑"/>
                <a:ea typeface="微软雅黑"/>
              </a:rPr>
              <a:t>关系A下的训练成果失效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0127F-6026-F6F5-B96E-EB9E96C96DB9}"/>
            </a:ext>
          </a:extLst>
        </p:cNvPr>
        <p:cNvGrpSpPr/>
        <p:nvPr/>
      </p:nvGrpSpPr>
      <p:grpSpPr>
        <a:xfrm>
          <a:off x="0" y="0"/>
          <a:ext cx="0" cy="0"/>
          <a:chOff x="0" y="0"/>
          <a:chExt cx="0" cy="0"/>
        </a:xfrm>
      </p:grpSpPr>
      <p:sp>
        <p:nvSpPr>
          <p:cNvPr id="10" name="标题 1">
            <a:extLst>
              <a:ext uri="{FF2B5EF4-FFF2-40B4-BE49-F238E27FC236}">
                <a16:creationId xmlns:a16="http://schemas.microsoft.com/office/drawing/2014/main" id="{E4AFCE7A-5A27-E94E-9CE8-A4434D447BD5}"/>
              </a:ext>
            </a:extLst>
          </p:cNvPr>
          <p:cNvSpPr txBox="1"/>
          <p:nvPr/>
        </p:nvSpPr>
        <p:spPr>
          <a:xfrm>
            <a:off x="787215" y="385281"/>
            <a:ext cx="6192705" cy="468000"/>
          </a:xfrm>
          <a:prstGeom prst="rect">
            <a:avLst/>
          </a:prstGeom>
          <a:noFill/>
          <a:ln cap="sq">
            <a:noFill/>
          </a:ln>
        </p:spPr>
        <p:txBody>
          <a:bodyPr vert="horz" wrap="square" lIns="0" tIns="0" rIns="0" bIns="0" rtlCol="0" anchor="ctr"/>
          <a:lstStyle/>
          <a:p>
            <a:r>
              <a:rPr lang="en-US" altLang="zh-CN" sz="2800" b="1" dirty="0" err="1">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MAZero</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zh-CN" altLang="en-US" sz="2800" dirty="0"/>
          </a:p>
        </p:txBody>
      </p:sp>
      <p:sp>
        <p:nvSpPr>
          <p:cNvPr id="11" name="标题 1">
            <a:extLst>
              <a:ext uri="{FF2B5EF4-FFF2-40B4-BE49-F238E27FC236}">
                <a16:creationId xmlns:a16="http://schemas.microsoft.com/office/drawing/2014/main" id="{22CEF478-04C7-E638-5635-6F81472BC75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3" name="文本框 2">
            <a:extLst>
              <a:ext uri="{FF2B5EF4-FFF2-40B4-BE49-F238E27FC236}">
                <a16:creationId xmlns:a16="http://schemas.microsoft.com/office/drawing/2014/main" id="{98364DDF-40A6-4DCD-AFA0-CC86D1A26BC4}"/>
              </a:ext>
            </a:extLst>
          </p:cNvPr>
          <p:cNvSpPr txBox="1"/>
          <p:nvPr/>
        </p:nvSpPr>
        <p:spPr>
          <a:xfrm>
            <a:off x="1142116" y="4861340"/>
            <a:ext cx="9907768" cy="1200329"/>
          </a:xfrm>
          <a:prstGeom prst="rect">
            <a:avLst/>
          </a:prstGeom>
          <a:noFill/>
        </p:spPr>
        <p:txBody>
          <a:bodyPr wrap="square" rtlCol="0">
            <a:spAutoFit/>
          </a:bodyPr>
          <a:lstStyle/>
          <a:p>
            <a:r>
              <a:rPr lang="en-US" altLang="zh-CN" dirty="0" err="1">
                <a:latin typeface="微软雅黑" panose="020B0503020204020204" pitchFamily="34" charset="-122"/>
                <a:ea typeface="微软雅黑" panose="020B0503020204020204" pitchFamily="34" charset="-122"/>
              </a:rPr>
              <a:t>MAZero</a:t>
            </a:r>
            <a:r>
              <a:rPr lang="zh-CN" altLang="en-US" dirty="0">
                <a:latin typeface="微软雅黑" panose="020B0503020204020204" pitchFamily="34" charset="-122"/>
                <a:ea typeface="微软雅黑" panose="020B0503020204020204" pitchFamily="34" charset="-122"/>
              </a:rPr>
              <a:t>算法是</a:t>
            </a:r>
            <a:r>
              <a:rPr lang="en-US" altLang="zh-CN" dirty="0" err="1">
                <a:latin typeface="微软雅黑" panose="020B0503020204020204" pitchFamily="34" charset="-122"/>
                <a:ea typeface="微软雅黑" panose="020B0503020204020204" pitchFamily="34" charset="-122"/>
              </a:rPr>
              <a:t>MuZero</a:t>
            </a:r>
            <a:r>
              <a:rPr lang="zh-CN" altLang="en-US" dirty="0">
                <a:latin typeface="微软雅黑" panose="020B0503020204020204" pitchFamily="34" charset="-122"/>
                <a:ea typeface="微软雅黑" panose="020B0503020204020204" pitchFamily="34" charset="-122"/>
              </a:rPr>
              <a:t>算法的多智能体版本，通过参数共享与注意力通信实现了多智能体协作的高效建模，但是</a:t>
            </a:r>
            <a:r>
              <a:rPr lang="en-US" altLang="zh-CN" dirty="0" err="1">
                <a:latin typeface="微软雅黑" panose="020B0503020204020204" pitchFamily="34" charset="-122"/>
                <a:ea typeface="微软雅黑" panose="020B0503020204020204" pitchFamily="34" charset="-122"/>
              </a:rPr>
              <a:t>MAZero</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的世界模型假设环境是确定性的，当环境中智能体间的角色关系矩阵发生变化时，来自不同关系构型样本的梯度会在共享权重相互干扰，网络只能收敛到各构型梯度的平均，无法为任一角色学到专属的精细策略。</a:t>
            </a:r>
          </a:p>
        </p:txBody>
      </p:sp>
      <p:pic>
        <p:nvPicPr>
          <p:cNvPr id="4" name="图片 3">
            <a:extLst>
              <a:ext uri="{FF2B5EF4-FFF2-40B4-BE49-F238E27FC236}">
                <a16:creationId xmlns:a16="http://schemas.microsoft.com/office/drawing/2014/main" id="{5A3616FB-1903-42F7-A973-69AB66898940}"/>
              </a:ext>
            </a:extLst>
          </p:cNvPr>
          <p:cNvPicPr>
            <a:picLocks noChangeAspect="1"/>
          </p:cNvPicPr>
          <p:nvPr/>
        </p:nvPicPr>
        <p:blipFill>
          <a:blip r:embed="rId2"/>
          <a:stretch>
            <a:fillRect/>
          </a:stretch>
        </p:blipFill>
        <p:spPr>
          <a:xfrm>
            <a:off x="2664457" y="957014"/>
            <a:ext cx="6192705" cy="3549903"/>
          </a:xfrm>
          <a:prstGeom prst="rect">
            <a:avLst/>
          </a:prstGeom>
        </p:spPr>
      </p:pic>
    </p:spTree>
    <p:extLst>
      <p:ext uri="{BB962C8B-B14F-4D97-AF65-F5344CB8AC3E}">
        <p14:creationId xmlns:p14="http://schemas.microsoft.com/office/powerpoint/2010/main" val="1530263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78EE-C428-FBBD-607B-22ED25F3BCBB}"/>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98043CF6-1D33-DE12-30C7-23B67326006A}"/>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92E924D9-F2E7-CA64-20C3-6B8238D62671}"/>
              </a:ext>
            </a:extLst>
          </p:cNvPr>
          <p:cNvSpPr txBox="1"/>
          <p:nvPr/>
        </p:nvSpPr>
        <p:spPr>
          <a:xfrm>
            <a:off x="756735" y="385281"/>
            <a:ext cx="4546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超网络（</a:t>
            </a:r>
            <a:r>
              <a:rPr lang="en-US" altLang="zh-CN"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Hyper net</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4" name="图片 3">
            <a:extLst>
              <a:ext uri="{FF2B5EF4-FFF2-40B4-BE49-F238E27FC236}">
                <a16:creationId xmlns:a16="http://schemas.microsoft.com/office/drawing/2014/main" id="{7276019A-AD97-4C7C-BD00-4329474B7342}"/>
              </a:ext>
            </a:extLst>
          </p:cNvPr>
          <p:cNvPicPr>
            <a:picLocks noChangeAspect="1"/>
          </p:cNvPicPr>
          <p:nvPr/>
        </p:nvPicPr>
        <p:blipFill>
          <a:blip r:embed="rId2"/>
          <a:stretch>
            <a:fillRect/>
          </a:stretch>
        </p:blipFill>
        <p:spPr>
          <a:xfrm>
            <a:off x="1359232" y="1302913"/>
            <a:ext cx="6449509" cy="2732373"/>
          </a:xfrm>
          <a:prstGeom prst="rect">
            <a:avLst/>
          </a:prstGeom>
        </p:spPr>
      </p:pic>
      <p:pic>
        <p:nvPicPr>
          <p:cNvPr id="5" name="图片 4">
            <a:extLst>
              <a:ext uri="{FF2B5EF4-FFF2-40B4-BE49-F238E27FC236}">
                <a16:creationId xmlns:a16="http://schemas.microsoft.com/office/drawing/2014/main" id="{8D39A07C-AC46-429A-9850-9DC94A8B7358}"/>
              </a:ext>
            </a:extLst>
          </p:cNvPr>
          <p:cNvPicPr>
            <a:picLocks noChangeAspect="1"/>
          </p:cNvPicPr>
          <p:nvPr/>
        </p:nvPicPr>
        <p:blipFill>
          <a:blip r:embed="rId3"/>
          <a:stretch>
            <a:fillRect/>
          </a:stretch>
        </p:blipFill>
        <p:spPr>
          <a:xfrm rot="16200000">
            <a:off x="5858604" y="2272915"/>
            <a:ext cx="1428949" cy="2095792"/>
          </a:xfrm>
          <a:prstGeom prst="rect">
            <a:avLst/>
          </a:prstGeom>
        </p:spPr>
      </p:pic>
      <p:sp>
        <p:nvSpPr>
          <p:cNvPr id="12" name="TextBox 11"/>
          <p:cNvSpPr txBox="1"/>
          <p:nvPr/>
        </p:nvSpPr>
        <p:spPr>
          <a:xfrm>
            <a:off x="758952" y="4297680"/>
            <a:ext cx="10972800" cy="2423160"/>
          </a:xfrm>
          <a:prstGeom prst="rect">
            <a:avLst/>
          </a:prstGeom>
          <a:noFill/>
        </p:spPr>
        <p:txBody>
          <a:bodyPr wrap="square" lIns="45720" rIns="45720">
            <a:spAutoFit/>
          </a:bodyPr>
          <a:lstStyle/>
          <a:p>
            <a:pPr algn="l">
              <a:spcBef>
                <a:spcPts val="400"/>
              </a:spcBef>
              <a:spcAft>
                <a:spcPts val="200"/>
              </a:spcAft>
            </a:pPr>
            <a:r>
              <a:rPr sz="1500" b="1">
                <a:solidFill>
                  <a:srgbClr val="2B77CC"/>
                </a:solidFill>
                <a:latin typeface="微软雅黑"/>
                <a:cs typeface="微软雅黑"/>
                <a:ea typeface="微软雅黑"/>
              </a:rPr>
              <a:t>针对共享权重导致的"角色平均"，核心思想：</a:t>
            </a:r>
            <a:r>
              <a:rPr sz="1500" b="1">
                <a:solidFill>
                  <a:srgbClr val="262626"/>
                </a:solidFill>
                <a:latin typeface="微软雅黑"/>
                <a:cs typeface="微软雅黑"/>
                <a:ea typeface="微软雅黑"/>
              </a:rPr>
              <a:t>把"关系 / 角色"作为显式输入，用超网络按不同"视角"生成各自专属的参数，让关系建模成为可能。</a:t>
            </a:r>
          </a:p>
          <a:p>
            <a:pPr algn="l">
              <a:spcBef>
                <a:spcPts val="400"/>
              </a:spcBef>
              <a:spcAft>
                <a:spcPts val="200"/>
              </a:spcAft>
            </a:pPr>
            <a:r>
              <a:rPr sz="1350" b="1">
                <a:solidFill>
                  <a:srgbClr val="2B77CC"/>
                </a:solidFill>
                <a:latin typeface="微软雅黑"/>
                <a:cs typeface="微软雅黑"/>
                <a:ea typeface="微软雅黑"/>
              </a:rPr>
              <a:t>• 视角（View）：</a:t>
            </a:r>
            <a:r>
              <a:rPr sz="1350" b="0">
                <a:solidFill>
                  <a:srgbClr val="262626"/>
                </a:solidFill>
                <a:latin typeface="微软雅黑"/>
                <a:cs typeface="微软雅黑"/>
                <a:ea typeface="微软雅黑"/>
              </a:rPr>
              <a:t>将"当前关系构型 g ＋ 自身角色（关系行向量 w_i·）"编码为上下文 ctx = [角色 ‖ 信念]，回答"在何种关系下、身为何种角色"。</a:t>
            </a:r>
          </a:p>
          <a:p>
            <a:pPr algn="l">
              <a:spcBef>
                <a:spcPts val="400"/>
              </a:spcBef>
              <a:spcAft>
                <a:spcPts val="200"/>
              </a:spcAft>
            </a:pPr>
            <a:r>
              <a:rPr sz="1350" b="1">
                <a:solidFill>
                  <a:srgbClr val="2B77CC"/>
                </a:solidFill>
                <a:latin typeface="微软雅黑"/>
                <a:cs typeface="微软雅黑"/>
                <a:ea typeface="微软雅黑"/>
              </a:rPr>
              <a:t>• 超网络（HyperNetwork）：</a:t>
            </a:r>
            <a:r>
              <a:rPr sz="1350" b="0">
                <a:solidFill>
                  <a:srgbClr val="262626"/>
                </a:solidFill>
                <a:latin typeface="微软雅黑"/>
                <a:cs typeface="微软雅黑"/>
                <a:ea typeface="微软雅黑"/>
              </a:rPr>
              <a:t>以该上下文为条件，为每个智能体分别生成专属的奖励头与策略预测头参数，从根本上化解共享权重的"类型梯度撕裂 / 角色平均"。</a:t>
            </a:r>
          </a:p>
          <a:p>
            <a:pPr algn="l">
              <a:spcBef>
                <a:spcPts val="400"/>
              </a:spcBef>
              <a:spcAft>
                <a:spcPts val="200"/>
              </a:spcAft>
            </a:pPr>
            <a:r>
              <a:rPr sz="1350" b="1">
                <a:solidFill>
                  <a:srgbClr val="2B77CC"/>
                </a:solidFill>
                <a:latin typeface="微软雅黑"/>
                <a:cs typeface="微软雅黑"/>
                <a:ea typeface="微软雅黑"/>
              </a:rPr>
              <a:t>• 主观—客观分离：</a:t>
            </a:r>
            <a:r>
              <a:rPr sz="1350" b="0">
                <a:solidFill>
                  <a:srgbClr val="262626"/>
                </a:solidFill>
                <a:latin typeface="微软雅黑"/>
                <a:cs typeface="微软雅黑"/>
                <a:ea typeface="微软雅黑"/>
              </a:rPr>
              <a:t>客观动力学（转移网络）权重共享，编码"物理规律与观察者无关"的视角不变性；仅主观收益侧随关系变化。</a:t>
            </a:r>
          </a:p>
          <a:p>
            <a:pPr algn="l">
              <a:spcBef>
                <a:spcPts val="400"/>
              </a:spcBef>
              <a:spcAft>
                <a:spcPts val="200"/>
              </a:spcAft>
            </a:pPr>
            <a:r>
              <a:rPr sz="1350" b="1">
                <a:solidFill>
                  <a:srgbClr val="2B77CC"/>
                </a:solidFill>
                <a:latin typeface="微软雅黑"/>
                <a:cs typeface="微软雅黑"/>
                <a:ea typeface="微软雅黑"/>
              </a:rPr>
              <a:t>• 低成本适应：</a:t>
            </a:r>
            <a:r>
              <a:rPr sz="1350" b="0">
                <a:solidFill>
                  <a:srgbClr val="262626"/>
                </a:solidFill>
                <a:latin typeface="微软雅黑"/>
                <a:cs typeface="微软雅黑"/>
                <a:ea typeface="微软雅黑"/>
              </a:rPr>
              <a:t>信念指示关系构型改变时，只需以新上下文重新前向一次超网络即可重生成主观参数，客观模型原样复用——适应关系切换无需重训练，只需重生成。</a:t>
            </a:r>
          </a:p>
          <a:p>
            <a:pPr algn="l">
              <a:spcBef>
                <a:spcPts val="600"/>
              </a:spcBef>
              <a:spcAft>
                <a:spcPts val="200"/>
              </a:spcAft>
            </a:pPr>
            <a:r>
              <a:rPr sz="1150" b="0">
                <a:solidFill>
                  <a:srgbClr val="808080"/>
                </a:solidFill>
                <a:latin typeface="微软雅黑"/>
                <a:cs typeface="微软雅黑"/>
                <a:ea typeface="微软雅黑"/>
              </a:rPr>
              <a:t>（完整框架见第二章：基于超网络的主客观分离世界模型 + MVE 动作规划器）</a:t>
            </a:r>
          </a:p>
        </p:txBody>
      </p:sp>
    </p:spTree>
    <p:extLst>
      <p:ext uri="{BB962C8B-B14F-4D97-AF65-F5344CB8AC3E}">
        <p14:creationId xmlns:p14="http://schemas.microsoft.com/office/powerpoint/2010/main" val="1467521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99609-7BE2-18CF-9878-832C84A9A6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8F4894-A63C-F677-3227-C06388F52F7F}"/>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836434F1-459E-1156-B75C-33863391A7D4}"/>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dirty="0">
                <a:solidFill>
                  <a:prstClr val="white"/>
                </a:solidFill>
                <a:latin typeface="Arial Black" panose="020B0A04020102020204" pitchFamily="34" charset="0"/>
                <a:ea typeface="字魂59号-创粗黑" panose="00000500000000000000" pitchFamily="2" charset="-122"/>
                <a:sym typeface="字魂59号-创粗黑" panose="00000500000000000000" pitchFamily="2" charset="-122"/>
              </a:rPr>
              <a:t>2</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023C2FA5-1D5B-67FD-B4A7-480A6617B2D8}"/>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研究内容与方法</a:t>
            </a:r>
          </a:p>
        </p:txBody>
      </p:sp>
      <p:sp>
        <p:nvSpPr>
          <p:cNvPr id="16" name="矩形 15">
            <a:extLst>
              <a:ext uri="{FF2B5EF4-FFF2-40B4-BE49-F238E27FC236}">
                <a16:creationId xmlns:a16="http://schemas.microsoft.com/office/drawing/2014/main" id="{C90633EF-B20D-13AF-6B70-FFEB0207FBEB}"/>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6404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BBFA-A420-6F32-488D-18B4F220E47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EC99D01-2123-4D5C-41F6-F2CCBD96ADD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790D558B-BF30-72B3-2C66-C1EAF18F25CF}"/>
              </a:ext>
            </a:extLst>
          </p:cNvPr>
          <p:cNvSpPr txBox="1"/>
          <p:nvPr/>
        </p:nvSpPr>
        <p:spPr>
          <a:xfrm>
            <a:off x="880385" y="356834"/>
            <a:ext cx="10033663" cy="524934"/>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基于超网络的角色感知能力的主客观分离世界模型框架</a:t>
            </a:r>
          </a:p>
        </p:txBody>
      </p:sp>
      <p:pic>
        <p:nvPicPr>
          <p:cNvPr id="5122" name="Picture 2">
            <a:extLst>
              <a:ext uri="{FF2B5EF4-FFF2-40B4-BE49-F238E27FC236}">
                <a16:creationId xmlns:a16="http://schemas.microsoft.com/office/drawing/2014/main" id="{EA575050-0A7F-4E4D-9E6C-973AEFB3B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85" y="1030006"/>
            <a:ext cx="10942319" cy="5471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316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BBFA-A420-6F32-488D-18B4F220E47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EC99D01-2123-4D5C-41F6-F2CCBD96ADD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790D558B-BF30-72B3-2C66-C1EAF18F25CF}"/>
              </a:ext>
            </a:extLst>
          </p:cNvPr>
          <p:cNvSpPr txBox="1"/>
          <p:nvPr/>
        </p:nvSpPr>
        <p:spPr>
          <a:xfrm>
            <a:off x="880385" y="356834"/>
            <a:ext cx="10033663" cy="524934"/>
          </a:xfrm>
          <a:prstGeom prst="rect">
            <a:avLst/>
          </a:prstGeom>
          <a:noFill/>
          <a:ln cap="sq">
            <a:noFill/>
          </a:ln>
        </p:spPr>
        <p:txBody>
          <a:bodyPr vert="horz" wrap="square" lIns="0" tIns="0" rIns="0" bIns="0" rtlCol="0" anchor="ctr"/>
          <a:lstStyle/>
          <a:p>
            <a:r>
              <a:rPr lang="en-US" altLang="zh-CN"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MVE</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动作规划器设计</a:t>
            </a:r>
          </a:p>
        </p:txBody>
      </p:sp>
      <p:pic>
        <p:nvPicPr>
          <p:cNvPr id="4" name="Picture 2">
            <a:extLst>
              <a:ext uri="{FF2B5EF4-FFF2-40B4-BE49-F238E27FC236}">
                <a16:creationId xmlns:a16="http://schemas.microsoft.com/office/drawing/2014/main" id="{176EE027-933A-46FD-A42D-8633A2F67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1102359"/>
            <a:ext cx="5378175" cy="5485739"/>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9881F3F9-6E30-48CC-B555-DD71420FFADD}"/>
              </a:ext>
            </a:extLst>
          </p:cNvPr>
          <p:cNvSpPr txBox="1"/>
          <p:nvPr/>
        </p:nvSpPr>
        <p:spPr>
          <a:xfrm>
            <a:off x="5933440" y="1259840"/>
            <a:ext cx="5902960"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多智能体联合动作空间大小随智能体数量呈指数增长，为解决传统蒙特卡洛树搜索在该空间中面临组合爆炸的问题，设计逐智能体模型价值规划（</a:t>
            </a:r>
            <a:r>
              <a:rPr lang="en-US" altLang="zh-CN" dirty="0">
                <a:latin typeface="微软雅黑" panose="020B0503020204020204" pitchFamily="34" charset="-122"/>
                <a:ea typeface="微软雅黑" panose="020B0503020204020204" pitchFamily="34" charset="-122"/>
              </a:rPr>
              <a:t>MVE</a:t>
            </a:r>
            <a:r>
              <a:rPr lang="zh-CN" altLang="en-US" dirty="0">
                <a:latin typeface="微软雅黑" panose="020B0503020204020204" pitchFamily="34" charset="-122"/>
                <a:ea typeface="微软雅黑" panose="020B0503020204020204" pitchFamily="34" charset="-122"/>
              </a:rPr>
              <a:t>）规划器进行动作自举，以有限步模型展开结合自举价值进行策略估计</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892F509-92E6-4BCE-8761-4D83E192A405}"/>
                  </a:ext>
                </a:extLst>
              </p:cNvPr>
              <p:cNvSpPr txBox="1"/>
              <p:nvPr/>
            </p:nvSpPr>
            <p:spPr>
              <a:xfrm>
                <a:off x="5933440" y="2608462"/>
                <a:ext cx="6096000" cy="3188693"/>
              </a:xfrm>
              <a:prstGeom prst="rect">
                <a:avLst/>
              </a:prstGeom>
              <a:noFill/>
            </p:spPr>
            <p:txBody>
              <a:bodyPr wrap="square">
                <a:spAutoFit/>
              </a:bodyPr>
              <a:lstStyle/>
              <a:p>
                <a:r>
                  <a:rPr lang="zh-CN" altLang="zh-CN" sz="1800" kern="100" dirty="0">
                    <a:effectLst/>
                    <a:latin typeface="Times New Roman" panose="02020603050405020304" pitchFamily="18" charset="0"/>
                    <a:ea typeface="仿宋_GB2312"/>
                    <a:cs typeface="Times New Roman" panose="02020603050405020304" pitchFamily="18" charset="0"/>
                  </a:rPr>
                  <a:t>轮到智能体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i</m:t>
                    </m:r>
                    <m: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1800" kern="100" dirty="0">
                    <a:effectLst/>
                    <a:latin typeface="Times New Roman" panose="02020603050405020304" pitchFamily="18" charset="0"/>
                    <a:ea typeface="仿宋_GB2312"/>
                    <a:cs typeface="Times New Roman" panose="02020603050405020304" pitchFamily="18" charset="0"/>
                  </a:rPr>
                  <a:t>时，其余智能体的首步动作依各自当前策略采样并被冻结</a:t>
                </a:r>
                <a:r>
                  <a:rPr lang="zh-CN" altLang="en-US" sz="1800" kern="100" dirty="0">
                    <a:effectLst/>
                    <a:latin typeface="Times New Roman" panose="02020603050405020304" pitchFamily="18" charset="0"/>
                    <a:ea typeface="仿宋_GB2312"/>
                    <a:cs typeface="Times New Roman" panose="02020603050405020304" pitchFamily="18" charset="0"/>
                  </a:rPr>
                  <a:t>，</a:t>
                </a:r>
                <a:r>
                  <a:rPr lang="zh-CN" altLang="zh-CN" kern="100" dirty="0">
                    <a:latin typeface="Times New Roman" panose="02020603050405020304" pitchFamily="18" charset="0"/>
                    <a:ea typeface="仿宋_GB2312"/>
                    <a:cs typeface="Times New Roman" panose="02020603050405020304" pitchFamily="18" charset="0"/>
                  </a:rPr>
                  <a:t>对智能体</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i</m:t>
                    </m:r>
                  </m:oMath>
                </a14:m>
                <a:r>
                  <a:rPr lang="zh-CN" altLang="zh-CN" kern="100" dirty="0">
                    <a:latin typeface="Times New Roman" panose="02020603050405020304" pitchFamily="18" charset="0"/>
                    <a:ea typeface="仿宋_GB2312"/>
                    <a:cs typeface="Times New Roman" panose="02020603050405020304" pitchFamily="18" charset="0"/>
                  </a:rPr>
                  <a:t>的每个候选动作</a:t>
                </a:r>
                <a:r>
                  <a:rPr lang="zh-CN" altLang="zh-CN" kern="100" dirty="0">
                    <a:ea typeface="Times New Roman" panose="02020603050405020304" pitchFamily="18" charset="0"/>
                  </a:rPr>
                  <a:t> </a:t>
                </a:r>
                <a14:m>
                  <m:oMath xmlns:m="http://schemas.openxmlformats.org/officeDocument/2006/math">
                    <m:r>
                      <m:rPr>
                        <m:sty m:val="p"/>
                      </m:rPr>
                      <a:rPr lang="en-US" altLang="zh-CN" kern="100">
                        <a:latin typeface="Cambria Math" panose="02040503050406030204" pitchFamily="18" charset="0"/>
                        <a:ea typeface="仿宋_GB2312"/>
                        <a:cs typeface="Times New Roman" panose="02020603050405020304" pitchFamily="18" charset="0"/>
                      </a:rPr>
                      <m:t>a</m:t>
                    </m:r>
                    <m:r>
                      <a:rPr lang="zh-CN" altLang="zh-CN" kern="100">
                        <a:latin typeface="Cambria Math" panose="02040503050406030204" pitchFamily="18" charset="0"/>
                        <a:ea typeface="仿宋_GB2312"/>
                        <a:cs typeface="Times New Roman" panose="02020603050405020304" pitchFamily="18" charset="0"/>
                      </a:rPr>
                      <m:t>∈</m:t>
                    </m:r>
                    <m:r>
                      <m:rPr>
                        <m:lit/>
                      </m:rPr>
                      <a:rPr lang="en-US" altLang="zh-CN" kern="100">
                        <a:latin typeface="Cambria Math" panose="02040503050406030204" pitchFamily="18" charset="0"/>
                        <a:ea typeface="仿宋_GB2312"/>
                        <a:cs typeface="Times New Roman" panose="02020603050405020304" pitchFamily="18" charset="0"/>
                      </a:rPr>
                      <m:t>{</m:t>
                    </m:r>
                    <m:r>
                      <a:rPr lang="en-US" altLang="zh-CN" kern="100">
                        <a:latin typeface="Cambria Math" panose="02040503050406030204" pitchFamily="18" charset="0"/>
                        <a:ea typeface="仿宋_GB2312"/>
                        <a:cs typeface="Times New Roman" panose="02020603050405020304" pitchFamily="18" charset="0"/>
                      </a:rPr>
                      <m:t>1,</m:t>
                    </m:r>
                    <m:r>
                      <a:rPr lang="zh-CN" altLang="zh-CN" kern="100">
                        <a:latin typeface="Cambria Math" panose="02040503050406030204" pitchFamily="18" charset="0"/>
                        <a:ea typeface="仿宋_GB2312"/>
                        <a:cs typeface="Times New Roman" panose="02020603050405020304" pitchFamily="18" charset="0"/>
                      </a:rPr>
                      <m:t>…</m:t>
                    </m:r>
                    <m:r>
                      <a:rPr lang="en-US" altLang="zh-CN" kern="100">
                        <a:latin typeface="Cambria Math" panose="02040503050406030204" pitchFamily="18" charset="0"/>
                        <a:ea typeface="仿宋_GB2312"/>
                        <a:cs typeface="Times New Roman" panose="02020603050405020304" pitchFamily="18" charset="0"/>
                      </a:rPr>
                      <m:t>,</m:t>
                    </m:r>
                    <m:r>
                      <m:rPr>
                        <m:sty m:val="p"/>
                      </m:rPr>
                      <a:rPr lang="en-US" altLang="zh-CN" kern="100">
                        <a:latin typeface="Cambria Math" panose="02040503050406030204" pitchFamily="18" charset="0"/>
                        <a:ea typeface="仿宋_GB2312"/>
                        <a:cs typeface="Times New Roman" panose="02020603050405020304" pitchFamily="18" charset="0"/>
                      </a:rPr>
                      <m:t>A</m:t>
                    </m:r>
                    <m:r>
                      <m:rPr>
                        <m:lit/>
                      </m:rPr>
                      <a:rPr lang="en-US" altLang="zh-CN" kern="100">
                        <a:latin typeface="Cambria Math" panose="02040503050406030204" pitchFamily="18" charset="0"/>
                        <a:ea typeface="仿宋_GB2312"/>
                        <a:cs typeface="Times New Roman" panose="02020603050405020304" pitchFamily="18" charset="0"/>
                      </a:rPr>
                      <m:t>}</m:t>
                    </m:r>
                  </m:oMath>
                </a14:m>
                <a:r>
                  <a:rPr lang="en-US" altLang="zh-CN" kern="100" dirty="0">
                    <a:latin typeface="Times New Roman" panose="02020603050405020304" pitchFamily="18" charset="0"/>
                    <a:ea typeface="仿宋_GB2312"/>
                  </a:rPr>
                  <a:t> </a:t>
                </a:r>
                <a:r>
                  <a:rPr lang="zh-CN" altLang="zh-CN" kern="100" dirty="0">
                    <a:latin typeface="Times New Roman" panose="02020603050405020304" pitchFamily="18" charset="0"/>
                    <a:ea typeface="仿宋_GB2312"/>
                    <a:cs typeface="Times New Roman" panose="02020603050405020304" pitchFamily="18" charset="0"/>
                  </a:rPr>
                  <a:t>进行打分：从当前隐状态出发，每个情景对应一份其余智能体首步动作的冻结样本，同一情景在全部</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A</m:t>
                    </m:r>
                  </m:oMath>
                </a14:m>
                <a:r>
                  <a:rPr lang="zh-CN" altLang="zh-CN" kern="100" dirty="0">
                    <a:latin typeface="Times New Roman" panose="02020603050405020304" pitchFamily="18" charset="0"/>
                    <a:ea typeface="仿宋_GB2312"/>
                    <a:cs typeface="Times New Roman" panose="02020603050405020304" pitchFamily="18" charset="0"/>
                  </a:rPr>
                  <a:t>个候选间复用，使他人行为的随机性在候选间比较中相消；随后沿世界模型预测</a:t>
                </a:r>
                <a14:m>
                  <m:oMath xmlns:m="http://schemas.openxmlformats.org/officeDocument/2006/math">
                    <m:r>
                      <m:rPr>
                        <m:sty m:val="p"/>
                      </m:rPr>
                      <a:rPr lang="en-US" altLang="zh-CN" kern="100">
                        <a:latin typeface="Cambria Math" panose="02040503050406030204" pitchFamily="18" charset="0"/>
                        <a:ea typeface="仿宋_GB2312"/>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步，逐步累积由主观奖励头预测的折扣收益，并在第</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步以价值头的预测自举截断，得到该候选在该情景下的</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步展开回报</a:t>
                </a:r>
                <a:r>
                  <a:rPr lang="zh-CN" altLang="en-US" kern="100" dirty="0">
                    <a:latin typeface="Times New Roman" panose="02020603050405020304" pitchFamily="18" charset="0"/>
                    <a:ea typeface="仿宋_GB2312"/>
                    <a:cs typeface="Times New Roman" panose="02020603050405020304" pitchFamily="18" charset="0"/>
                  </a:rPr>
                  <a:t>：</a:t>
                </a:r>
                <a:endParaRPr lang="en-US" altLang="zh-CN" kern="100" dirty="0">
                  <a:latin typeface="Times New Roman" panose="02020603050405020304" pitchFamily="18" charset="0"/>
                  <a:ea typeface="仿宋_GB231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zh-CN" altLang="zh-CN" i="1" smtClean="0">
                              <a:effectLst/>
                              <a:latin typeface="Cambria Math" panose="02040503050406030204" pitchFamily="18" charset="0"/>
                              <a:ea typeface="Cambria Math" panose="02040503050406030204" pitchFamily="18" charset="0"/>
                            </a:rPr>
                          </m:ctrlPr>
                        </m:acc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𝑄</m:t>
                              </m:r>
                            </m:e>
                            <m:sub>
                              <m:r>
                                <a:rPr lang="en-US" altLang="zh-CN" sz="1800" i="1" kern="100">
                                  <a:effectLst/>
                                  <a:latin typeface="Cambria Math" panose="02040503050406030204" pitchFamily="18" charset="0"/>
                                  <a:ea typeface="仿宋_GB2312"/>
                                  <a:cs typeface="Times New Roman" panose="02020603050405020304" pitchFamily="18" charset="0"/>
                                </a:rPr>
                                <m:t>𝑖</m:t>
                              </m:r>
                            </m:sub>
                          </m:sSub>
                        </m:e>
                      </m:acc>
                      <m:d>
                        <m:dPr>
                          <m:ctrlPr>
                            <a:rPr lang="zh-CN" altLang="zh-CN" i="1">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仿宋_GB2312"/>
                              <a:cs typeface="Times New Roman" panose="02020603050405020304" pitchFamily="18" charset="0"/>
                            </a:rPr>
                            <m:t>𝑎</m:t>
                          </m:r>
                        </m:e>
                      </m:d>
                      <m:r>
                        <a:rPr lang="en-US" altLang="zh-CN" sz="1800" i="1" kern="100">
                          <a:effectLst/>
                          <a:latin typeface="Cambria Math" panose="02040503050406030204" pitchFamily="18" charset="0"/>
                          <a:ea typeface="仿宋_GB2312"/>
                          <a:cs typeface="Times New Roman" panose="02020603050405020304" pitchFamily="18" charset="0"/>
                        </a:rPr>
                        <m:t> = </m:t>
                      </m:r>
                      <m:f>
                        <m:fPr>
                          <m:ctrlPr>
                            <a:rPr lang="zh-CN" altLang="zh-CN" i="1">
                              <a:effectLst/>
                              <a:latin typeface="Cambria Math" panose="02040503050406030204" pitchFamily="18" charset="0"/>
                              <a:ea typeface="Cambria Math" panose="02040503050406030204" pitchFamily="18" charset="0"/>
                            </a:rPr>
                          </m:ctrlPr>
                        </m:fPr>
                        <m:num>
                          <m:r>
                            <a:rPr lang="en-US" altLang="zh-CN" sz="1800" i="1" kern="100">
                              <a:effectLst/>
                              <a:latin typeface="Cambria Math" panose="02040503050406030204" pitchFamily="18" charset="0"/>
                              <a:ea typeface="仿宋_GB2312"/>
                              <a:cs typeface="Times New Roman" panose="02020603050405020304" pitchFamily="18" charset="0"/>
                            </a:rPr>
                            <m:t>1</m:t>
                          </m:r>
                        </m:num>
                        <m:den>
                          <m:r>
                            <a:rPr lang="en-US" altLang="zh-CN" sz="1800" i="1" kern="100">
                              <a:effectLst/>
                              <a:latin typeface="Cambria Math" panose="02040503050406030204" pitchFamily="18" charset="0"/>
                              <a:ea typeface="仿宋_GB2312"/>
                              <a:cs typeface="Times New Roman" panose="02020603050405020304" pitchFamily="18" charset="0"/>
                            </a:rPr>
                            <m:t>𝑀</m:t>
                          </m:r>
                        </m:den>
                      </m:f>
                      <m:nary>
                        <m:naryPr>
                          <m:chr m:val="∑"/>
                          <m:ctrlPr>
                            <a:rPr lang="zh-CN" altLang="zh-CN" i="1">
                              <a:effectLst/>
                              <a:latin typeface="Cambria Math" panose="02040503050406030204" pitchFamily="18" charset="0"/>
                              <a:ea typeface="Cambria Math" panose="02040503050406030204" pitchFamily="18" charset="0"/>
                            </a:rPr>
                          </m:ctrlPr>
                        </m:naryPr>
                        <m:sub>
                          <m:r>
                            <a:rPr lang="en-US" altLang="zh-CN" sz="1800" i="1" kern="100">
                              <a:effectLst/>
                              <a:latin typeface="Cambria Math" panose="02040503050406030204" pitchFamily="18" charset="0"/>
                              <a:ea typeface="仿宋_GB2312"/>
                              <a:cs typeface="Times New Roman" panose="02020603050405020304" pitchFamily="18" charset="0"/>
                            </a:rPr>
                            <m:t>𝑚</m:t>
                          </m:r>
                          <m:r>
                            <a:rPr lang="en-US" altLang="zh-CN" sz="1800" i="1" kern="100">
                              <a:effectLst/>
                              <a:latin typeface="Cambria Math" panose="02040503050406030204" pitchFamily="18" charset="0"/>
                              <a:ea typeface="仿宋_GB2312"/>
                              <a:cs typeface="Times New Roman" panose="02020603050405020304" pitchFamily="18" charset="0"/>
                            </a:rPr>
                            <m:t>=1</m:t>
                          </m:r>
                        </m:sub>
                        <m:sup>
                          <m:r>
                            <a:rPr lang="en-US" altLang="zh-CN" sz="1800" i="1" kern="100">
                              <a:effectLst/>
                              <a:latin typeface="Cambria Math" panose="02040503050406030204" pitchFamily="18" charset="0"/>
                              <a:ea typeface="仿宋_GB2312"/>
                              <a:cs typeface="Times New Roman" panose="02020603050405020304" pitchFamily="18" charset="0"/>
                            </a:rPr>
                            <m:t>𝑀</m:t>
                          </m:r>
                        </m:sup>
                        <m:e>
                          <m:d>
                            <m:dPr>
                              <m:begChr m:val="["/>
                              <m:endChr m:val="]"/>
                              <m:ctrlPr>
                                <a:rPr lang="zh-CN" altLang="zh-CN" i="1">
                                  <a:effectLst/>
                                  <a:latin typeface="Cambria Math" panose="02040503050406030204" pitchFamily="18" charset="0"/>
                                  <a:ea typeface="Cambria Math" panose="02040503050406030204" pitchFamily="18" charset="0"/>
                                </a:rPr>
                              </m:ctrlPr>
                            </m:dPr>
                            <m:e>
                              <m:nary>
                                <m:naryPr>
                                  <m:chr m:val="∑"/>
                                  <m:ctrlPr>
                                    <a:rPr lang="zh-CN" altLang="zh-CN" i="1">
                                      <a:effectLst/>
                                      <a:latin typeface="Cambria Math" panose="02040503050406030204" pitchFamily="18" charset="0"/>
                                      <a:ea typeface="Cambria Math" panose="02040503050406030204" pitchFamily="18" charset="0"/>
                                    </a:rPr>
                                  </m:ctrlPr>
                                </m:naryPr>
                                <m:sub>
                                  <m:r>
                                    <a:rPr lang="en-US" altLang="zh-CN" sz="1800" i="1" kern="100">
                                      <a:effectLst/>
                                      <a:latin typeface="Cambria Math" panose="02040503050406030204" pitchFamily="18" charset="0"/>
                                      <a:ea typeface="仿宋_GB2312"/>
                                      <a:cs typeface="Times New Roman" panose="02020603050405020304" pitchFamily="18" charset="0"/>
                                    </a:rPr>
                                    <m:t>𝑘</m:t>
                                  </m:r>
                                  <m:r>
                                    <a:rPr lang="en-US" altLang="zh-CN" sz="1800" i="1" kern="100">
                                      <a:effectLst/>
                                      <a:latin typeface="Cambria Math" panose="02040503050406030204" pitchFamily="18" charset="0"/>
                                      <a:ea typeface="仿宋_GB2312"/>
                                      <a:cs typeface="Times New Roman" panose="02020603050405020304" pitchFamily="18" charset="0"/>
                                    </a:rPr>
                                    <m:t>=0</m:t>
                                  </m:r>
                                </m:sub>
                                <m:sup>
                                  <m:r>
                                    <a:rPr lang="en-US" altLang="zh-CN" sz="1800" i="1" kern="100">
                                      <a:effectLst/>
                                      <a:latin typeface="Cambria Math" panose="02040503050406030204" pitchFamily="18" charset="0"/>
                                      <a:ea typeface="仿宋_GB2312"/>
                                      <a:cs typeface="Times New Roman" panose="02020603050405020304" pitchFamily="18" charset="0"/>
                                    </a:rPr>
                                    <m:t>𝐾</m:t>
                                  </m:r>
                                  <m:r>
                                    <a:rPr lang="en-US" altLang="zh-CN" sz="1800" i="1" kern="100">
                                      <a:effectLst/>
                                      <a:latin typeface="Cambria Math" panose="02040503050406030204" pitchFamily="18" charset="0"/>
                                      <a:ea typeface="仿宋_GB2312"/>
                                      <a:cs typeface="Times New Roman" panose="02020603050405020304" pitchFamily="18" charset="0"/>
                                    </a:rPr>
                                    <m:t>−1</m:t>
                                  </m:r>
                                </m:sup>
                                <m:e>
                                  <m:sSup>
                                    <m:sSupPr>
                                      <m:ctrlPr>
                                        <a:rPr lang="zh-CN" altLang="zh-CN" i="1">
                                          <a:effectLst/>
                                          <a:latin typeface="Cambria Math" panose="02040503050406030204" pitchFamily="18" charset="0"/>
                                          <a:ea typeface="Cambria Math" panose="02040503050406030204" pitchFamily="18" charset="0"/>
                                        </a:rPr>
                                      </m:ctrlPr>
                                    </m:sSupPr>
                                    <m:e>
                                      <m:r>
                                        <m:rPr>
                                          <m:sty m:val="p"/>
                                        </m:rPr>
                                        <a:rPr lang="en-US" altLang="zh-CN" sz="1800" kern="100">
                                          <a:effectLst/>
                                          <a:latin typeface="Cambria Math" panose="02040503050406030204" pitchFamily="18" charset="0"/>
                                          <a:ea typeface="仿宋_GB2312"/>
                                          <a:cs typeface="Times New Roman" panose="02020603050405020304" pitchFamily="18" charset="0"/>
                                        </a:rPr>
                                        <m:t>γ</m:t>
                                      </m:r>
                                    </m:e>
                                    <m:sup>
                                      <m:r>
                                        <a:rPr lang="en-US" altLang="zh-CN" sz="1800" i="1" kern="100">
                                          <a:effectLst/>
                                          <a:latin typeface="Cambria Math" panose="02040503050406030204" pitchFamily="18" charset="0"/>
                                          <a:ea typeface="仿宋_GB2312"/>
                                          <a:cs typeface="Times New Roman" panose="02020603050405020304" pitchFamily="18" charset="0"/>
                                        </a:rPr>
                                        <m:t>𝑘</m:t>
                                      </m:r>
                                    </m:sup>
                                  </m:sSup>
                                </m:e>
                              </m:nary>
                              <m:r>
                                <a:rPr lang="en-US" altLang="zh-CN" sz="1800" i="1" kern="100">
                                  <a:effectLst/>
                                  <a:latin typeface="Cambria Math" panose="02040503050406030204" pitchFamily="18" charset="0"/>
                                  <a:ea typeface="仿宋_GB2312"/>
                                  <a:cs typeface="Times New Roman" panose="02020603050405020304" pitchFamily="18" charset="0"/>
                                </a:rPr>
                                <m:t> </m:t>
                              </m:r>
                              <m:acc>
                                <m:accPr>
                                  <m:chr m:val="̂"/>
                                  <m:ctrlPr>
                                    <a:rPr lang="zh-CN" altLang="zh-CN" i="1">
                                      <a:effectLst/>
                                      <a:latin typeface="Cambria Math" panose="02040503050406030204" pitchFamily="18" charset="0"/>
                                      <a:ea typeface="Cambria Math" panose="02040503050406030204" pitchFamily="18" charset="0"/>
                                    </a:rPr>
                                  </m:ctrlPr>
                                </m:accPr>
                                <m:e>
                                  <m:sSubSup>
                                    <m:sSubSupPr>
                                      <m:ctrlPr>
                                        <a:rPr lang="zh-CN" altLang="zh-CN" i="1">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仿宋_GB2312"/>
                                          <a:cs typeface="Times New Roman" panose="02020603050405020304" pitchFamily="18" charset="0"/>
                                        </a:rPr>
                                        <m:t>𝑟</m:t>
                                      </m:r>
                                    </m:e>
                                    <m:sub>
                                      <m:r>
                                        <a:rPr lang="en-US" altLang="zh-CN" sz="1800" i="1" kern="100">
                                          <a:effectLst/>
                                          <a:latin typeface="Cambria Math" panose="02040503050406030204" pitchFamily="18" charset="0"/>
                                          <a:ea typeface="仿宋_GB2312"/>
                                          <a:cs typeface="Times New Roman" panose="02020603050405020304" pitchFamily="18" charset="0"/>
                                        </a:rPr>
                                        <m:t>𝑘</m:t>
                                      </m:r>
                                      <m:r>
                                        <a:rPr lang="en-US" altLang="zh-CN" sz="1800" i="1" kern="100">
                                          <a:effectLst/>
                                          <a:latin typeface="Cambria Math" panose="02040503050406030204" pitchFamily="18" charset="0"/>
                                          <a:ea typeface="仿宋_GB2312"/>
                                          <a:cs typeface="Times New Roman" panose="02020603050405020304" pitchFamily="18" charset="0"/>
                                        </a:rPr>
                                        <m:t>,</m:t>
                                      </m:r>
                                      <m:r>
                                        <a:rPr lang="en-US" altLang="zh-CN" sz="1800" i="1" kern="100">
                                          <a:effectLst/>
                                          <a:latin typeface="Cambria Math" panose="02040503050406030204" pitchFamily="18" charset="0"/>
                                          <a:ea typeface="仿宋_GB2312"/>
                                          <a:cs typeface="Times New Roman" panose="02020603050405020304" pitchFamily="18" charset="0"/>
                                        </a:rPr>
                                        <m:t>𝑚</m:t>
                                      </m:r>
                                    </m:sub>
                                    <m:sup>
                                      <m:r>
                                        <a:rPr lang="en-US" altLang="zh-CN" sz="1800" i="1" kern="100">
                                          <a:effectLst/>
                                          <a:latin typeface="Cambria Math" panose="02040503050406030204" pitchFamily="18" charset="0"/>
                                          <a:ea typeface="仿宋_GB2312"/>
                                          <a:cs typeface="Times New Roman" panose="02020603050405020304" pitchFamily="18" charset="0"/>
                                        </a:rPr>
                                        <m:t> </m:t>
                                      </m:r>
                                      <m:r>
                                        <a:rPr lang="en-US" altLang="zh-CN" sz="1800" i="1" kern="100">
                                          <a:effectLst/>
                                          <a:latin typeface="Cambria Math" panose="02040503050406030204" pitchFamily="18" charset="0"/>
                                          <a:ea typeface="仿宋_GB2312"/>
                                          <a:cs typeface="Times New Roman" panose="02020603050405020304" pitchFamily="18" charset="0"/>
                                        </a:rPr>
                                        <m:t>𝑖</m:t>
                                      </m:r>
                                    </m:sup>
                                  </m:sSubSup>
                                </m:e>
                              </m:acc>
                              <m:r>
                                <a:rPr lang="en-US" altLang="zh-CN" sz="1800" i="1" kern="100">
                                  <a:effectLst/>
                                  <a:latin typeface="Cambria Math" panose="02040503050406030204" pitchFamily="18" charset="0"/>
                                  <a:ea typeface="仿宋_GB2312"/>
                                  <a:cs typeface="Times New Roman" panose="02020603050405020304" pitchFamily="18" charset="0"/>
                                </a:rPr>
                                <m:t> + </m:t>
                              </m:r>
                              <m:sSup>
                                <m:sSupPr>
                                  <m:ctrlPr>
                                    <a:rPr lang="zh-CN" altLang="zh-CN" i="1">
                                      <a:effectLst/>
                                      <a:latin typeface="Cambria Math" panose="02040503050406030204" pitchFamily="18" charset="0"/>
                                      <a:ea typeface="Cambria Math" panose="02040503050406030204" pitchFamily="18" charset="0"/>
                                    </a:rPr>
                                  </m:ctrlPr>
                                </m:sSupPr>
                                <m:e>
                                  <m:r>
                                    <m:rPr>
                                      <m:sty m:val="p"/>
                                    </m:rPr>
                                    <a:rPr lang="en-US" altLang="zh-CN" sz="1800" kern="100">
                                      <a:effectLst/>
                                      <a:latin typeface="Cambria Math" panose="02040503050406030204" pitchFamily="18" charset="0"/>
                                      <a:ea typeface="仿宋_GB2312"/>
                                      <a:cs typeface="Times New Roman" panose="02020603050405020304" pitchFamily="18" charset="0"/>
                                    </a:rPr>
                                    <m:t>γ</m:t>
                                  </m:r>
                                </m:e>
                                <m:sup>
                                  <m:r>
                                    <a:rPr lang="en-US" altLang="zh-CN" sz="1800" i="1" kern="100">
                                      <a:effectLst/>
                                      <a:latin typeface="Cambria Math" panose="02040503050406030204" pitchFamily="18" charset="0"/>
                                      <a:ea typeface="仿宋_GB2312"/>
                                      <a:cs typeface="Times New Roman" panose="02020603050405020304" pitchFamily="18" charset="0"/>
                                    </a:rPr>
                                    <m:t>𝐾</m:t>
                                  </m:r>
                                </m:sup>
                              </m:sSup>
                              <m:r>
                                <a:rPr lang="en-US" altLang="zh-CN" sz="1800" i="1" kern="100">
                                  <a:effectLst/>
                                  <a:latin typeface="Cambria Math" panose="02040503050406030204" pitchFamily="18" charset="0"/>
                                  <a:ea typeface="仿宋_GB2312"/>
                                  <a:cs typeface="Times New Roman" panose="02020603050405020304" pitchFamily="18" charset="0"/>
                                </a:rPr>
                                <m:t> </m:t>
                              </m:r>
                              <m:acc>
                                <m:accPr>
                                  <m:chr m:val="̂"/>
                                  <m:ctrlPr>
                                    <a:rPr lang="zh-CN" altLang="zh-CN" i="1">
                                      <a:effectLst/>
                                      <a:latin typeface="Cambria Math" panose="02040503050406030204" pitchFamily="18" charset="0"/>
                                      <a:ea typeface="Cambria Math" panose="02040503050406030204" pitchFamily="18" charset="0"/>
                                    </a:rPr>
                                  </m:ctrlPr>
                                </m:acc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𝑉</m:t>
                                      </m:r>
                                    </m:e>
                                    <m:sub>
                                      <m:r>
                                        <a:rPr lang="en-US" altLang="zh-CN" sz="1800" i="1" kern="100">
                                          <a:effectLst/>
                                          <a:latin typeface="Cambria Math" panose="02040503050406030204" pitchFamily="18" charset="0"/>
                                          <a:ea typeface="仿宋_GB2312"/>
                                          <a:cs typeface="Times New Roman" panose="02020603050405020304" pitchFamily="18" charset="0"/>
                                        </a:rPr>
                                        <m:t>𝑖</m:t>
                                      </m:r>
                                    </m:sub>
                                  </m:sSub>
                                </m:e>
                              </m:acc>
                              <m:d>
                                <m:dPr>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𝑠</m:t>
                                      </m:r>
                                    </m:e>
                                    <m:sub>
                                      <m:r>
                                        <a:rPr lang="en-US" altLang="zh-CN" sz="1800" i="1" kern="100">
                                          <a:effectLst/>
                                          <a:latin typeface="Cambria Math" panose="02040503050406030204" pitchFamily="18" charset="0"/>
                                          <a:ea typeface="仿宋_GB2312"/>
                                          <a:cs typeface="Times New Roman" panose="02020603050405020304" pitchFamily="18" charset="0"/>
                                        </a:rPr>
                                        <m:t>𝐾</m:t>
                                      </m:r>
                                      <m:r>
                                        <a:rPr lang="en-US" altLang="zh-CN" sz="1800" i="1" kern="100">
                                          <a:effectLst/>
                                          <a:latin typeface="Cambria Math" panose="02040503050406030204" pitchFamily="18" charset="0"/>
                                          <a:ea typeface="仿宋_GB2312"/>
                                          <a:cs typeface="Times New Roman" panose="02020603050405020304" pitchFamily="18" charset="0"/>
                                        </a:rPr>
                                        <m:t>,</m:t>
                                      </m:r>
                                      <m:r>
                                        <a:rPr lang="en-US" altLang="zh-CN" sz="1800" i="1" kern="100">
                                          <a:effectLst/>
                                          <a:latin typeface="Cambria Math" panose="02040503050406030204" pitchFamily="18" charset="0"/>
                                          <a:ea typeface="仿宋_GB2312"/>
                                          <a:cs typeface="Times New Roman" panose="02020603050405020304" pitchFamily="18" charset="0"/>
                                        </a:rPr>
                                        <m:t>𝑚</m:t>
                                      </m:r>
                                    </m:sub>
                                  </m:sSub>
                                </m:e>
                              </m:d>
                            </m:e>
                          </m:d>
                        </m:e>
                      </m:nary>
                    </m:oMath>
                  </m:oMathPara>
                </a14:m>
                <a:endParaRPr lang="zh-CN" altLang="en-US" dirty="0"/>
              </a:p>
            </p:txBody>
          </p:sp>
        </mc:Choice>
        <mc:Fallback xmlns="">
          <p:sp>
            <p:nvSpPr>
              <p:cNvPr id="10" name="文本框 9">
                <a:extLst>
                  <a:ext uri="{FF2B5EF4-FFF2-40B4-BE49-F238E27FC236}">
                    <a16:creationId xmlns:a16="http://schemas.microsoft.com/office/drawing/2014/main" id="{E892F509-92E6-4BCE-8761-4D83E192A405}"/>
                  </a:ext>
                </a:extLst>
              </p:cNvPr>
              <p:cNvSpPr txBox="1">
                <a:spLocks noRot="1" noChangeAspect="1" noMove="1" noResize="1" noEditPoints="1" noAdjustHandles="1" noChangeArrowheads="1" noChangeShapeType="1" noTextEdit="1"/>
              </p:cNvSpPr>
              <p:nvPr/>
            </p:nvSpPr>
            <p:spPr>
              <a:xfrm>
                <a:off x="5933440" y="2608462"/>
                <a:ext cx="6096000" cy="3188693"/>
              </a:xfrm>
              <a:prstGeom prst="rect">
                <a:avLst/>
              </a:prstGeom>
              <a:blipFill>
                <a:blip r:embed="rId3"/>
                <a:stretch>
                  <a:fillRect l="-800" t="-1147" r="-9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923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89165-713E-9687-3A75-5872327D71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4B70F0-990E-9922-15B8-F4CB44A59E16}"/>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93BCE2CB-2158-FB75-B2D1-9B301697EFCD}"/>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3</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EC82B469-8C44-31E3-A04F-D64255E206FE}"/>
              </a:ext>
            </a:extLst>
          </p:cNvPr>
          <p:cNvSpPr txBox="1"/>
          <p:nvPr/>
        </p:nvSpPr>
        <p:spPr>
          <a:xfrm>
            <a:off x="4786831" y="2852177"/>
            <a:ext cx="724349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研究进展与实验验证</a:t>
            </a:r>
          </a:p>
        </p:txBody>
      </p:sp>
      <p:sp>
        <p:nvSpPr>
          <p:cNvPr id="16" name="矩形 15">
            <a:extLst>
              <a:ext uri="{FF2B5EF4-FFF2-40B4-BE49-F238E27FC236}">
                <a16:creationId xmlns:a16="http://schemas.microsoft.com/office/drawing/2014/main" id="{87FD361A-C374-84B3-8097-B46A52C6C507}"/>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64319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699CE-EEF7-5DA9-1F51-B09A89151B08}"/>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D60E0B74-E09E-63D4-F646-7D9FA126A7EC}"/>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A96EB2A1-F7E3-17C5-AC7F-C39CCDCA7CF7}"/>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实验设计</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62F77A28-E252-4A34-8712-A5E2EFB2CD5A}"/>
                  </a:ext>
                </a:extLst>
              </p:cNvPr>
              <p:cNvSpPr txBox="1"/>
              <p:nvPr/>
            </p:nvSpPr>
            <p:spPr>
              <a:xfrm>
                <a:off x="1432560" y="1442720"/>
                <a:ext cx="8930640" cy="3292312"/>
              </a:xfrm>
              <a:prstGeom prst="rect">
                <a:avLst/>
              </a:prstGeom>
              <a:noFill/>
            </p:spPr>
            <p:txBody>
              <a:bodyPr wrap="square" rtlCol="0">
                <a:spAutoFit/>
              </a:bodyPr>
              <a:lstStyle/>
              <a:p>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实验基于</a:t>
                </a:r>
                <a:r>
                  <a:rPr lang="zh-CN" altLang="zh-CN" sz="1800" kern="100" dirty="0">
                    <a:effectLst/>
                    <a:latin typeface="微软雅黑" panose="020B0503020204020204" pitchFamily="34" charset="-122"/>
                    <a:ea typeface="微软雅黑" panose="020B0503020204020204" pitchFamily="34" charset="-122"/>
                  </a:rPr>
                  <a:t> </a:t>
                </a:r>
                <a:r>
                  <a:rPr lang="en-US" altLang="zh-CN" sz="1800" kern="100" dirty="0" err="1">
                    <a:effectLst/>
                    <a:latin typeface="微软雅黑" panose="020B0503020204020204" pitchFamily="34" charset="-122"/>
                    <a:ea typeface="微软雅黑" panose="020B0503020204020204" pitchFamily="34" charset="-122"/>
                  </a:rPr>
                  <a:t>RelationCommons</a:t>
                </a:r>
                <a:r>
                  <a:rPr lang="en-US" altLang="zh-CN" sz="1800" kern="1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多智能体资源采集仿真环境，遵循</a:t>
                </a:r>
                <a:r>
                  <a:rPr lang="en-US" altLang="zh-CN" sz="1800" kern="100" dirty="0">
                    <a:effectLst/>
                    <a:latin typeface="微软雅黑" panose="020B0503020204020204" pitchFamily="34" charset="-122"/>
                    <a:ea typeface="微软雅黑" panose="020B0503020204020204" pitchFamily="34" charset="-122"/>
                  </a:rPr>
                  <a:t> </a:t>
                </a:r>
                <a:r>
                  <a:rPr lang="en-US" altLang="zh-CN" sz="1800" kern="100" dirty="0" err="1">
                    <a:effectLst/>
                    <a:latin typeface="微软雅黑" panose="020B0503020204020204" pitchFamily="34" charset="-122"/>
                    <a:ea typeface="微软雅黑" panose="020B0503020204020204" pitchFamily="34" charset="-122"/>
                  </a:rPr>
                  <a:t>OpenAI</a:t>
                </a:r>
                <a:r>
                  <a:rPr lang="en-US" altLang="zh-CN" sz="1800" kern="100" dirty="0">
                    <a:effectLst/>
                    <a:latin typeface="微软雅黑" panose="020B0503020204020204" pitchFamily="34" charset="-122"/>
                    <a:ea typeface="微软雅黑" panose="020B0503020204020204" pitchFamily="34" charset="-122"/>
                  </a:rPr>
                  <a:t> Gym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接口规范。当前实验</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L</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L</m:t>
                    </m:r>
                    <m:r>
                      <a:rPr lang="en-US" altLang="zh-CN" sz="1800" kern="100">
                        <a:effectLst/>
                        <a:latin typeface="Cambria Math" panose="02040503050406030204" pitchFamily="18" charset="0"/>
                        <a:ea typeface="仿宋_GB2312"/>
                        <a:cs typeface="Times New Roman" panose="02020603050405020304" pitchFamily="18" charset="0"/>
                      </a:rPr>
                      <m:t>=8×8</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网格、</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K</m:t>
                    </m:r>
                    <m:r>
                      <a:rPr lang="en-US" altLang="zh-CN" sz="1800" kern="100">
                        <a:effectLst/>
                        <a:latin typeface="Cambria Math" panose="02040503050406030204" pitchFamily="18" charset="0"/>
                        <a:ea typeface="仿宋_GB2312"/>
                        <a:cs typeface="Times New Roman" panose="02020603050405020304" pitchFamily="18" charset="0"/>
                      </a:rPr>
                      <m:t>=8</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个资源点、回合长度</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T</m:t>
                        </m:r>
                      </m:e>
                      <m:sub>
                        <m:r>
                          <m:rPr>
                            <m:sty m:val="p"/>
                          </m:rPr>
                          <a:rPr lang="en-US" altLang="zh-CN" sz="1800" kern="100">
                            <a:effectLst/>
                            <a:latin typeface="Cambria Math" panose="02040503050406030204" pitchFamily="18" charset="0"/>
                            <a:ea typeface="仿宋_GB2312"/>
                            <a:cs typeface="Times New Roman" panose="02020603050405020304" pitchFamily="18" charset="0"/>
                          </a:rPr>
                          <m:t>max</m:t>
                        </m:r>
                      </m:sub>
                    </m:sSub>
                    <m:r>
                      <a:rPr lang="en-US" altLang="zh-CN" sz="1800" kern="100">
                        <a:effectLst/>
                        <a:latin typeface="Cambria Math" panose="02040503050406030204" pitchFamily="18" charset="0"/>
                        <a:ea typeface="仿宋_GB2312"/>
                        <a:cs typeface="Times New Roman" panose="02020603050405020304" pitchFamily="18" charset="0"/>
                      </a:rPr>
                      <m:t>=100</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。每个智能体在每一步从</a:t>
                </a:r>
                <a:r>
                  <a:rPr lang="en-US" altLang="zh-CN" sz="1800" kern="100" dirty="0">
                    <a:effectLst/>
                    <a:latin typeface="微软雅黑" panose="020B0503020204020204" pitchFamily="34" charset="-122"/>
                    <a:ea typeface="微软雅黑" panose="020B0503020204020204" pitchFamily="34" charset="-122"/>
                  </a:rPr>
                  <a:t> 6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个离散动作中选择一个：静止、上下左右移动、采集；当多个智能体同时处于同一资源点时，该点产出按人数均分。</a:t>
                </a:r>
                <a:endPar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设关系构型</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g</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对应关系矩阵</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W</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800" kern="100">
                            <a:effectLst/>
                            <a:latin typeface="Cambria Math" panose="02040503050406030204" pitchFamily="18" charset="0"/>
                            <a:ea typeface="仿宋_GB2312"/>
                            <a:cs typeface="Times New Roman" panose="02020603050405020304" pitchFamily="18" charset="0"/>
                          </a:rPr>
                          <m:t>g</m:t>
                        </m:r>
                      </m:e>
                    </m:d>
                    <m:r>
                      <a:rPr lang="zh-CN" altLang="zh-CN" sz="1800" kern="100">
                        <a:effectLst/>
                        <a:latin typeface="Cambria Math" panose="02040503050406030204" pitchFamily="18" charset="0"/>
                        <a:ea typeface="仿宋_GB231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18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1800" kern="100">
                                <a:effectLst/>
                                <a:latin typeface="Cambria Math" panose="02040503050406030204" pitchFamily="18" charset="0"/>
                                <a:ea typeface="仿宋_GB2312"/>
                                <a:cs typeface="Times New Roman" panose="02020603050405020304" pitchFamily="18" charset="0"/>
                              </a:rPr>
                              <m:t>1,1</m:t>
                            </m:r>
                          </m:e>
                        </m:d>
                      </m:e>
                      <m:sup>
                        <m:r>
                          <m:rPr>
                            <m:sty m:val="p"/>
                          </m:rPr>
                          <a:rPr lang="en-US" altLang="zh-CN" sz="1800" kern="100">
                            <a:effectLst/>
                            <a:latin typeface="Cambria Math" panose="02040503050406030204" pitchFamily="18" charset="0"/>
                            <a:ea typeface="仿宋_GB2312"/>
                            <a:cs typeface="Times New Roman" panose="02020603050405020304" pitchFamily="18" charset="0"/>
                          </a:rPr>
                          <m:t>N</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N</m:t>
                        </m:r>
                      </m:sup>
                    </m:sSup>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i</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的即时收益为关系加权的归一化聚合</a:t>
                </a:r>
              </a:p>
              <a:p>
                <a:pPr algn="ct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R</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Sub>
                      <m:r>
                        <a:rPr lang="en-US" altLang="zh-CN" sz="1800" kern="100">
                          <a:effectLst/>
                          <a:latin typeface="Cambria Math" panose="02040503050406030204" pitchFamily="18" charset="0"/>
                          <a:ea typeface="仿宋_GB2312"/>
                          <a:cs typeface="Times New Roman" panose="02020603050405020304" pitchFamily="18" charset="0"/>
                        </a:rPr>
                        <m:t> = </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Sub>
                          <m:r>
                            <a:rPr lang="en-US" altLang="zh-CN" sz="1800" kern="100">
                              <a:effectLst/>
                              <a:latin typeface="Cambria Math" panose="02040503050406030204" pitchFamily="18" charset="0"/>
                              <a:ea typeface="仿宋_GB2312"/>
                              <a:cs typeface="Times New Roman" panose="02020603050405020304" pitchFamily="18" charset="0"/>
                            </a:rPr>
                            <m:t>+</m:t>
                          </m:r>
                          <m:nary>
                            <m:naryPr>
                              <m:chr m:val="∑"/>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m:rPr>
                                  <m:sty m:val="p"/>
                                </m:rPr>
                                <a:rPr lang="en-US" altLang="zh-CN" sz="1800" kern="100">
                                  <a:effectLst/>
                                  <a:latin typeface="Cambria Math" panose="02040503050406030204" pitchFamily="18" charset="0"/>
                                  <a:ea typeface="仿宋_GB2312"/>
                                  <a:cs typeface="Times New Roman" panose="02020603050405020304" pitchFamily="18" charset="0"/>
                                </a:rPr>
                                <m:t>j</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up/>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w</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ij</m:t>
                                  </m:r>
                                </m:sub>
                              </m:sSub>
                            </m:e>
                          </m:nary>
                          <m:r>
                            <a:rPr lang="en-US" altLang="zh-CN" sz="1800" kern="100">
                              <a:effectLst/>
                              <a:latin typeface="Cambria Math" panose="02040503050406030204" pitchFamily="18" charset="0"/>
                              <a:ea typeface="仿宋_GB2312"/>
                              <a:cs typeface="Times New Roman" panose="02020603050405020304" pitchFamily="18" charset="0"/>
                            </a:rPr>
                            <m:t> </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j</m:t>
                              </m:r>
                            </m:sub>
                          </m:sSub>
                        </m:num>
                        <m:den>
                          <m:r>
                            <a:rPr lang="en-US" altLang="zh-CN" sz="1800" kern="100">
                              <a:effectLst/>
                              <a:latin typeface="Cambria Math" panose="02040503050406030204" pitchFamily="18" charset="0"/>
                              <a:ea typeface="仿宋_GB2312"/>
                              <a:cs typeface="Times New Roman" panose="02020603050405020304" pitchFamily="18" charset="0"/>
                            </a:rPr>
                            <m:t>1+</m:t>
                          </m:r>
                          <m:nary>
                            <m:naryPr>
                              <m:chr m:val="∑"/>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m:rPr>
                                  <m:sty m:val="p"/>
                                </m:rPr>
                                <a:rPr lang="en-US" altLang="zh-CN" sz="1800" kern="100">
                                  <a:effectLst/>
                                  <a:latin typeface="Cambria Math" panose="02040503050406030204" pitchFamily="18" charset="0"/>
                                  <a:ea typeface="仿宋_GB2312"/>
                                  <a:cs typeface="Times New Roman" panose="02020603050405020304" pitchFamily="18" charset="0"/>
                                </a:rPr>
                                <m:t>j</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up/>
                            <m:e>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w</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ij</m:t>
                                      </m:r>
                                    </m:sub>
                                  </m:sSub>
                                </m:e>
                              </m:d>
                            </m:e>
                          </m:nary>
                        </m:den>
                      </m:f>
                    </m:oMath>
                  </m:oMathPara>
                </a14:m>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j</m:t>
                        </m:r>
                      </m:sub>
                    </m:sSub>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为智能体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j</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的即时物理采集量</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即收益对他人采集的敏感度由关系权重</a:t>
                </a:r>
                <a14:m>
                  <m:oMath xmlns:m="http://schemas.openxmlformats.org/officeDocument/2006/math">
                    <m:sSub>
                      <m:sSubPr>
                        <m:ctrlPr>
                          <a:rPr lang="en-US" altLang="zh-CN"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𝑤</m:t>
                        </m:r>
                      </m:e>
                      <m:sub>
                        <m:d>
                          <m:dPr>
                            <m:begChr m:val="{"/>
                            <m:endChr m:val="}"/>
                            <m:ctrlPr>
                              <a:rPr lang="en-US" altLang="zh-CN" i="1" kern="10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𝑖𝑗</m:t>
                            </m:r>
                          </m:e>
                        </m:d>
                      </m:sub>
                    </m:sSub>
                  </m:oMath>
                </a14:m>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决定。同一个共享的奖励预测网络被要求在不同关系构型下拟合符号相反的输入输出关系：合作构型要求对方多采集则我的收益上升，竞争构型要求恰好相反。</a:t>
                </a:r>
                <a:endParaRPr lang="zh-CN" altLang="en-US" dirty="0">
                  <a:latin typeface="微软雅黑" panose="020B0503020204020204" pitchFamily="34" charset="-122"/>
                  <a:ea typeface="微软雅黑" panose="020B0503020204020204" pitchFamily="34" charset="-122"/>
                </a:endParaRPr>
              </a:p>
            </p:txBody>
          </p:sp>
        </mc:Choice>
        <mc:Fallback>
          <p:sp>
            <p:nvSpPr>
              <p:cNvPr id="4" name="文本框 3">
                <a:extLst>
                  <a:ext uri="{FF2B5EF4-FFF2-40B4-BE49-F238E27FC236}">
                    <a16:creationId xmlns:a16="http://schemas.microsoft.com/office/drawing/2014/main" id="{62F77A28-E252-4A34-8712-A5E2EFB2CD5A}"/>
                  </a:ext>
                </a:extLst>
              </p:cNvPr>
              <p:cNvSpPr txBox="1">
                <a:spLocks noRot="1" noChangeAspect="1" noMove="1" noResize="1" noEditPoints="1" noAdjustHandles="1" noChangeArrowheads="1" noChangeShapeType="1" noTextEdit="1"/>
              </p:cNvSpPr>
              <p:nvPr/>
            </p:nvSpPr>
            <p:spPr>
              <a:xfrm>
                <a:off x="1432560" y="1442720"/>
                <a:ext cx="8930640" cy="3292312"/>
              </a:xfrm>
              <a:prstGeom prst="rect">
                <a:avLst/>
              </a:prstGeom>
              <a:blipFill>
                <a:blip r:embed="rId2"/>
                <a:stretch>
                  <a:fillRect l="-546" t="-1111" r="-546" b="-20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154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FB72-0B8F-3CBE-A88C-D2DF5427D14E}"/>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BCD79E3-7840-01E4-D520-275AF817BA6F}"/>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4A88A374-7A3D-0A67-B51C-9A85D2082CA4}"/>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实验验证</a:t>
            </a:r>
          </a:p>
        </p:txBody>
      </p:sp>
      <p:sp>
        <p:nvSpPr>
          <p:cNvPr id="4" name="文本框 3">
            <a:extLst>
              <a:ext uri="{FF2B5EF4-FFF2-40B4-BE49-F238E27FC236}">
                <a16:creationId xmlns:a16="http://schemas.microsoft.com/office/drawing/2014/main" id="{FBD6CA53-1D0E-7ECB-E329-B9A29BD99F6C}"/>
              </a:ext>
            </a:extLst>
          </p:cNvPr>
          <p:cNvSpPr txBox="1"/>
          <p:nvPr/>
        </p:nvSpPr>
        <p:spPr>
          <a:xfrm>
            <a:off x="881048" y="984834"/>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：全局</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reward</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验证</a:t>
            </a:r>
            <a:endParaRPr lang="zh-CN" altLang="en-US" sz="2400" dirty="0"/>
          </a:p>
        </p:txBody>
      </p:sp>
      <p:sp>
        <p:nvSpPr>
          <p:cNvPr id="5" name="文本框 4">
            <a:extLst>
              <a:ext uri="{FF2B5EF4-FFF2-40B4-BE49-F238E27FC236}">
                <a16:creationId xmlns:a16="http://schemas.microsoft.com/office/drawing/2014/main" id="{611F64B1-EE67-2DE5-3EEF-0019B90E7EF2}"/>
              </a:ext>
            </a:extLst>
          </p:cNvPr>
          <p:cNvSpPr txBox="1"/>
          <p:nvPr/>
        </p:nvSpPr>
        <p:spPr>
          <a:xfrm>
            <a:off x="881048" y="1514441"/>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实验目的：验证角色关系矩阵在训练过程中发生变化时，算法的适应性</a:t>
            </a:r>
          </a:p>
        </p:txBody>
      </p:sp>
      <p:pic>
        <p:nvPicPr>
          <p:cNvPr id="9" name="图片 8">
            <a:extLst>
              <a:ext uri="{FF2B5EF4-FFF2-40B4-BE49-F238E27FC236}">
                <a16:creationId xmlns:a16="http://schemas.microsoft.com/office/drawing/2014/main" id="{E9F0C91A-FB44-4F2F-80E8-2D4E3F411516}"/>
              </a:ext>
            </a:extLst>
          </p:cNvPr>
          <p:cNvPicPr/>
          <p:nvPr/>
        </p:nvPicPr>
        <p:blipFill>
          <a:blip r:embed="rId2"/>
          <a:stretch>
            <a:fillRect/>
          </a:stretch>
        </p:blipFill>
        <p:spPr>
          <a:xfrm>
            <a:off x="881048" y="1903172"/>
            <a:ext cx="8516952" cy="4804316"/>
          </a:xfrm>
          <a:prstGeom prst="rect">
            <a:avLst/>
          </a:prstGeom>
        </p:spPr>
      </p:pic>
      <p:sp>
        <p:nvSpPr>
          <p:cNvPr id="3" name="文本框 2">
            <a:extLst>
              <a:ext uri="{FF2B5EF4-FFF2-40B4-BE49-F238E27FC236}">
                <a16:creationId xmlns:a16="http://schemas.microsoft.com/office/drawing/2014/main" id="{0440CB8B-AF1B-41F0-ACBA-F95FE9991204}"/>
              </a:ext>
            </a:extLst>
          </p:cNvPr>
          <p:cNvSpPr txBox="1"/>
          <p:nvPr/>
        </p:nvSpPr>
        <p:spPr>
          <a:xfrm>
            <a:off x="9509760" y="2079639"/>
            <a:ext cx="2529840" cy="397031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DR-MBHGL</a:t>
            </a:r>
            <a:r>
              <a:rPr lang="zh-CN" altLang="en-US" dirty="0">
                <a:latin typeface="微软雅黑" panose="020B0503020204020204" pitchFamily="34" charset="-122"/>
                <a:ea typeface="微软雅黑" panose="020B0503020204020204" pitchFamily="34" charset="-122"/>
              </a:rPr>
              <a:t>在所有可学习的机制中均占据主导地位，且学习速度快。在其 </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万步的运行中，它在合作机制 </a:t>
            </a:r>
            <a:r>
              <a:rPr lang="en-US" altLang="zh-CN" dirty="0">
                <a:latin typeface="微软雅黑" panose="020B0503020204020204" pitchFamily="34" charset="-122"/>
                <a:ea typeface="微软雅黑" panose="020B0503020204020204" pitchFamily="34" charset="-122"/>
              </a:rPr>
              <a:t>g0 </a:t>
            </a:r>
            <a:r>
              <a:rPr lang="zh-CN" altLang="en-US" dirty="0">
                <a:latin typeface="微软雅黑" panose="020B0503020204020204" pitchFamily="34" charset="-122"/>
                <a:ea typeface="微软雅黑" panose="020B0503020204020204" pitchFamily="34" charset="-122"/>
              </a:rPr>
              <a:t>上达到约 </a:t>
            </a:r>
            <a:r>
              <a:rPr lang="en-US" altLang="zh-CN" dirty="0">
                <a:latin typeface="微软雅黑" panose="020B0503020204020204" pitchFamily="34" charset="-122"/>
                <a:ea typeface="微软雅黑" panose="020B0503020204020204" pitchFamily="34" charset="-122"/>
              </a:rPr>
              <a:t>120 </a:t>
            </a:r>
            <a:r>
              <a:rPr lang="zh-CN" altLang="en-US" dirty="0">
                <a:latin typeface="微软雅黑" panose="020B0503020204020204" pitchFamily="34" charset="-122"/>
                <a:ea typeface="微软雅黑" panose="020B0503020204020204" pitchFamily="34" charset="-122"/>
              </a:rPr>
              <a:t>的回报，在两个非对称机制 </a:t>
            </a:r>
            <a:r>
              <a:rPr lang="en-US" altLang="zh-CN" dirty="0">
                <a:latin typeface="微软雅黑" panose="020B0503020204020204" pitchFamily="34" charset="-122"/>
                <a:ea typeface="微软雅黑" panose="020B0503020204020204" pitchFamily="34" charset="-122"/>
              </a:rPr>
              <a:t>(g2/g3) </a:t>
            </a:r>
            <a:r>
              <a:rPr lang="zh-CN" altLang="en-US" dirty="0">
                <a:latin typeface="微软雅黑" panose="020B0503020204020204" pitchFamily="34" charset="-122"/>
                <a:ea typeface="微软雅黑" panose="020B0503020204020204" pitchFamily="34" charset="-122"/>
              </a:rPr>
              <a:t>上约为 </a:t>
            </a:r>
            <a:r>
              <a:rPr lang="en-US" altLang="zh-CN" dirty="0">
                <a:latin typeface="微软雅黑" panose="020B0503020204020204" pitchFamily="34" charset="-122"/>
                <a:ea typeface="微软雅黑" panose="020B0503020204020204" pitchFamily="34" charset="-122"/>
              </a:rPr>
              <a:t>65</a:t>
            </a:r>
            <a:r>
              <a:rPr lang="zh-CN" altLang="en-US" dirty="0">
                <a:latin typeface="微软雅黑" panose="020B0503020204020204" pitchFamily="34" charset="-122"/>
                <a:ea typeface="微软雅黑" panose="020B0503020204020204" pitchFamily="34" charset="-122"/>
              </a:rPr>
              <a:t>，在中立机制 </a:t>
            </a:r>
            <a:r>
              <a:rPr lang="en-US" altLang="zh-CN" dirty="0">
                <a:latin typeface="微软雅黑" panose="020B0503020204020204" pitchFamily="34" charset="-122"/>
                <a:ea typeface="微软雅黑" panose="020B0503020204020204" pitchFamily="34" charset="-122"/>
              </a:rPr>
              <a:t>g4 </a:t>
            </a:r>
            <a:r>
              <a:rPr lang="zh-CN" altLang="en-US" dirty="0">
                <a:latin typeface="微软雅黑" panose="020B0503020204020204" pitchFamily="34" charset="-122"/>
                <a:ea typeface="微软雅黑" panose="020B0503020204020204" pitchFamily="34" charset="-122"/>
              </a:rPr>
              <a:t>上约为 </a:t>
            </a:r>
            <a:r>
              <a:rPr lang="en-US" altLang="zh-CN" dirty="0">
                <a:latin typeface="微软雅黑" panose="020B0503020204020204" pitchFamily="34" charset="-122"/>
                <a:ea typeface="微软雅黑" panose="020B0503020204020204" pitchFamily="34" charset="-122"/>
              </a:rPr>
              <a:t>110</a:t>
            </a:r>
            <a:r>
              <a:rPr lang="zh-CN" altLang="en-US" dirty="0">
                <a:latin typeface="微软雅黑" panose="020B0503020204020204" pitchFamily="34" charset="-122"/>
                <a:ea typeface="微软雅黑" panose="020B0503020204020204" pitchFamily="34" charset="-122"/>
              </a:rPr>
              <a:t>，所有机制的平均值稳定在 </a:t>
            </a:r>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左右。</a:t>
            </a:r>
            <a:r>
              <a:rPr lang="en-US" altLang="zh-CN" dirty="0">
                <a:latin typeface="微软雅黑" panose="020B0503020204020204" pitchFamily="34" charset="-122"/>
                <a:ea typeface="微软雅黑" panose="020B0503020204020204" pitchFamily="34" charset="-122"/>
              </a:rPr>
              <a:t>MAMBA </a:t>
            </a:r>
            <a:r>
              <a:rPr lang="zh-CN" altLang="en-US" dirty="0">
                <a:latin typeface="微软雅黑" panose="020B0503020204020204" pitchFamily="34" charset="-122"/>
                <a:ea typeface="微软雅黑" panose="020B0503020204020204" pitchFamily="34" charset="-122"/>
              </a:rPr>
              <a:t>受其世界模型训练开销限制，截至目前其训练仍在进行</a:t>
            </a:r>
          </a:p>
        </p:txBody>
      </p:sp>
    </p:spTree>
    <p:extLst>
      <p:ext uri="{BB962C8B-B14F-4D97-AF65-F5344CB8AC3E}">
        <p14:creationId xmlns:p14="http://schemas.microsoft.com/office/powerpoint/2010/main" val="301272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FB72-0B8F-3CBE-A88C-D2DF5427D14E}"/>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BCD79E3-7840-01E4-D520-275AF817BA6F}"/>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4A88A374-7A3D-0A67-B51C-9A85D2082CA4}"/>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实验验证</a:t>
            </a:r>
          </a:p>
        </p:txBody>
      </p:sp>
      <p:sp>
        <p:nvSpPr>
          <p:cNvPr id="4" name="文本框 3">
            <a:extLst>
              <a:ext uri="{FF2B5EF4-FFF2-40B4-BE49-F238E27FC236}">
                <a16:creationId xmlns:a16="http://schemas.microsoft.com/office/drawing/2014/main" id="{FBD6CA53-1D0E-7ECB-E329-B9A29BD99F6C}"/>
              </a:ext>
            </a:extLst>
          </p:cNvPr>
          <p:cNvSpPr txBox="1"/>
          <p:nvPr/>
        </p:nvSpPr>
        <p:spPr>
          <a:xfrm>
            <a:off x="881048" y="984834"/>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：算法泛化性验证</a:t>
            </a:r>
            <a:endParaRPr lang="zh-CN" altLang="en-US" sz="2400" dirty="0"/>
          </a:p>
        </p:txBody>
      </p:sp>
      <p:sp>
        <p:nvSpPr>
          <p:cNvPr id="5" name="文本框 4">
            <a:extLst>
              <a:ext uri="{FF2B5EF4-FFF2-40B4-BE49-F238E27FC236}">
                <a16:creationId xmlns:a16="http://schemas.microsoft.com/office/drawing/2014/main" id="{611F64B1-EE67-2DE5-3EEF-0019B90E7EF2}"/>
              </a:ext>
            </a:extLst>
          </p:cNvPr>
          <p:cNvSpPr txBox="1"/>
          <p:nvPr/>
        </p:nvSpPr>
        <p:spPr>
          <a:xfrm>
            <a:off x="881048" y="1514441"/>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实验目的：验模型对训练中未出现的关系构型的泛化能力</a:t>
            </a:r>
          </a:p>
        </p:txBody>
      </p:sp>
      <p:sp>
        <p:nvSpPr>
          <p:cNvPr id="3" name="文本框 2">
            <a:extLst>
              <a:ext uri="{FF2B5EF4-FFF2-40B4-BE49-F238E27FC236}">
                <a16:creationId xmlns:a16="http://schemas.microsoft.com/office/drawing/2014/main" id="{0440CB8B-AF1B-41F0-ACBA-F95FE9991204}"/>
              </a:ext>
            </a:extLst>
          </p:cNvPr>
          <p:cNvSpPr txBox="1"/>
          <p:nvPr/>
        </p:nvSpPr>
        <p:spPr>
          <a:xfrm>
            <a:off x="7995919" y="2529840"/>
            <a:ext cx="2976880" cy="341632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结果分析：本实验验证方法面对训练中从未出现的关系机制时能否实现知识迁移。该柱状图比较在训练已见机制与未见机制上的平均收敛零样本奖励。</a:t>
            </a:r>
            <a:r>
              <a:rPr lang="en-US" altLang="zh-CN" dirty="0">
                <a:latin typeface="微软雅黑" panose="020B0503020204020204" pitchFamily="34" charset="-122"/>
                <a:ea typeface="微软雅黑" panose="020B0503020204020204" pitchFamily="34" charset="-122"/>
              </a:rPr>
              <a:t>DR-MBHGL </a:t>
            </a:r>
            <a:r>
              <a:rPr lang="zh-CN" altLang="en-US" dirty="0">
                <a:latin typeface="微软雅黑" panose="020B0503020204020204" pitchFamily="34" charset="-122"/>
                <a:ea typeface="微软雅黑" panose="020B0503020204020204" pitchFamily="34" charset="-122"/>
              </a:rPr>
              <a:t>以高回报泛化到了未见的关系机制中。该方法在其他构型上获得的经验（共享客观转移动力学、角色行向量）到主观参数的生成映射对新构型较适用</a:t>
            </a:r>
          </a:p>
        </p:txBody>
      </p:sp>
      <p:pic>
        <p:nvPicPr>
          <p:cNvPr id="8" name="图片 7">
            <a:extLst>
              <a:ext uri="{FF2B5EF4-FFF2-40B4-BE49-F238E27FC236}">
                <a16:creationId xmlns:a16="http://schemas.microsoft.com/office/drawing/2014/main" id="{90942368-1D37-4BD0-BF8F-D20EC3034A86}"/>
              </a:ext>
            </a:extLst>
          </p:cNvPr>
          <p:cNvPicPr/>
          <p:nvPr/>
        </p:nvPicPr>
        <p:blipFill>
          <a:blip r:embed="rId2"/>
          <a:stretch>
            <a:fillRect/>
          </a:stretch>
        </p:blipFill>
        <p:spPr>
          <a:xfrm>
            <a:off x="955041" y="2044048"/>
            <a:ext cx="6289039" cy="4723601"/>
          </a:xfrm>
          <a:prstGeom prst="rect">
            <a:avLst/>
          </a:prstGeom>
        </p:spPr>
      </p:pic>
    </p:spTree>
    <p:extLst>
      <p:ext uri="{BB962C8B-B14F-4D97-AF65-F5344CB8AC3E}">
        <p14:creationId xmlns:p14="http://schemas.microsoft.com/office/powerpoint/2010/main" val="1022049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7C298-510D-0E63-7DEE-6FA9FBAA74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02A46B-DA07-659B-E5F8-E000EA705653}"/>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29FEFB15-150D-F633-AA28-1BBFC6B0E9C5}"/>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dirty="0">
                <a:solidFill>
                  <a:prstClr val="white"/>
                </a:solidFill>
                <a:latin typeface="Arial Black" panose="020B0A04020102020204" pitchFamily="34" charset="0"/>
                <a:ea typeface="字魂59号-创粗黑" panose="00000500000000000000" pitchFamily="2" charset="-122"/>
                <a:sym typeface="字魂59号-创粗黑" panose="00000500000000000000" pitchFamily="2" charset="-122"/>
              </a:rPr>
              <a:t>4</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E2427D2B-2FFD-EC19-B62D-2FF6FEA72473}"/>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后续工作计划</a:t>
            </a:r>
          </a:p>
        </p:txBody>
      </p:sp>
      <p:sp>
        <p:nvSpPr>
          <p:cNvPr id="16" name="矩形 15">
            <a:extLst>
              <a:ext uri="{FF2B5EF4-FFF2-40B4-BE49-F238E27FC236}">
                <a16:creationId xmlns:a16="http://schemas.microsoft.com/office/drawing/2014/main" id="{23D63A92-0526-4CE1-C216-DA6F97E32605}"/>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8416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809A-DEA2-16F6-E564-D41BD654F44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C073D42E-6900-A244-B102-C4AD78109CC6}"/>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5AB2605F-57A1-CFEE-7F23-58A6EF358B31}"/>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后续工作计划</a:t>
            </a:r>
          </a:p>
        </p:txBody>
      </p:sp>
      <p:sp>
        <p:nvSpPr>
          <p:cNvPr id="3" name="文本框 2">
            <a:extLst>
              <a:ext uri="{FF2B5EF4-FFF2-40B4-BE49-F238E27FC236}">
                <a16:creationId xmlns:a16="http://schemas.microsoft.com/office/drawing/2014/main" id="{A8D7DAD0-9C2E-770D-543C-40DF45234AA6}"/>
              </a:ext>
            </a:extLst>
          </p:cNvPr>
          <p:cNvSpPr txBox="1"/>
          <p:nvPr/>
        </p:nvSpPr>
        <p:spPr>
          <a:xfrm>
            <a:off x="997226" y="1274417"/>
            <a:ext cx="9984850" cy="4524315"/>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）完善实验验证体系和消融实验，将博弈论指标纳入消融实验的常规报告项；将对比方法扩展至已引入代码库但尚未评估的 </a:t>
            </a:r>
            <a:r>
              <a:rPr lang="en-US" altLang="zh-CN" sz="2400" dirty="0" err="1">
                <a:latin typeface="黑体" panose="02010609060101010101" pitchFamily="49" charset="-122"/>
                <a:ea typeface="黑体" panose="02010609060101010101" pitchFamily="49" charset="-122"/>
              </a:rPr>
              <a:t>MAZero</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与 </a:t>
            </a:r>
            <a:r>
              <a:rPr lang="en-US" altLang="zh-CN" sz="2400" dirty="0">
                <a:latin typeface="黑体" panose="02010609060101010101" pitchFamily="49" charset="-122"/>
                <a:ea typeface="黑体" panose="02010609060101010101" pitchFamily="49" charset="-122"/>
              </a:rPr>
              <a:t>DIMA</a:t>
            </a:r>
            <a:r>
              <a:rPr lang="zh-CN" altLang="en-US" sz="2400" dirty="0">
                <a:latin typeface="黑体" panose="02010609060101010101" pitchFamily="49" charset="-122"/>
                <a:ea typeface="黑体" panose="02010609060101010101" pitchFamily="49" charset="-122"/>
              </a:rPr>
              <a:t>；将实验场景由当前的双智能体扩展至四构型族，涵盖两两对立与三对一联盟等更复杂的关系结构。</a:t>
            </a:r>
          </a:p>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开展全动态博弈环境下的求解范式研究。在关系构型允许回合内切换的隐马尔可夫切换博弈设定下，研究切换潜变量的在线追踪机制，即信念后验发生跳变时如何低成本触发超网络对主观参数的重生成；相应地评估范式需要从当前的回合级评估过渡到切换段级评估，以区分模型在稳定构型下的常规表现与切换后短暂适应期内的表现；</a:t>
            </a:r>
          </a:p>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）优化算法训练流程与神经网络梯度流向，目前算法训练速度不理想，尝试训练加速。</a:t>
            </a:r>
          </a:p>
          <a:p>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88203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1328</Words>
  <Application>Microsoft Office PowerPoint</Application>
  <PresentationFormat>宽屏</PresentationFormat>
  <Paragraphs>45</Paragraphs>
  <Slides>13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等线</vt:lpstr>
      <vt:lpstr>等线 Light</vt:lpstr>
      <vt:lpstr>黑体</vt:lpstr>
      <vt:lpstr>微软雅黑</vt:lpstr>
      <vt:lpstr>Arial</vt:lpstr>
      <vt:lpstr>Arial Black</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文博 郑</dc:creator>
  <cp:lastModifiedBy>文博 郑</cp:lastModifiedBy>
  <cp:revision>1</cp:revision>
  <dcterms:created xsi:type="dcterms:W3CDTF">2026-07-14T03:32:01Z</dcterms:created>
  <dcterms:modified xsi:type="dcterms:W3CDTF">2026-07-14T03:32:17Z</dcterms:modified>
</cp:coreProperties>
</file>