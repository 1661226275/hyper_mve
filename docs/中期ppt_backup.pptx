
<file path=[Content_Types].xml><?xml version="1.0" encoding="utf-8"?>
<Types xmlns="http://schemas.openxmlformats.org/package/2006/content-types">
  <Default Extension="jpeg" ContentType="image/jpeg"/>
  <Default Extension="jp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notesMasterIdLst>
    <p:notesMasterId r:id="rId15"/>
  </p:notesMasterIdLst>
  <p:sldIdLst>
    <p:sldId id="290" r:id="rId2"/>
    <p:sldId id="259" r:id="rId3"/>
    <p:sldId id="308" r:id="rId4"/>
    <p:sldId id="278" r:id="rId5"/>
    <p:sldId id="291" r:id="rId6"/>
    <p:sldId id="292" r:id="rId7"/>
    <p:sldId id="309" r:id="rId8"/>
    <p:sldId id="295" r:id="rId9"/>
    <p:sldId id="283" r:id="rId10"/>
    <p:sldId id="284" r:id="rId11"/>
    <p:sldId id="310" r:id="rId12"/>
    <p:sldId id="303" r:id="rId13"/>
    <p:sldId id="288" r:id="rId14"/>
  </p:sldIdLst>
  <p:sldSz cx="12192000" cy="6858000"/>
  <p:notesSz cx="6858000" cy="9144000"/>
  <p:defaultTex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p:cViewPr varScale="1">
        <p:scale>
          <a:sx n="80" d="100"/>
          <a:sy n="80" d="100"/>
        </p:scale>
        <p:origin x="754" y="53"/>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theme" Target="theme/theme1.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viewProps" Target="viewProps.xml"/><Relationship Id="rId2" Type="http://schemas.openxmlformats.org/officeDocument/2006/relationships/slide" Target="slides/slide1.xml"/><Relationship Id="rId16" Type="http://schemas.openxmlformats.org/officeDocument/2006/relationships/presProps" Target="presProp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notesMaster" Target="notesMasters/notesMaster1.xml"/><Relationship Id="rId10" Type="http://schemas.openxmlformats.org/officeDocument/2006/relationships/slide" Target="slides/slide9.xml"/><Relationship Id="rId19" Type="http://schemas.openxmlformats.org/officeDocument/2006/relationships/tableStyles" Target="tableStyle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页眉占位符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zh-CN" altLang="en-US"/>
          </a:p>
        </p:txBody>
      </p:sp>
      <p:sp>
        <p:nvSpPr>
          <p:cNvPr id="3" name="日期占位符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C88FEDAE-9A46-4FB5-9B9D-46117FB89E41}" type="datetimeFigureOut">
              <a:rPr lang="zh-CN" altLang="en-US" smtClean="0"/>
              <a:t>2026/7/14</a:t>
            </a:fld>
            <a:endParaRPr lang="zh-CN" altLang="en-US"/>
          </a:p>
        </p:txBody>
      </p:sp>
      <p:sp>
        <p:nvSpPr>
          <p:cNvPr id="4" name="幻灯片图像占位符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zh-CN" altLang="en-US"/>
          </a:p>
        </p:txBody>
      </p:sp>
      <p:sp>
        <p:nvSpPr>
          <p:cNvPr id="5" name="备注占位符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p>
        </p:txBody>
      </p:sp>
      <p:sp>
        <p:nvSpPr>
          <p:cNvPr id="6" name="页脚占位符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zh-CN" altLang="en-US"/>
          </a:p>
        </p:txBody>
      </p:sp>
      <p:sp>
        <p:nvSpPr>
          <p:cNvPr id="7" name="灯片编号占位符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B1DC81C3-8C10-4FA4-9902-D21FA5646ECE}" type="slidenum">
              <a:rPr lang="zh-CN" altLang="en-US" smtClean="0"/>
              <a:t>‹#›</a:t>
            </a:fld>
            <a:endParaRPr lang="zh-CN" altLang="en-US"/>
          </a:p>
        </p:txBody>
      </p:sp>
    </p:spTree>
    <p:extLst>
      <p:ext uri="{BB962C8B-B14F-4D97-AF65-F5344CB8AC3E}">
        <p14:creationId xmlns:p14="http://schemas.microsoft.com/office/powerpoint/2010/main" val="566141142"/>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zh-CN" altLang="zh-CN" sz="1800" kern="100" dirty="0">
                <a:effectLst/>
                <a:latin typeface="Times New Roman" panose="02020603050405020304" pitchFamily="18" charset="0"/>
                <a:ea typeface="仿宋_GB2312"/>
                <a:cs typeface="Times New Roman" panose="02020603050405020304" pitchFamily="18" charset="0"/>
              </a:rPr>
              <a:t>本课题选择基于模型的强化学习算法框架的原因在于环境中存在不随博弈关系变化的共性物理规律，这部分知识可被学习一次并在所有关系构型下复用；而真正随关系演化的只是各智能体的收益偏好与最优响应。若采用无模型方法，策略会将收益结构和环境动力学混杂进同一个端到端映射，一旦关系偏移，整个策略只能通过大量新交互重新调整，样本效率很低。相比之下，基于模型的方法显式学习环境动态模型，可利用规划前瞻性决策，并允许将共性动力学与关系敏感的收益预测解耦，从而在关系变化时仅需更新收益部分，无需重新学习环境模型，大幅提升样本效率与适应速度。</a:t>
            </a:r>
            <a:r>
              <a:rPr lang="zh-CN" altLang="en-US" dirty="0"/>
              <a:t>角色感知模块从私有角色行向量与观测历史中提取当前角色和当前构型的上下文表征；主观，客观分离的世界模型模块以该上下文为条件，由超网络生成各智能体专属的奖励与策略预测参数，同时以权重共享的客观网络刻画与关系无关的环境动力学。</a:t>
            </a:r>
          </a:p>
        </p:txBody>
      </p:sp>
      <p:sp>
        <p:nvSpPr>
          <p:cNvPr id="4" name="灯片编号占位符 3"/>
          <p:cNvSpPr>
            <a:spLocks noGrp="1"/>
          </p:cNvSpPr>
          <p:nvPr>
            <p:ph type="sldNum" sz="quarter" idx="5"/>
          </p:nvPr>
        </p:nvSpPr>
        <p:spPr/>
        <p:txBody>
          <a:bodyPr/>
          <a:lstStyle/>
          <a:p>
            <a:fld id="{CFBC9B1C-0A13-4BA1-BA34-1E4B1773898A}" type="slidenum">
              <a:rPr lang="zh-CN" altLang="en-US" smtClean="0"/>
              <a:t>6</a:t>
            </a:fld>
            <a:endParaRPr lang="zh-CN" altLang="en-US"/>
          </a:p>
        </p:txBody>
      </p:sp>
    </p:spTree>
    <p:extLst>
      <p:ext uri="{BB962C8B-B14F-4D97-AF65-F5344CB8AC3E}">
        <p14:creationId xmlns:p14="http://schemas.microsoft.com/office/powerpoint/2010/main" val="1427578743"/>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标题幻灯片">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707F117C-0DE6-428A-A29C-6230DE9F385D}"/>
              </a:ext>
            </a:extLst>
          </p:cNvPr>
          <p:cNvSpPr>
            <a:spLocks noGrp="1"/>
          </p:cNvSpPr>
          <p:nvPr>
            <p:ph type="ctrTitle"/>
          </p:nvPr>
        </p:nvSpPr>
        <p:spPr>
          <a:xfrm>
            <a:off x="1524000" y="1122363"/>
            <a:ext cx="9144000" cy="2387600"/>
          </a:xfrm>
        </p:spPr>
        <p:txBody>
          <a:bodyPr anchor="b"/>
          <a:lstStyle>
            <a:lvl1pPr algn="ctr">
              <a:defRPr sz="6000"/>
            </a:lvl1pPr>
          </a:lstStyle>
          <a:p>
            <a:r>
              <a:rPr lang="zh-CN" altLang="en-US"/>
              <a:t>单击此处编辑母版标题样式</a:t>
            </a:r>
          </a:p>
        </p:txBody>
      </p:sp>
      <p:sp>
        <p:nvSpPr>
          <p:cNvPr id="3" name="副标题 2">
            <a:extLst>
              <a:ext uri="{FF2B5EF4-FFF2-40B4-BE49-F238E27FC236}">
                <a16:creationId xmlns:a16="http://schemas.microsoft.com/office/drawing/2014/main" id="{4E2BA0BC-3319-4B3D-B51E-B62D5A9DE005}"/>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zh-CN" altLang="en-US"/>
              <a:t>单击此处编辑母版副标题样式</a:t>
            </a:r>
          </a:p>
        </p:txBody>
      </p:sp>
      <p:sp>
        <p:nvSpPr>
          <p:cNvPr id="4" name="日期占位符 3">
            <a:extLst>
              <a:ext uri="{FF2B5EF4-FFF2-40B4-BE49-F238E27FC236}">
                <a16:creationId xmlns:a16="http://schemas.microsoft.com/office/drawing/2014/main" id="{02EC1AA4-86DB-401C-93A7-DFB0A4FF2E6A}"/>
              </a:ext>
            </a:extLst>
          </p:cNvPr>
          <p:cNvSpPr>
            <a:spLocks noGrp="1"/>
          </p:cNvSpPr>
          <p:nvPr>
            <p:ph type="dt" sz="half" idx="10"/>
          </p:nvPr>
        </p:nvSpPr>
        <p:spPr/>
        <p:txBody>
          <a:bodyPr/>
          <a:lstStyle/>
          <a:p>
            <a:fld id="{16A859EC-FE27-44E1-89D5-78364DE25D2F}" type="datetimeFigureOut">
              <a:rPr lang="zh-CN" altLang="en-US" smtClean="0"/>
              <a:t>2026/7/14</a:t>
            </a:fld>
            <a:endParaRPr lang="zh-CN" altLang="en-US"/>
          </a:p>
        </p:txBody>
      </p:sp>
      <p:sp>
        <p:nvSpPr>
          <p:cNvPr id="5" name="页脚占位符 4">
            <a:extLst>
              <a:ext uri="{FF2B5EF4-FFF2-40B4-BE49-F238E27FC236}">
                <a16:creationId xmlns:a16="http://schemas.microsoft.com/office/drawing/2014/main" id="{B8ECB6BE-FB5E-4B9B-9EA0-6EEF6FCC04A3}"/>
              </a:ext>
            </a:extLst>
          </p:cNvPr>
          <p:cNvSpPr>
            <a:spLocks noGrp="1"/>
          </p:cNvSpPr>
          <p:nvPr>
            <p:ph type="ftr" sz="quarter" idx="11"/>
          </p:nvPr>
        </p:nvSpPr>
        <p:spPr/>
        <p:txBody>
          <a:bodyPr/>
          <a:lstStyle/>
          <a:p>
            <a:endParaRPr lang="zh-CN" altLang="en-US"/>
          </a:p>
        </p:txBody>
      </p:sp>
      <p:sp>
        <p:nvSpPr>
          <p:cNvPr id="6" name="灯片编号占位符 5">
            <a:extLst>
              <a:ext uri="{FF2B5EF4-FFF2-40B4-BE49-F238E27FC236}">
                <a16:creationId xmlns:a16="http://schemas.microsoft.com/office/drawing/2014/main" id="{8A20DE3A-982F-470A-8259-B892B422FA65}"/>
              </a:ext>
            </a:extLst>
          </p:cNvPr>
          <p:cNvSpPr>
            <a:spLocks noGrp="1"/>
          </p:cNvSpPr>
          <p:nvPr>
            <p:ph type="sldNum" sz="quarter" idx="12"/>
          </p:nvPr>
        </p:nvSpPr>
        <p:spPr/>
        <p:txBody>
          <a:bodyPr/>
          <a:lstStyle/>
          <a:p>
            <a:fld id="{68EB229B-493C-43CC-B356-FD6F0C80F924}" type="slidenum">
              <a:rPr lang="zh-CN" altLang="en-US" smtClean="0"/>
              <a:t>‹#›</a:t>
            </a:fld>
            <a:endParaRPr lang="zh-CN" altLang="en-US"/>
          </a:p>
        </p:txBody>
      </p:sp>
    </p:spTree>
    <p:extLst>
      <p:ext uri="{BB962C8B-B14F-4D97-AF65-F5344CB8AC3E}">
        <p14:creationId xmlns:p14="http://schemas.microsoft.com/office/powerpoint/2010/main" val="1262557274"/>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标题和内容">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E39FE673-3432-47FE-9E6F-CD6D9EC3C02A}"/>
              </a:ext>
            </a:extLst>
          </p:cNvPr>
          <p:cNvSpPr>
            <a:spLocks noGrp="1"/>
          </p:cNvSpPr>
          <p:nvPr>
            <p:ph type="title"/>
          </p:nvPr>
        </p:nvSpPr>
        <p:spPr/>
        <p:txBody>
          <a:bodyPr/>
          <a:lstStyle/>
          <a:p>
            <a:r>
              <a:rPr lang="zh-CN" altLang="en-US"/>
              <a:t>单击此处编辑母版标题样式</a:t>
            </a:r>
          </a:p>
        </p:txBody>
      </p:sp>
      <p:sp>
        <p:nvSpPr>
          <p:cNvPr id="3" name="内容占位符 2">
            <a:extLst>
              <a:ext uri="{FF2B5EF4-FFF2-40B4-BE49-F238E27FC236}">
                <a16:creationId xmlns:a16="http://schemas.microsoft.com/office/drawing/2014/main" id="{0B301417-48BD-4FAA-A097-18CA18C514C1}"/>
              </a:ext>
            </a:extLst>
          </p:cNvPr>
          <p:cNvSpPr>
            <a:spLocks noGrp="1"/>
          </p:cNvSpPr>
          <p:nvPr>
            <p:ph idx="1"/>
          </p:nvPr>
        </p:nvSpPr>
        <p:spPr/>
        <p:txBody>
          <a:bodyPr/>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p>
        </p:txBody>
      </p:sp>
      <p:sp>
        <p:nvSpPr>
          <p:cNvPr id="4" name="日期占位符 3">
            <a:extLst>
              <a:ext uri="{FF2B5EF4-FFF2-40B4-BE49-F238E27FC236}">
                <a16:creationId xmlns:a16="http://schemas.microsoft.com/office/drawing/2014/main" id="{70F7F990-8BFE-4A44-BDAC-305345C1E04C}"/>
              </a:ext>
            </a:extLst>
          </p:cNvPr>
          <p:cNvSpPr>
            <a:spLocks noGrp="1"/>
          </p:cNvSpPr>
          <p:nvPr>
            <p:ph type="dt" sz="half" idx="10"/>
          </p:nvPr>
        </p:nvSpPr>
        <p:spPr/>
        <p:txBody>
          <a:bodyPr/>
          <a:lstStyle/>
          <a:p>
            <a:fld id="{16A859EC-FE27-44E1-89D5-78364DE25D2F}" type="datetimeFigureOut">
              <a:rPr lang="zh-CN" altLang="en-US" smtClean="0"/>
              <a:t>2026/7/14</a:t>
            </a:fld>
            <a:endParaRPr lang="zh-CN" altLang="en-US"/>
          </a:p>
        </p:txBody>
      </p:sp>
      <p:sp>
        <p:nvSpPr>
          <p:cNvPr id="5" name="页脚占位符 4">
            <a:extLst>
              <a:ext uri="{FF2B5EF4-FFF2-40B4-BE49-F238E27FC236}">
                <a16:creationId xmlns:a16="http://schemas.microsoft.com/office/drawing/2014/main" id="{76601D40-71E3-45C8-AAAC-782324DBA848}"/>
              </a:ext>
            </a:extLst>
          </p:cNvPr>
          <p:cNvSpPr>
            <a:spLocks noGrp="1"/>
          </p:cNvSpPr>
          <p:nvPr>
            <p:ph type="ftr" sz="quarter" idx="11"/>
          </p:nvPr>
        </p:nvSpPr>
        <p:spPr/>
        <p:txBody>
          <a:bodyPr/>
          <a:lstStyle/>
          <a:p>
            <a:endParaRPr lang="zh-CN" altLang="en-US"/>
          </a:p>
        </p:txBody>
      </p:sp>
      <p:sp>
        <p:nvSpPr>
          <p:cNvPr id="6" name="灯片编号占位符 5">
            <a:extLst>
              <a:ext uri="{FF2B5EF4-FFF2-40B4-BE49-F238E27FC236}">
                <a16:creationId xmlns:a16="http://schemas.microsoft.com/office/drawing/2014/main" id="{B7C1308F-3E20-42FD-AB97-F50DEC583467}"/>
              </a:ext>
            </a:extLst>
          </p:cNvPr>
          <p:cNvSpPr>
            <a:spLocks noGrp="1"/>
          </p:cNvSpPr>
          <p:nvPr>
            <p:ph type="sldNum" sz="quarter" idx="12"/>
          </p:nvPr>
        </p:nvSpPr>
        <p:spPr/>
        <p:txBody>
          <a:bodyPr/>
          <a:lstStyle/>
          <a:p>
            <a:fld id="{68EB229B-493C-43CC-B356-FD6F0C80F924}" type="slidenum">
              <a:rPr lang="zh-CN" altLang="en-US" smtClean="0"/>
              <a:t>‹#›</a:t>
            </a:fld>
            <a:endParaRPr lang="zh-CN" altLang="en-US"/>
          </a:p>
        </p:txBody>
      </p:sp>
    </p:spTree>
    <p:extLst>
      <p:ext uri="{BB962C8B-B14F-4D97-AF65-F5344CB8AC3E}">
        <p14:creationId xmlns:p14="http://schemas.microsoft.com/office/powerpoint/2010/main" val="528525402"/>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节标题">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D50D008B-B215-47CE-B987-00585BB929A5}"/>
              </a:ext>
            </a:extLst>
          </p:cNvPr>
          <p:cNvSpPr>
            <a:spLocks noGrp="1"/>
          </p:cNvSpPr>
          <p:nvPr>
            <p:ph type="title"/>
          </p:nvPr>
        </p:nvSpPr>
        <p:spPr>
          <a:xfrm>
            <a:off x="831850" y="1709738"/>
            <a:ext cx="10515600" cy="2852737"/>
          </a:xfrm>
        </p:spPr>
        <p:txBody>
          <a:bodyPr anchor="b"/>
          <a:lstStyle>
            <a:lvl1pPr>
              <a:defRPr sz="6000"/>
            </a:lvl1pPr>
          </a:lstStyle>
          <a:p>
            <a:r>
              <a:rPr lang="zh-CN" altLang="en-US"/>
              <a:t>单击此处编辑母版标题样式</a:t>
            </a:r>
          </a:p>
        </p:txBody>
      </p:sp>
      <p:sp>
        <p:nvSpPr>
          <p:cNvPr id="3" name="文本占位符 2">
            <a:extLst>
              <a:ext uri="{FF2B5EF4-FFF2-40B4-BE49-F238E27FC236}">
                <a16:creationId xmlns:a16="http://schemas.microsoft.com/office/drawing/2014/main" id="{3CE70BDC-0EF3-4ED4-8179-B87EC823AB0E}"/>
              </a:ext>
            </a:extLst>
          </p:cNvPr>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zh-CN" altLang="en-US"/>
              <a:t>单击此处编辑母版文本样式</a:t>
            </a:r>
          </a:p>
        </p:txBody>
      </p:sp>
      <p:sp>
        <p:nvSpPr>
          <p:cNvPr id="4" name="日期占位符 3">
            <a:extLst>
              <a:ext uri="{FF2B5EF4-FFF2-40B4-BE49-F238E27FC236}">
                <a16:creationId xmlns:a16="http://schemas.microsoft.com/office/drawing/2014/main" id="{0855B74C-AECD-4DE8-8E5F-08F6B76A8044}"/>
              </a:ext>
            </a:extLst>
          </p:cNvPr>
          <p:cNvSpPr>
            <a:spLocks noGrp="1"/>
          </p:cNvSpPr>
          <p:nvPr>
            <p:ph type="dt" sz="half" idx="10"/>
          </p:nvPr>
        </p:nvSpPr>
        <p:spPr/>
        <p:txBody>
          <a:bodyPr/>
          <a:lstStyle/>
          <a:p>
            <a:fld id="{16A859EC-FE27-44E1-89D5-78364DE25D2F}" type="datetimeFigureOut">
              <a:rPr lang="zh-CN" altLang="en-US" smtClean="0"/>
              <a:t>2026/7/14</a:t>
            </a:fld>
            <a:endParaRPr lang="zh-CN" altLang="en-US"/>
          </a:p>
        </p:txBody>
      </p:sp>
      <p:sp>
        <p:nvSpPr>
          <p:cNvPr id="5" name="页脚占位符 4">
            <a:extLst>
              <a:ext uri="{FF2B5EF4-FFF2-40B4-BE49-F238E27FC236}">
                <a16:creationId xmlns:a16="http://schemas.microsoft.com/office/drawing/2014/main" id="{0DCA714B-4DBA-4FE1-9B36-1E67C9732C0C}"/>
              </a:ext>
            </a:extLst>
          </p:cNvPr>
          <p:cNvSpPr>
            <a:spLocks noGrp="1"/>
          </p:cNvSpPr>
          <p:nvPr>
            <p:ph type="ftr" sz="quarter" idx="11"/>
          </p:nvPr>
        </p:nvSpPr>
        <p:spPr/>
        <p:txBody>
          <a:bodyPr/>
          <a:lstStyle/>
          <a:p>
            <a:endParaRPr lang="zh-CN" altLang="en-US"/>
          </a:p>
        </p:txBody>
      </p:sp>
      <p:sp>
        <p:nvSpPr>
          <p:cNvPr id="6" name="灯片编号占位符 5">
            <a:extLst>
              <a:ext uri="{FF2B5EF4-FFF2-40B4-BE49-F238E27FC236}">
                <a16:creationId xmlns:a16="http://schemas.microsoft.com/office/drawing/2014/main" id="{28479785-A801-4EE6-A952-950C0BE0BBFD}"/>
              </a:ext>
            </a:extLst>
          </p:cNvPr>
          <p:cNvSpPr>
            <a:spLocks noGrp="1"/>
          </p:cNvSpPr>
          <p:nvPr>
            <p:ph type="sldNum" sz="quarter" idx="12"/>
          </p:nvPr>
        </p:nvSpPr>
        <p:spPr/>
        <p:txBody>
          <a:bodyPr/>
          <a:lstStyle/>
          <a:p>
            <a:fld id="{68EB229B-493C-43CC-B356-FD6F0C80F924}" type="slidenum">
              <a:rPr lang="zh-CN" altLang="en-US" smtClean="0"/>
              <a:t>‹#›</a:t>
            </a:fld>
            <a:endParaRPr lang="zh-CN" altLang="en-US"/>
          </a:p>
        </p:txBody>
      </p:sp>
    </p:spTree>
    <p:extLst>
      <p:ext uri="{BB962C8B-B14F-4D97-AF65-F5344CB8AC3E}">
        <p14:creationId xmlns:p14="http://schemas.microsoft.com/office/powerpoint/2010/main" val="4036160042"/>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两栏内容">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011D4F4D-774C-4742-B229-CC1985086531}"/>
              </a:ext>
            </a:extLst>
          </p:cNvPr>
          <p:cNvSpPr>
            <a:spLocks noGrp="1"/>
          </p:cNvSpPr>
          <p:nvPr>
            <p:ph type="title"/>
          </p:nvPr>
        </p:nvSpPr>
        <p:spPr/>
        <p:txBody>
          <a:bodyPr/>
          <a:lstStyle/>
          <a:p>
            <a:r>
              <a:rPr lang="zh-CN" altLang="en-US"/>
              <a:t>单击此处编辑母版标题样式</a:t>
            </a:r>
          </a:p>
        </p:txBody>
      </p:sp>
      <p:sp>
        <p:nvSpPr>
          <p:cNvPr id="3" name="内容占位符 2">
            <a:extLst>
              <a:ext uri="{FF2B5EF4-FFF2-40B4-BE49-F238E27FC236}">
                <a16:creationId xmlns:a16="http://schemas.microsoft.com/office/drawing/2014/main" id="{B19ABF86-0DA9-470B-ADDA-95A648BAD6D2}"/>
              </a:ext>
            </a:extLst>
          </p:cNvPr>
          <p:cNvSpPr>
            <a:spLocks noGrp="1"/>
          </p:cNvSpPr>
          <p:nvPr>
            <p:ph sz="half" idx="1"/>
          </p:nvPr>
        </p:nvSpPr>
        <p:spPr>
          <a:xfrm>
            <a:off x="838200" y="1825625"/>
            <a:ext cx="5181600" cy="4351338"/>
          </a:xfrm>
        </p:spPr>
        <p:txBody>
          <a:bodyPr/>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p>
        </p:txBody>
      </p:sp>
      <p:sp>
        <p:nvSpPr>
          <p:cNvPr id="4" name="内容占位符 3">
            <a:extLst>
              <a:ext uri="{FF2B5EF4-FFF2-40B4-BE49-F238E27FC236}">
                <a16:creationId xmlns:a16="http://schemas.microsoft.com/office/drawing/2014/main" id="{995103F6-AB9F-4E7C-9BAE-A122268BE4EC}"/>
              </a:ext>
            </a:extLst>
          </p:cNvPr>
          <p:cNvSpPr>
            <a:spLocks noGrp="1"/>
          </p:cNvSpPr>
          <p:nvPr>
            <p:ph sz="half" idx="2"/>
          </p:nvPr>
        </p:nvSpPr>
        <p:spPr>
          <a:xfrm>
            <a:off x="6172200" y="1825625"/>
            <a:ext cx="5181600" cy="4351338"/>
          </a:xfrm>
        </p:spPr>
        <p:txBody>
          <a:bodyPr/>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p>
        </p:txBody>
      </p:sp>
      <p:sp>
        <p:nvSpPr>
          <p:cNvPr id="5" name="日期占位符 4">
            <a:extLst>
              <a:ext uri="{FF2B5EF4-FFF2-40B4-BE49-F238E27FC236}">
                <a16:creationId xmlns:a16="http://schemas.microsoft.com/office/drawing/2014/main" id="{1A095E27-78CB-4AB0-8F3E-08D74152DC9E}"/>
              </a:ext>
            </a:extLst>
          </p:cNvPr>
          <p:cNvSpPr>
            <a:spLocks noGrp="1"/>
          </p:cNvSpPr>
          <p:nvPr>
            <p:ph type="dt" sz="half" idx="10"/>
          </p:nvPr>
        </p:nvSpPr>
        <p:spPr/>
        <p:txBody>
          <a:bodyPr/>
          <a:lstStyle/>
          <a:p>
            <a:fld id="{16A859EC-FE27-44E1-89D5-78364DE25D2F}" type="datetimeFigureOut">
              <a:rPr lang="zh-CN" altLang="en-US" smtClean="0"/>
              <a:t>2026/7/14</a:t>
            </a:fld>
            <a:endParaRPr lang="zh-CN" altLang="en-US"/>
          </a:p>
        </p:txBody>
      </p:sp>
      <p:sp>
        <p:nvSpPr>
          <p:cNvPr id="6" name="页脚占位符 5">
            <a:extLst>
              <a:ext uri="{FF2B5EF4-FFF2-40B4-BE49-F238E27FC236}">
                <a16:creationId xmlns:a16="http://schemas.microsoft.com/office/drawing/2014/main" id="{19B6666D-F661-4AE9-A3A2-49F9C2962BB2}"/>
              </a:ext>
            </a:extLst>
          </p:cNvPr>
          <p:cNvSpPr>
            <a:spLocks noGrp="1"/>
          </p:cNvSpPr>
          <p:nvPr>
            <p:ph type="ftr" sz="quarter" idx="11"/>
          </p:nvPr>
        </p:nvSpPr>
        <p:spPr/>
        <p:txBody>
          <a:bodyPr/>
          <a:lstStyle/>
          <a:p>
            <a:endParaRPr lang="zh-CN" altLang="en-US"/>
          </a:p>
        </p:txBody>
      </p:sp>
      <p:sp>
        <p:nvSpPr>
          <p:cNvPr id="7" name="灯片编号占位符 6">
            <a:extLst>
              <a:ext uri="{FF2B5EF4-FFF2-40B4-BE49-F238E27FC236}">
                <a16:creationId xmlns:a16="http://schemas.microsoft.com/office/drawing/2014/main" id="{64035D14-13DA-4CA9-B782-CF0181627A34}"/>
              </a:ext>
            </a:extLst>
          </p:cNvPr>
          <p:cNvSpPr>
            <a:spLocks noGrp="1"/>
          </p:cNvSpPr>
          <p:nvPr>
            <p:ph type="sldNum" sz="quarter" idx="12"/>
          </p:nvPr>
        </p:nvSpPr>
        <p:spPr/>
        <p:txBody>
          <a:bodyPr/>
          <a:lstStyle/>
          <a:p>
            <a:fld id="{68EB229B-493C-43CC-B356-FD6F0C80F924}" type="slidenum">
              <a:rPr lang="zh-CN" altLang="en-US" smtClean="0"/>
              <a:t>‹#›</a:t>
            </a:fld>
            <a:endParaRPr lang="zh-CN" altLang="en-US"/>
          </a:p>
        </p:txBody>
      </p:sp>
    </p:spTree>
    <p:extLst>
      <p:ext uri="{BB962C8B-B14F-4D97-AF65-F5344CB8AC3E}">
        <p14:creationId xmlns:p14="http://schemas.microsoft.com/office/powerpoint/2010/main" val="2420208253"/>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比较">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3B0F56A4-5149-46AE-B10D-F4248B399F0D}"/>
              </a:ext>
            </a:extLst>
          </p:cNvPr>
          <p:cNvSpPr>
            <a:spLocks noGrp="1"/>
          </p:cNvSpPr>
          <p:nvPr>
            <p:ph type="title"/>
          </p:nvPr>
        </p:nvSpPr>
        <p:spPr>
          <a:xfrm>
            <a:off x="839788" y="365125"/>
            <a:ext cx="10515600" cy="1325563"/>
          </a:xfrm>
        </p:spPr>
        <p:txBody>
          <a:bodyPr/>
          <a:lstStyle/>
          <a:p>
            <a:r>
              <a:rPr lang="zh-CN" altLang="en-US"/>
              <a:t>单击此处编辑母版标题样式</a:t>
            </a:r>
          </a:p>
        </p:txBody>
      </p:sp>
      <p:sp>
        <p:nvSpPr>
          <p:cNvPr id="3" name="文本占位符 2">
            <a:extLst>
              <a:ext uri="{FF2B5EF4-FFF2-40B4-BE49-F238E27FC236}">
                <a16:creationId xmlns:a16="http://schemas.microsoft.com/office/drawing/2014/main" id="{5460BCDA-06FC-4D8E-89CA-B102E1F3CF9F}"/>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a:t>单击此处编辑母版文本样式</a:t>
            </a:r>
          </a:p>
        </p:txBody>
      </p:sp>
      <p:sp>
        <p:nvSpPr>
          <p:cNvPr id="4" name="内容占位符 3">
            <a:extLst>
              <a:ext uri="{FF2B5EF4-FFF2-40B4-BE49-F238E27FC236}">
                <a16:creationId xmlns:a16="http://schemas.microsoft.com/office/drawing/2014/main" id="{F492DC72-08D6-4214-81F0-6DA154161FC8}"/>
              </a:ext>
            </a:extLst>
          </p:cNvPr>
          <p:cNvSpPr>
            <a:spLocks noGrp="1"/>
          </p:cNvSpPr>
          <p:nvPr>
            <p:ph sz="half" idx="2"/>
          </p:nvPr>
        </p:nvSpPr>
        <p:spPr>
          <a:xfrm>
            <a:off x="839788" y="2505075"/>
            <a:ext cx="5157787" cy="3684588"/>
          </a:xfrm>
        </p:spPr>
        <p:txBody>
          <a:bodyPr/>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p>
        </p:txBody>
      </p:sp>
      <p:sp>
        <p:nvSpPr>
          <p:cNvPr id="5" name="文本占位符 4">
            <a:extLst>
              <a:ext uri="{FF2B5EF4-FFF2-40B4-BE49-F238E27FC236}">
                <a16:creationId xmlns:a16="http://schemas.microsoft.com/office/drawing/2014/main" id="{3CE6C53C-D54D-4B91-B36B-EE3883F2961E}"/>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a:t>单击此处编辑母版文本样式</a:t>
            </a:r>
          </a:p>
        </p:txBody>
      </p:sp>
      <p:sp>
        <p:nvSpPr>
          <p:cNvPr id="6" name="内容占位符 5">
            <a:extLst>
              <a:ext uri="{FF2B5EF4-FFF2-40B4-BE49-F238E27FC236}">
                <a16:creationId xmlns:a16="http://schemas.microsoft.com/office/drawing/2014/main" id="{20174132-DB35-4186-88B2-CDA43DA88685}"/>
              </a:ext>
            </a:extLst>
          </p:cNvPr>
          <p:cNvSpPr>
            <a:spLocks noGrp="1"/>
          </p:cNvSpPr>
          <p:nvPr>
            <p:ph sz="quarter" idx="4"/>
          </p:nvPr>
        </p:nvSpPr>
        <p:spPr>
          <a:xfrm>
            <a:off x="6172200" y="2505075"/>
            <a:ext cx="5183188" cy="3684588"/>
          </a:xfrm>
        </p:spPr>
        <p:txBody>
          <a:bodyPr/>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p>
        </p:txBody>
      </p:sp>
      <p:sp>
        <p:nvSpPr>
          <p:cNvPr id="7" name="日期占位符 6">
            <a:extLst>
              <a:ext uri="{FF2B5EF4-FFF2-40B4-BE49-F238E27FC236}">
                <a16:creationId xmlns:a16="http://schemas.microsoft.com/office/drawing/2014/main" id="{A0B4916B-3CF7-4481-8DF4-D83253F41A87}"/>
              </a:ext>
            </a:extLst>
          </p:cNvPr>
          <p:cNvSpPr>
            <a:spLocks noGrp="1"/>
          </p:cNvSpPr>
          <p:nvPr>
            <p:ph type="dt" sz="half" idx="10"/>
          </p:nvPr>
        </p:nvSpPr>
        <p:spPr/>
        <p:txBody>
          <a:bodyPr/>
          <a:lstStyle/>
          <a:p>
            <a:fld id="{16A859EC-FE27-44E1-89D5-78364DE25D2F}" type="datetimeFigureOut">
              <a:rPr lang="zh-CN" altLang="en-US" smtClean="0"/>
              <a:t>2026/7/14</a:t>
            </a:fld>
            <a:endParaRPr lang="zh-CN" altLang="en-US"/>
          </a:p>
        </p:txBody>
      </p:sp>
      <p:sp>
        <p:nvSpPr>
          <p:cNvPr id="8" name="页脚占位符 7">
            <a:extLst>
              <a:ext uri="{FF2B5EF4-FFF2-40B4-BE49-F238E27FC236}">
                <a16:creationId xmlns:a16="http://schemas.microsoft.com/office/drawing/2014/main" id="{3381A3F9-6F39-4328-9FBB-19E7C9820591}"/>
              </a:ext>
            </a:extLst>
          </p:cNvPr>
          <p:cNvSpPr>
            <a:spLocks noGrp="1"/>
          </p:cNvSpPr>
          <p:nvPr>
            <p:ph type="ftr" sz="quarter" idx="11"/>
          </p:nvPr>
        </p:nvSpPr>
        <p:spPr/>
        <p:txBody>
          <a:bodyPr/>
          <a:lstStyle/>
          <a:p>
            <a:endParaRPr lang="zh-CN" altLang="en-US"/>
          </a:p>
        </p:txBody>
      </p:sp>
      <p:sp>
        <p:nvSpPr>
          <p:cNvPr id="9" name="灯片编号占位符 8">
            <a:extLst>
              <a:ext uri="{FF2B5EF4-FFF2-40B4-BE49-F238E27FC236}">
                <a16:creationId xmlns:a16="http://schemas.microsoft.com/office/drawing/2014/main" id="{6CEB62E3-1D5A-4C1C-AE3F-56CFB93566A0}"/>
              </a:ext>
            </a:extLst>
          </p:cNvPr>
          <p:cNvSpPr>
            <a:spLocks noGrp="1"/>
          </p:cNvSpPr>
          <p:nvPr>
            <p:ph type="sldNum" sz="quarter" idx="12"/>
          </p:nvPr>
        </p:nvSpPr>
        <p:spPr/>
        <p:txBody>
          <a:bodyPr/>
          <a:lstStyle/>
          <a:p>
            <a:fld id="{68EB229B-493C-43CC-B356-FD6F0C80F924}" type="slidenum">
              <a:rPr lang="zh-CN" altLang="en-US" smtClean="0"/>
              <a:t>‹#›</a:t>
            </a:fld>
            <a:endParaRPr lang="zh-CN" altLang="en-US"/>
          </a:p>
        </p:txBody>
      </p:sp>
    </p:spTree>
    <p:extLst>
      <p:ext uri="{BB962C8B-B14F-4D97-AF65-F5344CB8AC3E}">
        <p14:creationId xmlns:p14="http://schemas.microsoft.com/office/powerpoint/2010/main" val="3844134323"/>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仅标题">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11B05AA7-2F53-4883-A32F-3EA421887D05}"/>
              </a:ext>
            </a:extLst>
          </p:cNvPr>
          <p:cNvSpPr>
            <a:spLocks noGrp="1"/>
          </p:cNvSpPr>
          <p:nvPr>
            <p:ph type="title"/>
          </p:nvPr>
        </p:nvSpPr>
        <p:spPr/>
        <p:txBody>
          <a:bodyPr/>
          <a:lstStyle/>
          <a:p>
            <a:r>
              <a:rPr lang="zh-CN" altLang="en-US"/>
              <a:t>单击此处编辑母版标题样式</a:t>
            </a:r>
          </a:p>
        </p:txBody>
      </p:sp>
      <p:sp>
        <p:nvSpPr>
          <p:cNvPr id="3" name="日期占位符 2">
            <a:extLst>
              <a:ext uri="{FF2B5EF4-FFF2-40B4-BE49-F238E27FC236}">
                <a16:creationId xmlns:a16="http://schemas.microsoft.com/office/drawing/2014/main" id="{564B8212-D93E-4976-A541-2186ADC107A0}"/>
              </a:ext>
            </a:extLst>
          </p:cNvPr>
          <p:cNvSpPr>
            <a:spLocks noGrp="1"/>
          </p:cNvSpPr>
          <p:nvPr>
            <p:ph type="dt" sz="half" idx="10"/>
          </p:nvPr>
        </p:nvSpPr>
        <p:spPr/>
        <p:txBody>
          <a:bodyPr/>
          <a:lstStyle/>
          <a:p>
            <a:fld id="{16A859EC-FE27-44E1-89D5-78364DE25D2F}" type="datetimeFigureOut">
              <a:rPr lang="zh-CN" altLang="en-US" smtClean="0"/>
              <a:t>2026/7/14</a:t>
            </a:fld>
            <a:endParaRPr lang="zh-CN" altLang="en-US"/>
          </a:p>
        </p:txBody>
      </p:sp>
      <p:sp>
        <p:nvSpPr>
          <p:cNvPr id="4" name="页脚占位符 3">
            <a:extLst>
              <a:ext uri="{FF2B5EF4-FFF2-40B4-BE49-F238E27FC236}">
                <a16:creationId xmlns:a16="http://schemas.microsoft.com/office/drawing/2014/main" id="{E92F0D15-F63D-4E86-A76F-8426585DBDCC}"/>
              </a:ext>
            </a:extLst>
          </p:cNvPr>
          <p:cNvSpPr>
            <a:spLocks noGrp="1"/>
          </p:cNvSpPr>
          <p:nvPr>
            <p:ph type="ftr" sz="quarter" idx="11"/>
          </p:nvPr>
        </p:nvSpPr>
        <p:spPr/>
        <p:txBody>
          <a:bodyPr/>
          <a:lstStyle/>
          <a:p>
            <a:endParaRPr lang="zh-CN" altLang="en-US"/>
          </a:p>
        </p:txBody>
      </p:sp>
      <p:sp>
        <p:nvSpPr>
          <p:cNvPr id="5" name="灯片编号占位符 4">
            <a:extLst>
              <a:ext uri="{FF2B5EF4-FFF2-40B4-BE49-F238E27FC236}">
                <a16:creationId xmlns:a16="http://schemas.microsoft.com/office/drawing/2014/main" id="{8DBA79D3-F9F2-4841-B24E-61B20E84FCE0}"/>
              </a:ext>
            </a:extLst>
          </p:cNvPr>
          <p:cNvSpPr>
            <a:spLocks noGrp="1"/>
          </p:cNvSpPr>
          <p:nvPr>
            <p:ph type="sldNum" sz="quarter" idx="12"/>
          </p:nvPr>
        </p:nvSpPr>
        <p:spPr/>
        <p:txBody>
          <a:bodyPr/>
          <a:lstStyle/>
          <a:p>
            <a:fld id="{68EB229B-493C-43CC-B356-FD6F0C80F924}" type="slidenum">
              <a:rPr lang="zh-CN" altLang="en-US" smtClean="0"/>
              <a:t>‹#›</a:t>
            </a:fld>
            <a:endParaRPr lang="zh-CN" altLang="en-US"/>
          </a:p>
        </p:txBody>
      </p:sp>
    </p:spTree>
    <p:extLst>
      <p:ext uri="{BB962C8B-B14F-4D97-AF65-F5344CB8AC3E}">
        <p14:creationId xmlns:p14="http://schemas.microsoft.com/office/powerpoint/2010/main" val="2115276114"/>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空白">
    <p:spTree>
      <p:nvGrpSpPr>
        <p:cNvPr id="1" name=""/>
        <p:cNvGrpSpPr/>
        <p:nvPr/>
      </p:nvGrpSpPr>
      <p:grpSpPr>
        <a:xfrm>
          <a:off x="0" y="0"/>
          <a:ext cx="0" cy="0"/>
          <a:chOff x="0" y="0"/>
          <a:chExt cx="0" cy="0"/>
        </a:xfrm>
      </p:grpSpPr>
      <p:sp>
        <p:nvSpPr>
          <p:cNvPr id="2" name="日期占位符 1">
            <a:extLst>
              <a:ext uri="{FF2B5EF4-FFF2-40B4-BE49-F238E27FC236}">
                <a16:creationId xmlns:a16="http://schemas.microsoft.com/office/drawing/2014/main" id="{2FEEF843-452B-4EC0-A42E-15F0BAE94814}"/>
              </a:ext>
            </a:extLst>
          </p:cNvPr>
          <p:cNvSpPr>
            <a:spLocks noGrp="1"/>
          </p:cNvSpPr>
          <p:nvPr>
            <p:ph type="dt" sz="half" idx="10"/>
          </p:nvPr>
        </p:nvSpPr>
        <p:spPr/>
        <p:txBody>
          <a:bodyPr/>
          <a:lstStyle/>
          <a:p>
            <a:fld id="{16A859EC-FE27-44E1-89D5-78364DE25D2F}" type="datetimeFigureOut">
              <a:rPr lang="zh-CN" altLang="en-US" smtClean="0"/>
              <a:t>2026/7/14</a:t>
            </a:fld>
            <a:endParaRPr lang="zh-CN" altLang="en-US"/>
          </a:p>
        </p:txBody>
      </p:sp>
      <p:sp>
        <p:nvSpPr>
          <p:cNvPr id="3" name="页脚占位符 2">
            <a:extLst>
              <a:ext uri="{FF2B5EF4-FFF2-40B4-BE49-F238E27FC236}">
                <a16:creationId xmlns:a16="http://schemas.microsoft.com/office/drawing/2014/main" id="{D4ECA252-4FE5-4EA7-93D5-2450F2B7E3CC}"/>
              </a:ext>
            </a:extLst>
          </p:cNvPr>
          <p:cNvSpPr>
            <a:spLocks noGrp="1"/>
          </p:cNvSpPr>
          <p:nvPr>
            <p:ph type="ftr" sz="quarter" idx="11"/>
          </p:nvPr>
        </p:nvSpPr>
        <p:spPr/>
        <p:txBody>
          <a:bodyPr/>
          <a:lstStyle/>
          <a:p>
            <a:endParaRPr lang="zh-CN" altLang="en-US"/>
          </a:p>
        </p:txBody>
      </p:sp>
      <p:sp>
        <p:nvSpPr>
          <p:cNvPr id="4" name="灯片编号占位符 3">
            <a:extLst>
              <a:ext uri="{FF2B5EF4-FFF2-40B4-BE49-F238E27FC236}">
                <a16:creationId xmlns:a16="http://schemas.microsoft.com/office/drawing/2014/main" id="{5D08000F-FFD3-4001-BE8B-2CB20337EAC0}"/>
              </a:ext>
            </a:extLst>
          </p:cNvPr>
          <p:cNvSpPr>
            <a:spLocks noGrp="1"/>
          </p:cNvSpPr>
          <p:nvPr>
            <p:ph type="sldNum" sz="quarter" idx="12"/>
          </p:nvPr>
        </p:nvSpPr>
        <p:spPr/>
        <p:txBody>
          <a:bodyPr/>
          <a:lstStyle/>
          <a:p>
            <a:fld id="{68EB229B-493C-43CC-B356-FD6F0C80F924}" type="slidenum">
              <a:rPr lang="zh-CN" altLang="en-US" smtClean="0"/>
              <a:t>‹#›</a:t>
            </a:fld>
            <a:endParaRPr lang="zh-CN" altLang="en-US"/>
          </a:p>
        </p:txBody>
      </p:sp>
    </p:spTree>
    <p:extLst>
      <p:ext uri="{BB962C8B-B14F-4D97-AF65-F5344CB8AC3E}">
        <p14:creationId xmlns:p14="http://schemas.microsoft.com/office/powerpoint/2010/main" val="1091108257"/>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内容与标题">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E87C4B03-2C87-472F-B5BC-7F2BC75992EF}"/>
              </a:ext>
            </a:extLst>
          </p:cNvPr>
          <p:cNvSpPr>
            <a:spLocks noGrp="1"/>
          </p:cNvSpPr>
          <p:nvPr>
            <p:ph type="title"/>
          </p:nvPr>
        </p:nvSpPr>
        <p:spPr>
          <a:xfrm>
            <a:off x="839788" y="457200"/>
            <a:ext cx="3932237" cy="1600200"/>
          </a:xfrm>
        </p:spPr>
        <p:txBody>
          <a:bodyPr anchor="b"/>
          <a:lstStyle>
            <a:lvl1pPr>
              <a:defRPr sz="3200"/>
            </a:lvl1pPr>
          </a:lstStyle>
          <a:p>
            <a:r>
              <a:rPr lang="zh-CN" altLang="en-US"/>
              <a:t>单击此处编辑母版标题样式</a:t>
            </a:r>
          </a:p>
        </p:txBody>
      </p:sp>
      <p:sp>
        <p:nvSpPr>
          <p:cNvPr id="3" name="内容占位符 2">
            <a:extLst>
              <a:ext uri="{FF2B5EF4-FFF2-40B4-BE49-F238E27FC236}">
                <a16:creationId xmlns:a16="http://schemas.microsoft.com/office/drawing/2014/main" id="{CB047F1B-B69E-4430-B2E0-C55F574ADFE3}"/>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p>
        </p:txBody>
      </p:sp>
      <p:sp>
        <p:nvSpPr>
          <p:cNvPr id="4" name="文本占位符 3">
            <a:extLst>
              <a:ext uri="{FF2B5EF4-FFF2-40B4-BE49-F238E27FC236}">
                <a16:creationId xmlns:a16="http://schemas.microsoft.com/office/drawing/2014/main" id="{BBC115B1-5473-4958-AA82-354A7E5FCB6A}"/>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zh-CN" altLang="en-US"/>
              <a:t>单击此处编辑母版文本样式</a:t>
            </a:r>
          </a:p>
        </p:txBody>
      </p:sp>
      <p:sp>
        <p:nvSpPr>
          <p:cNvPr id="5" name="日期占位符 4">
            <a:extLst>
              <a:ext uri="{FF2B5EF4-FFF2-40B4-BE49-F238E27FC236}">
                <a16:creationId xmlns:a16="http://schemas.microsoft.com/office/drawing/2014/main" id="{4724C063-1381-427F-A59B-F06FED4EA804}"/>
              </a:ext>
            </a:extLst>
          </p:cNvPr>
          <p:cNvSpPr>
            <a:spLocks noGrp="1"/>
          </p:cNvSpPr>
          <p:nvPr>
            <p:ph type="dt" sz="half" idx="10"/>
          </p:nvPr>
        </p:nvSpPr>
        <p:spPr/>
        <p:txBody>
          <a:bodyPr/>
          <a:lstStyle/>
          <a:p>
            <a:fld id="{16A859EC-FE27-44E1-89D5-78364DE25D2F}" type="datetimeFigureOut">
              <a:rPr lang="zh-CN" altLang="en-US" smtClean="0"/>
              <a:t>2026/7/14</a:t>
            </a:fld>
            <a:endParaRPr lang="zh-CN" altLang="en-US"/>
          </a:p>
        </p:txBody>
      </p:sp>
      <p:sp>
        <p:nvSpPr>
          <p:cNvPr id="6" name="页脚占位符 5">
            <a:extLst>
              <a:ext uri="{FF2B5EF4-FFF2-40B4-BE49-F238E27FC236}">
                <a16:creationId xmlns:a16="http://schemas.microsoft.com/office/drawing/2014/main" id="{C2D5FC66-787B-4309-894C-77883E3B5E5A}"/>
              </a:ext>
            </a:extLst>
          </p:cNvPr>
          <p:cNvSpPr>
            <a:spLocks noGrp="1"/>
          </p:cNvSpPr>
          <p:nvPr>
            <p:ph type="ftr" sz="quarter" idx="11"/>
          </p:nvPr>
        </p:nvSpPr>
        <p:spPr/>
        <p:txBody>
          <a:bodyPr/>
          <a:lstStyle/>
          <a:p>
            <a:endParaRPr lang="zh-CN" altLang="en-US"/>
          </a:p>
        </p:txBody>
      </p:sp>
      <p:sp>
        <p:nvSpPr>
          <p:cNvPr id="7" name="灯片编号占位符 6">
            <a:extLst>
              <a:ext uri="{FF2B5EF4-FFF2-40B4-BE49-F238E27FC236}">
                <a16:creationId xmlns:a16="http://schemas.microsoft.com/office/drawing/2014/main" id="{3C74307C-283F-4F7D-ACC0-A9F22E441648}"/>
              </a:ext>
            </a:extLst>
          </p:cNvPr>
          <p:cNvSpPr>
            <a:spLocks noGrp="1"/>
          </p:cNvSpPr>
          <p:nvPr>
            <p:ph type="sldNum" sz="quarter" idx="12"/>
          </p:nvPr>
        </p:nvSpPr>
        <p:spPr/>
        <p:txBody>
          <a:bodyPr/>
          <a:lstStyle/>
          <a:p>
            <a:fld id="{68EB229B-493C-43CC-B356-FD6F0C80F924}" type="slidenum">
              <a:rPr lang="zh-CN" altLang="en-US" smtClean="0"/>
              <a:t>‹#›</a:t>
            </a:fld>
            <a:endParaRPr lang="zh-CN" altLang="en-US"/>
          </a:p>
        </p:txBody>
      </p:sp>
    </p:spTree>
    <p:extLst>
      <p:ext uri="{BB962C8B-B14F-4D97-AF65-F5344CB8AC3E}">
        <p14:creationId xmlns:p14="http://schemas.microsoft.com/office/powerpoint/2010/main" val="1295106089"/>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图片与标题">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4F849A2E-010E-4FEC-807E-2FE987596124}"/>
              </a:ext>
            </a:extLst>
          </p:cNvPr>
          <p:cNvSpPr>
            <a:spLocks noGrp="1"/>
          </p:cNvSpPr>
          <p:nvPr>
            <p:ph type="title"/>
          </p:nvPr>
        </p:nvSpPr>
        <p:spPr>
          <a:xfrm>
            <a:off x="839788" y="457200"/>
            <a:ext cx="3932237" cy="1600200"/>
          </a:xfrm>
        </p:spPr>
        <p:txBody>
          <a:bodyPr anchor="b"/>
          <a:lstStyle>
            <a:lvl1pPr>
              <a:defRPr sz="3200"/>
            </a:lvl1pPr>
          </a:lstStyle>
          <a:p>
            <a:r>
              <a:rPr lang="zh-CN" altLang="en-US"/>
              <a:t>单击此处编辑母版标题样式</a:t>
            </a:r>
          </a:p>
        </p:txBody>
      </p:sp>
      <p:sp>
        <p:nvSpPr>
          <p:cNvPr id="3" name="图片占位符 2">
            <a:extLst>
              <a:ext uri="{FF2B5EF4-FFF2-40B4-BE49-F238E27FC236}">
                <a16:creationId xmlns:a16="http://schemas.microsoft.com/office/drawing/2014/main" id="{730BA28B-B2F3-418A-9C97-EE28BB268004}"/>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zh-CN" altLang="en-US"/>
          </a:p>
        </p:txBody>
      </p:sp>
      <p:sp>
        <p:nvSpPr>
          <p:cNvPr id="4" name="文本占位符 3">
            <a:extLst>
              <a:ext uri="{FF2B5EF4-FFF2-40B4-BE49-F238E27FC236}">
                <a16:creationId xmlns:a16="http://schemas.microsoft.com/office/drawing/2014/main" id="{A0A67005-A58A-4C8B-94E0-A1CCE40660AD}"/>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zh-CN" altLang="en-US"/>
              <a:t>单击此处编辑母版文本样式</a:t>
            </a:r>
          </a:p>
        </p:txBody>
      </p:sp>
      <p:sp>
        <p:nvSpPr>
          <p:cNvPr id="5" name="日期占位符 4">
            <a:extLst>
              <a:ext uri="{FF2B5EF4-FFF2-40B4-BE49-F238E27FC236}">
                <a16:creationId xmlns:a16="http://schemas.microsoft.com/office/drawing/2014/main" id="{6732FD64-2860-41BE-B996-C2C157BF48C5}"/>
              </a:ext>
            </a:extLst>
          </p:cNvPr>
          <p:cNvSpPr>
            <a:spLocks noGrp="1"/>
          </p:cNvSpPr>
          <p:nvPr>
            <p:ph type="dt" sz="half" idx="10"/>
          </p:nvPr>
        </p:nvSpPr>
        <p:spPr/>
        <p:txBody>
          <a:bodyPr/>
          <a:lstStyle/>
          <a:p>
            <a:fld id="{16A859EC-FE27-44E1-89D5-78364DE25D2F}" type="datetimeFigureOut">
              <a:rPr lang="zh-CN" altLang="en-US" smtClean="0"/>
              <a:t>2026/7/14</a:t>
            </a:fld>
            <a:endParaRPr lang="zh-CN" altLang="en-US"/>
          </a:p>
        </p:txBody>
      </p:sp>
      <p:sp>
        <p:nvSpPr>
          <p:cNvPr id="6" name="页脚占位符 5">
            <a:extLst>
              <a:ext uri="{FF2B5EF4-FFF2-40B4-BE49-F238E27FC236}">
                <a16:creationId xmlns:a16="http://schemas.microsoft.com/office/drawing/2014/main" id="{51313CDA-5F00-42D6-B99A-4EC580D4ED5A}"/>
              </a:ext>
            </a:extLst>
          </p:cNvPr>
          <p:cNvSpPr>
            <a:spLocks noGrp="1"/>
          </p:cNvSpPr>
          <p:nvPr>
            <p:ph type="ftr" sz="quarter" idx="11"/>
          </p:nvPr>
        </p:nvSpPr>
        <p:spPr/>
        <p:txBody>
          <a:bodyPr/>
          <a:lstStyle/>
          <a:p>
            <a:endParaRPr lang="zh-CN" altLang="en-US"/>
          </a:p>
        </p:txBody>
      </p:sp>
      <p:sp>
        <p:nvSpPr>
          <p:cNvPr id="7" name="灯片编号占位符 6">
            <a:extLst>
              <a:ext uri="{FF2B5EF4-FFF2-40B4-BE49-F238E27FC236}">
                <a16:creationId xmlns:a16="http://schemas.microsoft.com/office/drawing/2014/main" id="{21AC53CF-EBD9-474E-9675-A369D7CA0A32}"/>
              </a:ext>
            </a:extLst>
          </p:cNvPr>
          <p:cNvSpPr>
            <a:spLocks noGrp="1"/>
          </p:cNvSpPr>
          <p:nvPr>
            <p:ph type="sldNum" sz="quarter" idx="12"/>
          </p:nvPr>
        </p:nvSpPr>
        <p:spPr/>
        <p:txBody>
          <a:bodyPr/>
          <a:lstStyle/>
          <a:p>
            <a:fld id="{68EB229B-493C-43CC-B356-FD6F0C80F924}" type="slidenum">
              <a:rPr lang="zh-CN" altLang="en-US" smtClean="0"/>
              <a:t>‹#›</a:t>
            </a:fld>
            <a:endParaRPr lang="zh-CN" altLang="en-US"/>
          </a:p>
        </p:txBody>
      </p:sp>
    </p:spTree>
    <p:extLst>
      <p:ext uri="{BB962C8B-B14F-4D97-AF65-F5344CB8AC3E}">
        <p14:creationId xmlns:p14="http://schemas.microsoft.com/office/powerpoint/2010/main" val="37084783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标题和竖排文字">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0E28AD6A-695C-4113-8662-AE82CCFF90CB}"/>
              </a:ext>
            </a:extLst>
          </p:cNvPr>
          <p:cNvSpPr>
            <a:spLocks noGrp="1"/>
          </p:cNvSpPr>
          <p:nvPr>
            <p:ph type="title"/>
          </p:nvPr>
        </p:nvSpPr>
        <p:spPr/>
        <p:txBody>
          <a:bodyPr/>
          <a:lstStyle/>
          <a:p>
            <a:r>
              <a:rPr lang="zh-CN" altLang="en-US"/>
              <a:t>单击此处编辑母版标题样式</a:t>
            </a:r>
          </a:p>
        </p:txBody>
      </p:sp>
      <p:sp>
        <p:nvSpPr>
          <p:cNvPr id="3" name="竖排文字占位符 2">
            <a:extLst>
              <a:ext uri="{FF2B5EF4-FFF2-40B4-BE49-F238E27FC236}">
                <a16:creationId xmlns:a16="http://schemas.microsoft.com/office/drawing/2014/main" id="{BD86A8A7-8121-433B-898F-C3C711339429}"/>
              </a:ext>
            </a:extLst>
          </p:cNvPr>
          <p:cNvSpPr>
            <a:spLocks noGrp="1"/>
          </p:cNvSpPr>
          <p:nvPr>
            <p:ph type="body" orient="vert" idx="1"/>
          </p:nvPr>
        </p:nvSpPr>
        <p:spPr/>
        <p:txBody>
          <a:bodyPr vert="eaVert"/>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p>
        </p:txBody>
      </p:sp>
      <p:sp>
        <p:nvSpPr>
          <p:cNvPr id="4" name="日期占位符 3">
            <a:extLst>
              <a:ext uri="{FF2B5EF4-FFF2-40B4-BE49-F238E27FC236}">
                <a16:creationId xmlns:a16="http://schemas.microsoft.com/office/drawing/2014/main" id="{1AE4DE22-2073-48FE-BA0E-659C6B3F20ED}"/>
              </a:ext>
            </a:extLst>
          </p:cNvPr>
          <p:cNvSpPr>
            <a:spLocks noGrp="1"/>
          </p:cNvSpPr>
          <p:nvPr>
            <p:ph type="dt" sz="half" idx="10"/>
          </p:nvPr>
        </p:nvSpPr>
        <p:spPr/>
        <p:txBody>
          <a:bodyPr/>
          <a:lstStyle/>
          <a:p>
            <a:fld id="{16A859EC-FE27-44E1-89D5-78364DE25D2F}" type="datetimeFigureOut">
              <a:rPr lang="zh-CN" altLang="en-US" smtClean="0"/>
              <a:t>2026/7/14</a:t>
            </a:fld>
            <a:endParaRPr lang="zh-CN" altLang="en-US"/>
          </a:p>
        </p:txBody>
      </p:sp>
      <p:sp>
        <p:nvSpPr>
          <p:cNvPr id="5" name="页脚占位符 4">
            <a:extLst>
              <a:ext uri="{FF2B5EF4-FFF2-40B4-BE49-F238E27FC236}">
                <a16:creationId xmlns:a16="http://schemas.microsoft.com/office/drawing/2014/main" id="{A3934F59-DBEF-474F-AFDA-B49BDEC403A7}"/>
              </a:ext>
            </a:extLst>
          </p:cNvPr>
          <p:cNvSpPr>
            <a:spLocks noGrp="1"/>
          </p:cNvSpPr>
          <p:nvPr>
            <p:ph type="ftr" sz="quarter" idx="11"/>
          </p:nvPr>
        </p:nvSpPr>
        <p:spPr/>
        <p:txBody>
          <a:bodyPr/>
          <a:lstStyle/>
          <a:p>
            <a:endParaRPr lang="zh-CN" altLang="en-US"/>
          </a:p>
        </p:txBody>
      </p:sp>
      <p:sp>
        <p:nvSpPr>
          <p:cNvPr id="6" name="灯片编号占位符 5">
            <a:extLst>
              <a:ext uri="{FF2B5EF4-FFF2-40B4-BE49-F238E27FC236}">
                <a16:creationId xmlns:a16="http://schemas.microsoft.com/office/drawing/2014/main" id="{F4547901-7F63-44CD-987D-68AF95313B74}"/>
              </a:ext>
            </a:extLst>
          </p:cNvPr>
          <p:cNvSpPr>
            <a:spLocks noGrp="1"/>
          </p:cNvSpPr>
          <p:nvPr>
            <p:ph type="sldNum" sz="quarter" idx="12"/>
          </p:nvPr>
        </p:nvSpPr>
        <p:spPr/>
        <p:txBody>
          <a:bodyPr/>
          <a:lstStyle/>
          <a:p>
            <a:fld id="{68EB229B-493C-43CC-B356-FD6F0C80F924}" type="slidenum">
              <a:rPr lang="zh-CN" altLang="en-US" smtClean="0"/>
              <a:t>‹#›</a:t>
            </a:fld>
            <a:endParaRPr lang="zh-CN" altLang="en-US"/>
          </a:p>
        </p:txBody>
      </p:sp>
    </p:spTree>
    <p:extLst>
      <p:ext uri="{BB962C8B-B14F-4D97-AF65-F5344CB8AC3E}">
        <p14:creationId xmlns:p14="http://schemas.microsoft.com/office/powerpoint/2010/main" val="569367859"/>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竖排标题与文本">
    <p:spTree>
      <p:nvGrpSpPr>
        <p:cNvPr id="1" name=""/>
        <p:cNvGrpSpPr/>
        <p:nvPr/>
      </p:nvGrpSpPr>
      <p:grpSpPr>
        <a:xfrm>
          <a:off x="0" y="0"/>
          <a:ext cx="0" cy="0"/>
          <a:chOff x="0" y="0"/>
          <a:chExt cx="0" cy="0"/>
        </a:xfrm>
      </p:grpSpPr>
      <p:sp>
        <p:nvSpPr>
          <p:cNvPr id="2" name="竖排标题 1">
            <a:extLst>
              <a:ext uri="{FF2B5EF4-FFF2-40B4-BE49-F238E27FC236}">
                <a16:creationId xmlns:a16="http://schemas.microsoft.com/office/drawing/2014/main" id="{530B3939-3065-4877-A8A1-03039DC9904E}"/>
              </a:ext>
            </a:extLst>
          </p:cNvPr>
          <p:cNvSpPr>
            <a:spLocks noGrp="1"/>
          </p:cNvSpPr>
          <p:nvPr>
            <p:ph type="title" orient="vert"/>
          </p:nvPr>
        </p:nvSpPr>
        <p:spPr>
          <a:xfrm>
            <a:off x="8724900" y="365125"/>
            <a:ext cx="2628900" cy="5811838"/>
          </a:xfrm>
        </p:spPr>
        <p:txBody>
          <a:bodyPr vert="eaVert"/>
          <a:lstStyle/>
          <a:p>
            <a:r>
              <a:rPr lang="zh-CN" altLang="en-US"/>
              <a:t>单击此处编辑母版标题样式</a:t>
            </a:r>
          </a:p>
        </p:txBody>
      </p:sp>
      <p:sp>
        <p:nvSpPr>
          <p:cNvPr id="3" name="竖排文字占位符 2">
            <a:extLst>
              <a:ext uri="{FF2B5EF4-FFF2-40B4-BE49-F238E27FC236}">
                <a16:creationId xmlns:a16="http://schemas.microsoft.com/office/drawing/2014/main" id="{2B9AEBD9-1A1F-4F69-8ABD-E190FECA3B2F}"/>
              </a:ext>
            </a:extLst>
          </p:cNvPr>
          <p:cNvSpPr>
            <a:spLocks noGrp="1"/>
          </p:cNvSpPr>
          <p:nvPr>
            <p:ph type="body" orient="vert" idx="1"/>
          </p:nvPr>
        </p:nvSpPr>
        <p:spPr>
          <a:xfrm>
            <a:off x="838200" y="365125"/>
            <a:ext cx="7734300" cy="5811838"/>
          </a:xfrm>
        </p:spPr>
        <p:txBody>
          <a:bodyPr vert="eaVert"/>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p>
        </p:txBody>
      </p:sp>
      <p:sp>
        <p:nvSpPr>
          <p:cNvPr id="4" name="日期占位符 3">
            <a:extLst>
              <a:ext uri="{FF2B5EF4-FFF2-40B4-BE49-F238E27FC236}">
                <a16:creationId xmlns:a16="http://schemas.microsoft.com/office/drawing/2014/main" id="{7D6A282D-608F-4261-9914-F99BC66CBCCF}"/>
              </a:ext>
            </a:extLst>
          </p:cNvPr>
          <p:cNvSpPr>
            <a:spLocks noGrp="1"/>
          </p:cNvSpPr>
          <p:nvPr>
            <p:ph type="dt" sz="half" idx="10"/>
          </p:nvPr>
        </p:nvSpPr>
        <p:spPr/>
        <p:txBody>
          <a:bodyPr/>
          <a:lstStyle/>
          <a:p>
            <a:fld id="{16A859EC-FE27-44E1-89D5-78364DE25D2F}" type="datetimeFigureOut">
              <a:rPr lang="zh-CN" altLang="en-US" smtClean="0"/>
              <a:t>2026/7/14</a:t>
            </a:fld>
            <a:endParaRPr lang="zh-CN" altLang="en-US"/>
          </a:p>
        </p:txBody>
      </p:sp>
      <p:sp>
        <p:nvSpPr>
          <p:cNvPr id="5" name="页脚占位符 4">
            <a:extLst>
              <a:ext uri="{FF2B5EF4-FFF2-40B4-BE49-F238E27FC236}">
                <a16:creationId xmlns:a16="http://schemas.microsoft.com/office/drawing/2014/main" id="{89583964-9A6C-403C-95A2-4702F620C9E3}"/>
              </a:ext>
            </a:extLst>
          </p:cNvPr>
          <p:cNvSpPr>
            <a:spLocks noGrp="1"/>
          </p:cNvSpPr>
          <p:nvPr>
            <p:ph type="ftr" sz="quarter" idx="11"/>
          </p:nvPr>
        </p:nvSpPr>
        <p:spPr/>
        <p:txBody>
          <a:bodyPr/>
          <a:lstStyle/>
          <a:p>
            <a:endParaRPr lang="zh-CN" altLang="en-US"/>
          </a:p>
        </p:txBody>
      </p:sp>
      <p:sp>
        <p:nvSpPr>
          <p:cNvPr id="6" name="灯片编号占位符 5">
            <a:extLst>
              <a:ext uri="{FF2B5EF4-FFF2-40B4-BE49-F238E27FC236}">
                <a16:creationId xmlns:a16="http://schemas.microsoft.com/office/drawing/2014/main" id="{C4B74CF4-A0E6-40F5-9790-3C22817711AD}"/>
              </a:ext>
            </a:extLst>
          </p:cNvPr>
          <p:cNvSpPr>
            <a:spLocks noGrp="1"/>
          </p:cNvSpPr>
          <p:nvPr>
            <p:ph type="sldNum" sz="quarter" idx="12"/>
          </p:nvPr>
        </p:nvSpPr>
        <p:spPr/>
        <p:txBody>
          <a:bodyPr/>
          <a:lstStyle/>
          <a:p>
            <a:fld id="{68EB229B-493C-43CC-B356-FD6F0C80F924}" type="slidenum">
              <a:rPr lang="zh-CN" altLang="en-US" smtClean="0"/>
              <a:t>‹#›</a:t>
            </a:fld>
            <a:endParaRPr lang="zh-CN" altLang="en-US"/>
          </a:p>
        </p:txBody>
      </p:sp>
    </p:spTree>
    <p:extLst>
      <p:ext uri="{BB962C8B-B14F-4D97-AF65-F5344CB8AC3E}">
        <p14:creationId xmlns:p14="http://schemas.microsoft.com/office/powerpoint/2010/main" val="464696061"/>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extLst>
      <p:ext uri="{BB962C8B-B14F-4D97-AF65-F5344CB8AC3E}">
        <p14:creationId xmlns:p14="http://schemas.microsoft.com/office/powerpoint/2010/main" val="1161798503"/>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theme" Target="../theme/theme1.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标题占位符 1">
            <a:extLst>
              <a:ext uri="{FF2B5EF4-FFF2-40B4-BE49-F238E27FC236}">
                <a16:creationId xmlns:a16="http://schemas.microsoft.com/office/drawing/2014/main" id="{B4EF95DE-F530-4F0D-926C-29BD2A9C9863}"/>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zh-CN" altLang="en-US"/>
              <a:t>单击此处编辑母版标题样式</a:t>
            </a:r>
          </a:p>
        </p:txBody>
      </p:sp>
      <p:sp>
        <p:nvSpPr>
          <p:cNvPr id="3" name="文本占位符 2">
            <a:extLst>
              <a:ext uri="{FF2B5EF4-FFF2-40B4-BE49-F238E27FC236}">
                <a16:creationId xmlns:a16="http://schemas.microsoft.com/office/drawing/2014/main" id="{48D19D24-4347-4DC2-819C-1620A8D7F652}"/>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p>
        </p:txBody>
      </p:sp>
      <p:sp>
        <p:nvSpPr>
          <p:cNvPr id="4" name="日期占位符 3">
            <a:extLst>
              <a:ext uri="{FF2B5EF4-FFF2-40B4-BE49-F238E27FC236}">
                <a16:creationId xmlns:a16="http://schemas.microsoft.com/office/drawing/2014/main" id="{63B6A3B8-20F5-4C1E-AF35-40DAAF898D0D}"/>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16A859EC-FE27-44E1-89D5-78364DE25D2F}" type="datetimeFigureOut">
              <a:rPr lang="zh-CN" altLang="en-US" smtClean="0"/>
              <a:t>2026/7/14</a:t>
            </a:fld>
            <a:endParaRPr lang="zh-CN" altLang="en-US"/>
          </a:p>
        </p:txBody>
      </p:sp>
      <p:sp>
        <p:nvSpPr>
          <p:cNvPr id="5" name="页脚占位符 4">
            <a:extLst>
              <a:ext uri="{FF2B5EF4-FFF2-40B4-BE49-F238E27FC236}">
                <a16:creationId xmlns:a16="http://schemas.microsoft.com/office/drawing/2014/main" id="{C0CDED3E-B293-43BF-A588-F69E90F00807}"/>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zh-CN" altLang="en-US"/>
          </a:p>
        </p:txBody>
      </p:sp>
      <p:sp>
        <p:nvSpPr>
          <p:cNvPr id="6" name="灯片编号占位符 5">
            <a:extLst>
              <a:ext uri="{FF2B5EF4-FFF2-40B4-BE49-F238E27FC236}">
                <a16:creationId xmlns:a16="http://schemas.microsoft.com/office/drawing/2014/main" id="{713FB53F-8F2D-449A-93FA-A6C6C11D2ADA}"/>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68EB229B-493C-43CC-B356-FD6F0C80F924}" type="slidenum">
              <a:rPr lang="zh-CN" altLang="en-US" smtClean="0"/>
              <a:t>‹#›</a:t>
            </a:fld>
            <a:endParaRPr lang="zh-CN" altLang="en-US"/>
          </a:p>
        </p:txBody>
      </p:sp>
    </p:spTree>
    <p:extLst>
      <p:ext uri="{BB962C8B-B14F-4D97-AF65-F5344CB8AC3E}">
        <p14:creationId xmlns:p14="http://schemas.microsoft.com/office/powerpoint/2010/main" val="3308830174"/>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 id="2147483660" r:id="rId12"/>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image" Target="../media/image1.jpg"/><Relationship Id="rId1" Type="http://schemas.openxmlformats.org/officeDocument/2006/relationships/slideLayout" Target="../slideLayouts/slideLayout12.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3.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12.xml"/></Relationships>
</file>

<file path=ppt/slides/_rels/slide4.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image" Target="../media/image3.png"/><Relationship Id="rId1" Type="http://schemas.openxmlformats.org/officeDocument/2006/relationships/slideLayout" Target="../slideLayouts/slideLayout12.xml"/></Relationships>
</file>

<file path=ppt/slides/_rels/slide5.xml.rels><?xml version="1.0" encoding="UTF-8" standalone="yes"?>
<Relationships xmlns="http://schemas.openxmlformats.org/package/2006/relationships"><Relationship Id="rId2" Type="http://schemas.openxmlformats.org/officeDocument/2006/relationships/image" Target="../media/image1.jpg"/><Relationship Id="rId1" Type="http://schemas.openxmlformats.org/officeDocument/2006/relationships/slideLayout" Target="../slideLayouts/slideLayout12.xml"/></Relationships>
</file>

<file path=ppt/slides/_rels/slide6.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1.xml"/><Relationship Id="rId1" Type="http://schemas.openxmlformats.org/officeDocument/2006/relationships/slideLayout" Target="../slideLayouts/slideLayout12.xml"/></Relationships>
</file>

<file path=ppt/slides/_rels/slide7.xml.rels><?xml version="1.0" encoding="UTF-8" standalone="yes"?>
<Relationships xmlns="http://schemas.openxmlformats.org/package/2006/relationships"><Relationship Id="rId3" Type="http://schemas.openxmlformats.org/officeDocument/2006/relationships/image" Target="../media/image60.png"/><Relationship Id="rId2" Type="http://schemas.openxmlformats.org/officeDocument/2006/relationships/image" Target="../media/image6.png"/><Relationship Id="rId1" Type="http://schemas.openxmlformats.org/officeDocument/2006/relationships/slideLayout" Target="../slideLayouts/slideLayout12.xml"/></Relationships>
</file>

<file path=ppt/slides/_rels/slide8.xml.rels><?xml version="1.0" encoding="UTF-8" standalone="yes"?>
<Relationships xmlns="http://schemas.openxmlformats.org/package/2006/relationships"><Relationship Id="rId2" Type="http://schemas.openxmlformats.org/officeDocument/2006/relationships/image" Target="../media/image1.jpg"/><Relationship Id="rId1" Type="http://schemas.openxmlformats.org/officeDocument/2006/relationships/slideLayout" Target="../slideLayouts/slideLayout12.xml"/></Relationships>
</file>

<file path=ppt/slides/_rels/slide9.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Layout" Target="../slideLayouts/slideLayout12.xml"/></Relationships>
</file>

<file path=ppt/slides/_rels/slide10.xml.rels><?xml version="1.0" encoding="UTF-8" standalone="yes"?>
<Relationships xmlns="http://schemas.openxmlformats.org/package/2006/relationships"><Relationship Id="rId2" Type="http://schemas.openxmlformats.org/officeDocument/2006/relationships/image" Target="../media/image8.png"/><Relationship Id="rId1" Type="http://schemas.openxmlformats.org/officeDocument/2006/relationships/slideLayout" Target="../slideLayouts/slideLayout12.xml"/></Relationships>
</file>

<file path=ppt/slides/_rels/slide11.xml.rels><?xml version="1.0" encoding="UTF-8" standalone="yes"?>
<Relationships xmlns="http://schemas.openxmlformats.org/package/2006/relationships"><Relationship Id="rId2" Type="http://schemas.openxmlformats.org/officeDocument/2006/relationships/image" Target="../media/image9.png"/><Relationship Id="rId1" Type="http://schemas.openxmlformats.org/officeDocument/2006/relationships/slideLayout" Target="../slideLayouts/slideLayout12.xml"/></Relationships>
</file>

<file path=ppt/slides/_rels/slide12.xml.rels><?xml version="1.0" encoding="UTF-8" standalone="yes"?>
<Relationships xmlns="http://schemas.openxmlformats.org/package/2006/relationships"><Relationship Id="rId2" Type="http://schemas.openxmlformats.org/officeDocument/2006/relationships/image" Target="../media/image1.jpg"/><Relationship Id="rId1" Type="http://schemas.openxmlformats.org/officeDocument/2006/relationships/slideLayout" Target="../slideLayouts/slideLayout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2359AEE-3D07-4CD3-00B5-902B906251C1}"/>
            </a:ext>
          </a:extLst>
        </p:cNvPr>
        <p:cNvGrpSpPr/>
        <p:nvPr/>
      </p:nvGrpSpPr>
      <p:grpSpPr>
        <a:xfrm>
          <a:off x="0" y="0"/>
          <a:ext cx="0" cy="0"/>
          <a:chOff x="0" y="0"/>
          <a:chExt cx="0" cy="0"/>
        </a:xfrm>
      </p:grpSpPr>
      <p:sp>
        <p:nvSpPr>
          <p:cNvPr id="2" name="标题 1">
            <a:extLst>
              <a:ext uri="{FF2B5EF4-FFF2-40B4-BE49-F238E27FC236}">
                <a16:creationId xmlns:a16="http://schemas.microsoft.com/office/drawing/2014/main" id="{E9354FC1-CD70-140F-DF44-403A3341CEB5}"/>
              </a:ext>
            </a:extLst>
          </p:cNvPr>
          <p:cNvSpPr txBox="1"/>
          <p:nvPr/>
        </p:nvSpPr>
        <p:spPr>
          <a:xfrm>
            <a:off x="0" y="0"/>
            <a:ext cx="12192000" cy="6858000"/>
          </a:xfrm>
          <a:prstGeom prst="rect">
            <a:avLst/>
          </a:prstGeom>
          <a:gradFill>
            <a:gsLst>
              <a:gs pos="0">
                <a:schemeClr val="accent1">
                  <a:lumMod val="5000"/>
                  <a:lumOff val="95000"/>
                  <a:alpha val="9000"/>
                </a:schemeClr>
              </a:gs>
              <a:gs pos="100000">
                <a:schemeClr val="accent1">
                  <a:lumMod val="60000"/>
                  <a:lumOff val="40000"/>
                  <a:alpha val="39000"/>
                </a:schemeClr>
              </a:gs>
            </a:gsLst>
            <a:lin ang="7200000" scaled="0"/>
          </a:gradFill>
          <a:ln w="19050" cap="sq">
            <a:noFill/>
            <a:miter/>
          </a:ln>
        </p:spPr>
        <p:txBody>
          <a:bodyPr vert="horz" wrap="square" lIns="91440" tIns="45720" rIns="91440" bIns="45720" rtlCol="0" anchor="ctr"/>
          <a:lstStyle/>
          <a:p>
            <a:pPr algn="ctr"/>
            <a:endParaRPr kumimoji="1" lang="zh-CN" altLang="en-US"/>
          </a:p>
        </p:txBody>
      </p:sp>
      <p:sp>
        <p:nvSpPr>
          <p:cNvPr id="4" name="Oval 4">
            <a:extLst>
              <a:ext uri="{FF2B5EF4-FFF2-40B4-BE49-F238E27FC236}">
                <a16:creationId xmlns:a16="http://schemas.microsoft.com/office/drawing/2014/main" id="{D8DA57AD-B573-4945-4115-62ADD1412AEE}"/>
              </a:ext>
            </a:extLst>
          </p:cNvPr>
          <p:cNvSpPr/>
          <p:nvPr/>
        </p:nvSpPr>
        <p:spPr>
          <a:xfrm>
            <a:off x="1613948" y="2545234"/>
            <a:ext cx="1817008" cy="1767531"/>
          </a:xfrm>
          <a:prstGeom prst="ellipse">
            <a:avLst/>
          </a:prstGeom>
          <a:blipFill dpi="0" rotWithShape="1">
            <a:blip r:embed="rId2">
              <a:alphaModFix amt="86000"/>
            </a:blip>
            <a:srcRect/>
            <a:stretch>
              <a:fillRect r="-33000"/>
            </a:stretch>
          </a:bli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6600" b="1" i="0" u="none" strike="noStrike" kern="1200" cap="none" spc="0" normalizeH="0" baseline="0" noProof="0" dirty="0">
                <a:ln>
                  <a:noFill/>
                </a:ln>
                <a:solidFill>
                  <a:prstClr val="white"/>
                </a:solidFill>
                <a:effectLst/>
                <a:uLnTx/>
                <a:uFillTx/>
                <a:latin typeface="Arial Black" panose="020B0A04020102020204" pitchFamily="34" charset="0"/>
                <a:ea typeface="字魂59号-创粗黑" panose="00000500000000000000" pitchFamily="2" charset="-122"/>
                <a:cs typeface="+mn-cs"/>
                <a:sym typeface="字魂59号-创粗黑" panose="00000500000000000000" pitchFamily="2" charset="-122"/>
              </a:rPr>
              <a:t>1</a:t>
            </a:r>
            <a:endParaRPr kumimoji="0" lang="id-ID" sz="6600" b="1" i="0" u="none" strike="noStrike" kern="1200" cap="none" spc="0" normalizeH="0" baseline="0" noProof="0" dirty="0">
              <a:ln>
                <a:noFill/>
              </a:ln>
              <a:solidFill>
                <a:prstClr val="white"/>
              </a:solidFill>
              <a:effectLst/>
              <a:uLnTx/>
              <a:uFillTx/>
              <a:latin typeface="Arial Black" panose="020B0A04020102020204" pitchFamily="34" charset="0"/>
              <a:ea typeface="字魂59号-创粗黑" panose="00000500000000000000" pitchFamily="2" charset="-122"/>
              <a:cs typeface="+mn-cs"/>
              <a:sym typeface="字魂59号-创粗黑" panose="00000500000000000000" pitchFamily="2" charset="-122"/>
            </a:endParaRPr>
          </a:p>
        </p:txBody>
      </p:sp>
      <p:sp>
        <p:nvSpPr>
          <p:cNvPr id="7" name="文本框 6">
            <a:extLst>
              <a:ext uri="{FF2B5EF4-FFF2-40B4-BE49-F238E27FC236}">
                <a16:creationId xmlns:a16="http://schemas.microsoft.com/office/drawing/2014/main" id="{D10955C8-D5F3-0F6F-F2C5-E0B7FC38C205}"/>
              </a:ext>
            </a:extLst>
          </p:cNvPr>
          <p:cNvSpPr txBox="1"/>
          <p:nvPr/>
        </p:nvSpPr>
        <p:spPr>
          <a:xfrm>
            <a:off x="4786831" y="2852177"/>
            <a:ext cx="6097002" cy="1015663"/>
          </a:xfrm>
          <a:prstGeom prst="rect">
            <a:avLst/>
          </a:prstGeom>
          <a:noFill/>
        </p:spPr>
        <p:txBody>
          <a:bodyPr wrap="square">
            <a:spAutoFit/>
          </a:bodyPr>
          <a:lstStyle/>
          <a:p>
            <a:r>
              <a:rPr lang="zh-CN" altLang="en-US" sz="6000" b="1" dirty="0">
                <a:solidFill>
                  <a:srgbClr val="2B77CC"/>
                </a:solidFill>
                <a:latin typeface="微软雅黑" panose="020B0503020204020204" pitchFamily="34" charset="-122"/>
                <a:ea typeface="微软雅黑" panose="020B0503020204020204" pitchFamily="34" charset="-122"/>
                <a:cs typeface="Times New Roman" panose="02020603050405020304" pitchFamily="18" charset="0"/>
              </a:rPr>
              <a:t>研究背景与问题</a:t>
            </a:r>
          </a:p>
        </p:txBody>
      </p:sp>
      <p:sp>
        <p:nvSpPr>
          <p:cNvPr id="16" name="矩形 15">
            <a:extLst>
              <a:ext uri="{FF2B5EF4-FFF2-40B4-BE49-F238E27FC236}">
                <a16:creationId xmlns:a16="http://schemas.microsoft.com/office/drawing/2014/main" id="{02984A20-EF91-6BC9-9D99-1D35AF64E83E}"/>
              </a:ext>
            </a:extLst>
          </p:cNvPr>
          <p:cNvSpPr/>
          <p:nvPr/>
        </p:nvSpPr>
        <p:spPr>
          <a:xfrm>
            <a:off x="4143736" y="482600"/>
            <a:ext cx="279400" cy="5892800"/>
          </a:xfrm>
          <a:prstGeom prst="rect">
            <a:avLst/>
          </a:prstGeom>
          <a:gradFill flip="none" rotWithShape="1">
            <a:gsLst>
              <a:gs pos="0">
                <a:schemeClr val="accent1">
                  <a:tint val="66000"/>
                  <a:satMod val="160000"/>
                </a:schemeClr>
              </a:gs>
              <a:gs pos="50000">
                <a:schemeClr val="accent1">
                  <a:tint val="44500"/>
                  <a:satMod val="160000"/>
                </a:schemeClr>
              </a:gs>
              <a:gs pos="100000">
                <a:schemeClr val="accent1">
                  <a:tint val="23500"/>
                  <a:satMod val="160000"/>
                </a:schemeClr>
              </a:gs>
            </a:gsLst>
            <a:lin ang="18900000" scaled="1"/>
            <a:tileRect/>
          </a:gradFill>
          <a:ln>
            <a:solidFill>
              <a:schemeClr val="tx2">
                <a:lumMod val="60000"/>
                <a:lumOff val="40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spTree>
    <p:extLst>
      <p:ext uri="{BB962C8B-B14F-4D97-AF65-F5344CB8AC3E}">
        <p14:creationId xmlns:p14="http://schemas.microsoft.com/office/powerpoint/2010/main" val="755973373"/>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 name="标题 1"/>
          <p:cNvSpPr txBox="1"/>
          <p:nvPr/>
        </p:nvSpPr>
        <p:spPr>
          <a:xfrm>
            <a:off x="787215" y="385281"/>
            <a:ext cx="3996217" cy="468000"/>
          </a:xfrm>
          <a:prstGeom prst="rect">
            <a:avLst/>
          </a:prstGeom>
          <a:noFill/>
          <a:ln cap="sq">
            <a:noFill/>
          </a:ln>
        </p:spPr>
        <p:txBody>
          <a:bodyPr vert="horz" wrap="square" lIns="0" tIns="0" rIns="0" bIns="0" rtlCol="0" anchor="ctr"/>
          <a:lstStyle/>
          <a:p>
            <a:r>
              <a:rPr lang="zh-CN" altLang="en-US" sz="2800" b="1" dirty="0">
                <a:solidFill>
                  <a:srgbClr val="2B77CC"/>
                </a:solidFill>
                <a:latin typeface="微软雅黑" panose="020B0503020204020204" pitchFamily="34" charset="-122"/>
                <a:ea typeface="微软雅黑" panose="020B0503020204020204" pitchFamily="34" charset="-122"/>
                <a:cs typeface="Times New Roman" panose="02020603050405020304" pitchFamily="18" charset="0"/>
              </a:rPr>
              <a:t>研究背景与问题</a:t>
            </a:r>
          </a:p>
        </p:txBody>
      </p:sp>
      <p:sp>
        <p:nvSpPr>
          <p:cNvPr id="11" name="标题 1"/>
          <p:cNvSpPr txBox="1"/>
          <p:nvPr/>
        </p:nvSpPr>
        <p:spPr>
          <a:xfrm>
            <a:off x="363891" y="471047"/>
            <a:ext cx="296509" cy="296509"/>
          </a:xfrm>
          <a:prstGeom prst="ellipse">
            <a:avLst/>
          </a:prstGeom>
          <a:solidFill>
            <a:schemeClr val="accent1">
              <a:lumMod val="60000"/>
              <a:lumOff val="40000"/>
            </a:schemeClr>
          </a:solidFill>
          <a:ln w="12700" cap="sq">
            <a:noFill/>
            <a:prstDash val="solid"/>
            <a:miter/>
          </a:ln>
        </p:spPr>
        <p:txBody>
          <a:bodyPr vert="horz" wrap="square" lIns="91440" tIns="45720" rIns="91440" bIns="45720" rtlCol="0" anchor="ctr"/>
          <a:lstStyle/>
          <a:p>
            <a:pPr algn="ctr"/>
            <a:endParaRPr kumimoji="1" lang="zh-CN" altLang="en-US"/>
          </a:p>
        </p:txBody>
      </p:sp>
      <p:sp>
        <p:nvSpPr>
          <p:cNvPr id="27" name="文本框 26">
            <a:extLst>
              <a:ext uri="{FF2B5EF4-FFF2-40B4-BE49-F238E27FC236}">
                <a16:creationId xmlns:a16="http://schemas.microsoft.com/office/drawing/2014/main" id="{622D6FB0-DABE-095B-E8FC-74226E037EC3}"/>
              </a:ext>
            </a:extLst>
          </p:cNvPr>
          <p:cNvSpPr txBox="1"/>
          <p:nvPr/>
        </p:nvSpPr>
        <p:spPr>
          <a:xfrm>
            <a:off x="787215" y="1083073"/>
            <a:ext cx="8098368" cy="3139321"/>
          </a:xfrm>
          <a:prstGeom prst="rect">
            <a:avLst/>
          </a:prstGeom>
          <a:noFill/>
        </p:spPr>
        <p:txBody>
          <a:bodyPr wrap="square">
            <a:spAutoFit/>
          </a:bodyPr>
          <a:lstStyle/>
          <a:p>
            <a:r>
              <a:rPr lang="zh-CN" altLang="en-US" dirty="0">
                <a:latin typeface="微软雅黑" panose="020B0503020204020204" pitchFamily="34" charset="-122"/>
                <a:ea typeface="微软雅黑" panose="020B0503020204020204" pitchFamily="34" charset="-122"/>
              </a:rPr>
              <a:t>基于模型的多智能体强化学习（</a:t>
            </a:r>
            <a:r>
              <a:rPr lang="en-US" altLang="zh-CN" dirty="0">
                <a:latin typeface="微软雅黑" panose="020B0503020204020204" pitchFamily="34" charset="-122"/>
                <a:ea typeface="微软雅黑" panose="020B0503020204020204" pitchFamily="34" charset="-122"/>
              </a:rPr>
              <a:t>model-base MARL</a:t>
            </a:r>
            <a:r>
              <a:rPr lang="zh-CN" altLang="en-US" dirty="0">
                <a:latin typeface="微软雅黑" panose="020B0503020204020204" pitchFamily="34" charset="-122"/>
                <a:ea typeface="微软雅黑" panose="020B0503020204020204" pitchFamily="34" charset="-122"/>
              </a:rPr>
              <a:t>）通过显式地学习环境的动力学模型。然后利用该模型交互进行训练。</a:t>
            </a:r>
            <a:r>
              <a:rPr lang="en-US" altLang="zh-CN" dirty="0">
                <a:latin typeface="微软雅黑" panose="020B0503020204020204" pitchFamily="34" charset="-122"/>
                <a:ea typeface="微软雅黑" panose="020B0503020204020204" pitchFamily="34" charset="-122"/>
              </a:rPr>
              <a:t>model-base MARL </a:t>
            </a:r>
            <a:r>
              <a:rPr lang="zh-CN" altLang="en-US" dirty="0">
                <a:latin typeface="微软雅黑" panose="020B0503020204020204" pitchFamily="34" charset="-122"/>
                <a:ea typeface="微软雅黑" panose="020B0503020204020204" pitchFamily="34" charset="-122"/>
              </a:rPr>
              <a:t>方法大致可以分为两类：</a:t>
            </a:r>
            <a:endParaRPr lang="en-US" altLang="zh-CN" dirty="0">
              <a:latin typeface="微软雅黑" panose="020B0503020204020204" pitchFamily="34" charset="-122"/>
              <a:ea typeface="微软雅黑" panose="020B0503020204020204" pitchFamily="34" charset="-122"/>
            </a:endParaRPr>
          </a:p>
          <a:p>
            <a:endParaRPr lang="en-US" altLang="zh-CN" dirty="0">
              <a:latin typeface="微软雅黑" panose="020B0503020204020204" pitchFamily="34" charset="-122"/>
              <a:ea typeface="微软雅黑" panose="020B0503020204020204" pitchFamily="34" charset="-122"/>
            </a:endParaRPr>
          </a:p>
          <a:p>
            <a:r>
              <a:rPr lang="zh-CN" altLang="en-US" dirty="0">
                <a:latin typeface="微软雅黑" panose="020B0503020204020204" pitchFamily="34" charset="-122"/>
                <a:ea typeface="微软雅黑" panose="020B0503020204020204" pitchFamily="34" charset="-122"/>
              </a:rPr>
              <a:t>第一类是基于模型 </a:t>
            </a:r>
            <a:r>
              <a:rPr lang="en-US" altLang="zh-CN" dirty="0">
                <a:latin typeface="微软雅黑" panose="020B0503020204020204" pitchFamily="34" charset="-122"/>
                <a:ea typeface="微软雅黑" panose="020B0503020204020204" pitchFamily="34" charset="-122"/>
              </a:rPr>
              <a:t>rollout </a:t>
            </a:r>
            <a:r>
              <a:rPr lang="zh-CN" altLang="en-US" dirty="0">
                <a:latin typeface="微软雅黑" panose="020B0503020204020204" pitchFamily="34" charset="-122"/>
                <a:ea typeface="微软雅黑" panose="020B0503020204020204" pitchFamily="34" charset="-122"/>
              </a:rPr>
              <a:t>的方法：如</a:t>
            </a:r>
            <a:r>
              <a:rPr lang="en-US" altLang="zh-CN" dirty="0">
                <a:latin typeface="微软雅黑" panose="020B0503020204020204" pitchFamily="34" charset="-122"/>
                <a:ea typeface="微软雅黑" panose="020B0503020204020204" pitchFamily="34" charset="-122"/>
              </a:rPr>
              <a:t>MAMBA</a:t>
            </a:r>
            <a:r>
              <a:rPr lang="zh-CN" altLang="en-US" dirty="0">
                <a:latin typeface="微软雅黑" panose="020B0503020204020204" pitchFamily="34" charset="-122"/>
                <a:ea typeface="微软雅黑" panose="020B0503020204020204" pitchFamily="34" charset="-122"/>
              </a:rPr>
              <a:t>、</a:t>
            </a:r>
            <a:r>
              <a:rPr lang="en-US" altLang="zh-CN" dirty="0">
                <a:latin typeface="微软雅黑" panose="020B0503020204020204" pitchFamily="34" charset="-122"/>
                <a:ea typeface="微软雅黑" panose="020B0503020204020204" pitchFamily="34" charset="-122"/>
              </a:rPr>
              <a:t>AORPO</a:t>
            </a:r>
            <a:r>
              <a:rPr lang="zh-CN" altLang="en-US" dirty="0">
                <a:latin typeface="微软雅黑" panose="020B0503020204020204" pitchFamily="34" charset="-122"/>
                <a:ea typeface="微软雅黑" panose="020B0503020204020204" pitchFamily="34" charset="-122"/>
              </a:rPr>
              <a:t>等，它们利用学习到的模型生成虚拟轨迹来扩充训练数据。但是模型预测误差会在长时序 </a:t>
            </a:r>
            <a:r>
              <a:rPr lang="en-US" altLang="zh-CN" dirty="0">
                <a:latin typeface="微软雅黑" panose="020B0503020204020204" pitchFamily="34" charset="-122"/>
                <a:ea typeface="微软雅黑" panose="020B0503020204020204" pitchFamily="34" charset="-122"/>
              </a:rPr>
              <a:t>rollout </a:t>
            </a:r>
            <a:r>
              <a:rPr lang="zh-CN" altLang="en-US" dirty="0">
                <a:latin typeface="微软雅黑" panose="020B0503020204020204" pitchFamily="34" charset="-122"/>
                <a:ea typeface="微软雅黑" panose="020B0503020204020204" pitchFamily="34" charset="-122"/>
              </a:rPr>
              <a:t>中累积。</a:t>
            </a:r>
            <a:endParaRPr lang="en-US" altLang="zh-CN" dirty="0">
              <a:latin typeface="微软雅黑" panose="020B0503020204020204" pitchFamily="34" charset="-122"/>
              <a:ea typeface="微软雅黑" panose="020B0503020204020204" pitchFamily="34" charset="-122"/>
            </a:endParaRPr>
          </a:p>
          <a:p>
            <a:endParaRPr lang="en-US" altLang="zh-CN" dirty="0">
              <a:latin typeface="微软雅黑" panose="020B0503020204020204" pitchFamily="34" charset="-122"/>
              <a:ea typeface="微软雅黑" panose="020B0503020204020204" pitchFamily="34" charset="-122"/>
            </a:endParaRPr>
          </a:p>
          <a:p>
            <a:r>
              <a:rPr lang="zh-CN" altLang="en-US" dirty="0">
                <a:latin typeface="微软雅黑" panose="020B0503020204020204" pitchFamily="34" charset="-122"/>
                <a:ea typeface="微软雅黑" panose="020B0503020204020204" pitchFamily="34" charset="-122"/>
              </a:rPr>
              <a:t>第二类是基于规划的方法，如 </a:t>
            </a:r>
            <a:r>
              <a:rPr lang="en-US" altLang="zh-CN" dirty="0" err="1">
                <a:latin typeface="微软雅黑" panose="020B0503020204020204" pitchFamily="34" charset="-122"/>
                <a:ea typeface="微软雅黑" panose="020B0503020204020204" pitchFamily="34" charset="-122"/>
              </a:rPr>
              <a:t>MAZero</a:t>
            </a:r>
            <a:r>
              <a:rPr lang="zh-CN" altLang="en-US" dirty="0">
                <a:latin typeface="微软雅黑" panose="020B0503020204020204" pitchFamily="34" charset="-122"/>
                <a:ea typeface="微软雅黑" panose="020B0503020204020204" pitchFamily="34" charset="-122"/>
              </a:rPr>
              <a:t>，通过参数共享实现分布式执行与集中式训练，以乐观价值估计进行动作规划。但是</a:t>
            </a:r>
            <a:r>
              <a:rPr lang="en-US" altLang="zh-CN" dirty="0" err="1">
                <a:latin typeface="微软雅黑" panose="020B0503020204020204" pitchFamily="34" charset="-122"/>
                <a:ea typeface="微软雅黑" panose="020B0503020204020204" pitchFamily="34" charset="-122"/>
              </a:rPr>
              <a:t>MAZero</a:t>
            </a:r>
            <a:r>
              <a:rPr lang="en-US" altLang="zh-CN" dirty="0">
                <a:latin typeface="微软雅黑" panose="020B0503020204020204" pitchFamily="34" charset="-122"/>
                <a:ea typeface="微软雅黑" panose="020B0503020204020204" pitchFamily="34" charset="-122"/>
              </a:rPr>
              <a:t> </a:t>
            </a:r>
            <a:r>
              <a:rPr lang="zh-CN" altLang="en-US" dirty="0">
                <a:latin typeface="微软雅黑" panose="020B0503020204020204" pitchFamily="34" charset="-122"/>
                <a:ea typeface="微软雅黑" panose="020B0503020204020204" pitchFamily="34" charset="-122"/>
              </a:rPr>
              <a:t>的世界模型假设环境是确定性的，无法求解关系动态演变下的混合博弈。</a:t>
            </a:r>
            <a:endParaRPr lang="en-US" altLang="zh-CN" dirty="0">
              <a:latin typeface="微软雅黑" panose="020B0503020204020204" pitchFamily="34" charset="-122"/>
              <a:ea typeface="微软雅黑" panose="020B0503020204020204" pitchFamily="34" charset="-122"/>
            </a:endParaRPr>
          </a:p>
        </p:txBody>
      </p:sp>
      <p:sp>
        <p:nvSpPr>
          <p:cNvPr id="2" name="矩形 1">
            <a:extLst>
              <a:ext uri="{FF2B5EF4-FFF2-40B4-BE49-F238E27FC236}">
                <a16:creationId xmlns:a16="http://schemas.microsoft.com/office/drawing/2014/main" id="{AB52BCB4-9924-4D79-B996-49C4F6D3B5C5}"/>
              </a:ext>
            </a:extLst>
          </p:cNvPr>
          <p:cNvSpPr/>
          <p:nvPr/>
        </p:nvSpPr>
        <p:spPr>
          <a:xfrm>
            <a:off x="9879275" y="1083073"/>
            <a:ext cx="1615440" cy="784830"/>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dirty="0"/>
              <a:t>关系</a:t>
            </a:r>
            <a:r>
              <a:rPr lang="en-US" altLang="zh-CN" dirty="0"/>
              <a:t>A</a:t>
            </a:r>
            <a:r>
              <a:rPr lang="zh-CN" altLang="en-US" dirty="0"/>
              <a:t>下的世界模型</a:t>
            </a:r>
          </a:p>
        </p:txBody>
      </p:sp>
      <p:sp>
        <p:nvSpPr>
          <p:cNvPr id="3" name="矩形 2">
            <a:extLst>
              <a:ext uri="{FF2B5EF4-FFF2-40B4-BE49-F238E27FC236}">
                <a16:creationId xmlns:a16="http://schemas.microsoft.com/office/drawing/2014/main" id="{B6EEBC2B-A4BB-46C9-A025-57E2394500AC}"/>
              </a:ext>
            </a:extLst>
          </p:cNvPr>
          <p:cNvSpPr/>
          <p:nvPr/>
        </p:nvSpPr>
        <p:spPr>
          <a:xfrm>
            <a:off x="9293087" y="1937634"/>
            <a:ext cx="2819400" cy="1103793"/>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dirty="0"/>
              <a:t>智能体之间的关系发生变化</a:t>
            </a:r>
            <a:r>
              <a:rPr lang="en-US" altLang="zh-CN" dirty="0"/>
              <a:t>—&gt;</a:t>
            </a:r>
            <a:r>
              <a:rPr lang="zh-CN" altLang="en-US" dirty="0"/>
              <a:t>博弈结构动态演化</a:t>
            </a:r>
          </a:p>
        </p:txBody>
      </p:sp>
      <p:sp>
        <p:nvSpPr>
          <p:cNvPr id="4" name="矩形 3">
            <a:extLst>
              <a:ext uri="{FF2B5EF4-FFF2-40B4-BE49-F238E27FC236}">
                <a16:creationId xmlns:a16="http://schemas.microsoft.com/office/drawing/2014/main" id="{C649A1D7-60ED-4005-936B-BE75D98FE101}"/>
              </a:ext>
            </a:extLst>
          </p:cNvPr>
          <p:cNvSpPr/>
          <p:nvPr/>
        </p:nvSpPr>
        <p:spPr>
          <a:xfrm>
            <a:off x="9935155" y="3111158"/>
            <a:ext cx="1503680" cy="762000"/>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dirty="0"/>
              <a:t>关系</a:t>
            </a:r>
            <a:r>
              <a:rPr lang="en-US" altLang="zh-CN" dirty="0"/>
              <a:t>A</a:t>
            </a:r>
            <a:r>
              <a:rPr lang="zh-CN" altLang="en-US" dirty="0"/>
              <a:t>时的训练成果失效</a:t>
            </a: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C10127F-6026-F6F5-B96E-EB9E96C96DB9}"/>
            </a:ext>
          </a:extLst>
        </p:cNvPr>
        <p:cNvGrpSpPr/>
        <p:nvPr/>
      </p:nvGrpSpPr>
      <p:grpSpPr>
        <a:xfrm>
          <a:off x="0" y="0"/>
          <a:ext cx="0" cy="0"/>
          <a:chOff x="0" y="0"/>
          <a:chExt cx="0" cy="0"/>
        </a:xfrm>
      </p:grpSpPr>
      <p:sp>
        <p:nvSpPr>
          <p:cNvPr id="10" name="标题 1">
            <a:extLst>
              <a:ext uri="{FF2B5EF4-FFF2-40B4-BE49-F238E27FC236}">
                <a16:creationId xmlns:a16="http://schemas.microsoft.com/office/drawing/2014/main" id="{E4AFCE7A-5A27-E94E-9CE8-A4434D447BD5}"/>
              </a:ext>
            </a:extLst>
          </p:cNvPr>
          <p:cNvSpPr txBox="1"/>
          <p:nvPr/>
        </p:nvSpPr>
        <p:spPr>
          <a:xfrm>
            <a:off x="787215" y="385281"/>
            <a:ext cx="6192705" cy="468000"/>
          </a:xfrm>
          <a:prstGeom prst="rect">
            <a:avLst/>
          </a:prstGeom>
          <a:noFill/>
          <a:ln cap="sq">
            <a:noFill/>
          </a:ln>
        </p:spPr>
        <p:txBody>
          <a:bodyPr vert="horz" wrap="square" lIns="0" tIns="0" rIns="0" bIns="0" rtlCol="0" anchor="ctr"/>
          <a:lstStyle/>
          <a:p>
            <a:r>
              <a:rPr lang="en-US" altLang="zh-CN" sz="2800" b="1" dirty="0" err="1">
                <a:solidFill>
                  <a:srgbClr val="2B77CC"/>
                </a:solidFill>
                <a:latin typeface="微软雅黑" panose="020B0503020204020204" pitchFamily="34" charset="-122"/>
                <a:ea typeface="微软雅黑" panose="020B0503020204020204" pitchFamily="34" charset="-122"/>
                <a:cs typeface="Times New Roman" panose="02020603050405020304" pitchFamily="18" charset="0"/>
              </a:rPr>
              <a:t>MAZero</a:t>
            </a:r>
            <a:r>
              <a:rPr lang="zh-CN" altLang="en-US" sz="2800" b="1" dirty="0">
                <a:solidFill>
                  <a:srgbClr val="2B77CC"/>
                </a:solidFill>
                <a:latin typeface="微软雅黑" panose="020B0503020204020204" pitchFamily="34" charset="-122"/>
                <a:ea typeface="微软雅黑" panose="020B0503020204020204" pitchFamily="34" charset="-122"/>
                <a:cs typeface="Times New Roman" panose="02020603050405020304" pitchFamily="18" charset="0"/>
              </a:rPr>
              <a:t>算法</a:t>
            </a:r>
            <a:endParaRPr lang="zh-CN" altLang="en-US" sz="2800" dirty="0"/>
          </a:p>
        </p:txBody>
      </p:sp>
      <p:sp>
        <p:nvSpPr>
          <p:cNvPr id="11" name="标题 1">
            <a:extLst>
              <a:ext uri="{FF2B5EF4-FFF2-40B4-BE49-F238E27FC236}">
                <a16:creationId xmlns:a16="http://schemas.microsoft.com/office/drawing/2014/main" id="{22CEF478-04C7-E638-5635-6F81472BC759}"/>
              </a:ext>
            </a:extLst>
          </p:cNvPr>
          <p:cNvSpPr txBox="1"/>
          <p:nvPr/>
        </p:nvSpPr>
        <p:spPr>
          <a:xfrm>
            <a:off x="363891" y="471047"/>
            <a:ext cx="296509" cy="296509"/>
          </a:xfrm>
          <a:prstGeom prst="ellipse">
            <a:avLst/>
          </a:prstGeom>
          <a:solidFill>
            <a:schemeClr val="accent1">
              <a:lumMod val="60000"/>
              <a:lumOff val="40000"/>
            </a:schemeClr>
          </a:solidFill>
          <a:ln w="12700" cap="sq">
            <a:noFill/>
            <a:prstDash val="solid"/>
            <a:miter/>
          </a:ln>
        </p:spPr>
        <p:txBody>
          <a:bodyPr vert="horz" wrap="square" lIns="91440" tIns="45720" rIns="91440" bIns="45720" rtlCol="0" anchor="ctr"/>
          <a:lstStyle/>
          <a:p>
            <a:pPr algn="ctr"/>
            <a:endParaRPr kumimoji="1" lang="zh-CN" altLang="en-US"/>
          </a:p>
        </p:txBody>
      </p:sp>
      <p:sp>
        <p:nvSpPr>
          <p:cNvPr id="3" name="文本框 2">
            <a:extLst>
              <a:ext uri="{FF2B5EF4-FFF2-40B4-BE49-F238E27FC236}">
                <a16:creationId xmlns:a16="http://schemas.microsoft.com/office/drawing/2014/main" id="{98364DDF-40A6-4DCD-AFA0-CC86D1A26BC4}"/>
              </a:ext>
            </a:extLst>
          </p:cNvPr>
          <p:cNvSpPr txBox="1"/>
          <p:nvPr/>
        </p:nvSpPr>
        <p:spPr>
          <a:xfrm>
            <a:off x="1142116" y="4861340"/>
            <a:ext cx="9907768" cy="1200329"/>
          </a:xfrm>
          <a:prstGeom prst="rect">
            <a:avLst/>
          </a:prstGeom>
          <a:noFill/>
        </p:spPr>
        <p:txBody>
          <a:bodyPr wrap="square" rtlCol="0">
            <a:spAutoFit/>
          </a:bodyPr>
          <a:lstStyle/>
          <a:p>
            <a:r>
              <a:rPr lang="en-US" altLang="zh-CN" dirty="0" err="1">
                <a:latin typeface="微软雅黑" panose="020B0503020204020204" pitchFamily="34" charset="-122"/>
                <a:ea typeface="微软雅黑" panose="020B0503020204020204" pitchFamily="34" charset="-122"/>
              </a:rPr>
              <a:t>MAZero</a:t>
            </a:r>
            <a:r>
              <a:rPr lang="zh-CN" altLang="en-US" dirty="0">
                <a:latin typeface="微软雅黑" panose="020B0503020204020204" pitchFamily="34" charset="-122"/>
                <a:ea typeface="微软雅黑" panose="020B0503020204020204" pitchFamily="34" charset="-122"/>
              </a:rPr>
              <a:t>算法是</a:t>
            </a:r>
            <a:r>
              <a:rPr lang="en-US" altLang="zh-CN" dirty="0" err="1">
                <a:latin typeface="微软雅黑" panose="020B0503020204020204" pitchFamily="34" charset="-122"/>
                <a:ea typeface="微软雅黑" panose="020B0503020204020204" pitchFamily="34" charset="-122"/>
              </a:rPr>
              <a:t>MuZero</a:t>
            </a:r>
            <a:r>
              <a:rPr lang="zh-CN" altLang="en-US" dirty="0">
                <a:latin typeface="微软雅黑" panose="020B0503020204020204" pitchFamily="34" charset="-122"/>
                <a:ea typeface="微软雅黑" panose="020B0503020204020204" pitchFamily="34" charset="-122"/>
              </a:rPr>
              <a:t>算法的多智能体版本，通过参数共享与注意力通信实现了多智能体协作的高效建模，但是</a:t>
            </a:r>
            <a:r>
              <a:rPr lang="en-US" altLang="zh-CN" dirty="0" err="1">
                <a:latin typeface="微软雅黑" panose="020B0503020204020204" pitchFamily="34" charset="-122"/>
                <a:ea typeface="微软雅黑" panose="020B0503020204020204" pitchFamily="34" charset="-122"/>
              </a:rPr>
              <a:t>MAZero</a:t>
            </a:r>
            <a:r>
              <a:rPr lang="en-US" altLang="zh-CN" dirty="0">
                <a:latin typeface="微软雅黑" panose="020B0503020204020204" pitchFamily="34" charset="-122"/>
                <a:ea typeface="微软雅黑" panose="020B0503020204020204" pitchFamily="34" charset="-122"/>
              </a:rPr>
              <a:t> </a:t>
            </a:r>
            <a:r>
              <a:rPr lang="zh-CN" altLang="en-US" dirty="0">
                <a:latin typeface="微软雅黑" panose="020B0503020204020204" pitchFamily="34" charset="-122"/>
                <a:ea typeface="微软雅黑" panose="020B0503020204020204" pitchFamily="34" charset="-122"/>
              </a:rPr>
              <a:t>的世界模型假设环境是确定性的，当环境中智能体间的角色关系矩阵发生变化时，来自不同关系构型样本的梯度会在共享权重相互干扰，网络只能收敛到各构型梯度的平均，无法为任一角色学到专属的精细策略。</a:t>
            </a:r>
          </a:p>
        </p:txBody>
      </p:sp>
      <p:pic>
        <p:nvPicPr>
          <p:cNvPr id="4" name="图片 3">
            <a:extLst>
              <a:ext uri="{FF2B5EF4-FFF2-40B4-BE49-F238E27FC236}">
                <a16:creationId xmlns:a16="http://schemas.microsoft.com/office/drawing/2014/main" id="{5A3616FB-1903-42F7-A973-69AB66898940}"/>
              </a:ext>
            </a:extLst>
          </p:cNvPr>
          <p:cNvPicPr>
            <a:picLocks noChangeAspect="1"/>
          </p:cNvPicPr>
          <p:nvPr/>
        </p:nvPicPr>
        <p:blipFill>
          <a:blip r:embed="rId2"/>
          <a:stretch>
            <a:fillRect/>
          </a:stretch>
        </p:blipFill>
        <p:spPr>
          <a:xfrm>
            <a:off x="2664457" y="957014"/>
            <a:ext cx="6192705" cy="3549903"/>
          </a:xfrm>
          <a:prstGeom prst="rect">
            <a:avLst/>
          </a:prstGeom>
        </p:spPr>
      </p:pic>
    </p:spTree>
    <p:extLst>
      <p:ext uri="{BB962C8B-B14F-4D97-AF65-F5344CB8AC3E}">
        <p14:creationId xmlns:p14="http://schemas.microsoft.com/office/powerpoint/2010/main" val="1530263301"/>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F1278EE-C428-FBBD-607B-22ED25F3BCBB}"/>
            </a:ext>
          </a:extLst>
        </p:cNvPr>
        <p:cNvGrpSpPr/>
        <p:nvPr/>
      </p:nvGrpSpPr>
      <p:grpSpPr>
        <a:xfrm>
          <a:off x="0" y="0"/>
          <a:ext cx="0" cy="0"/>
          <a:chOff x="0" y="0"/>
          <a:chExt cx="0" cy="0"/>
        </a:xfrm>
      </p:grpSpPr>
      <p:sp>
        <p:nvSpPr>
          <p:cNvPr id="11" name="标题 1">
            <a:extLst>
              <a:ext uri="{FF2B5EF4-FFF2-40B4-BE49-F238E27FC236}">
                <a16:creationId xmlns:a16="http://schemas.microsoft.com/office/drawing/2014/main" id="{98043CF6-1D33-DE12-30C7-23B67326006A}"/>
              </a:ext>
            </a:extLst>
          </p:cNvPr>
          <p:cNvSpPr txBox="1"/>
          <p:nvPr/>
        </p:nvSpPr>
        <p:spPr>
          <a:xfrm>
            <a:off x="363891" y="471047"/>
            <a:ext cx="296509" cy="296509"/>
          </a:xfrm>
          <a:prstGeom prst="ellipse">
            <a:avLst/>
          </a:prstGeom>
          <a:solidFill>
            <a:schemeClr val="accent1">
              <a:lumMod val="60000"/>
              <a:lumOff val="40000"/>
            </a:schemeClr>
          </a:solidFill>
          <a:ln w="12700" cap="sq">
            <a:noFill/>
            <a:prstDash val="solid"/>
            <a:miter/>
          </a:ln>
        </p:spPr>
        <p:txBody>
          <a:bodyPr vert="horz" wrap="square" lIns="91440" tIns="45720" rIns="91440" bIns="45720" rtlCol="0" anchor="ctr"/>
          <a:lstStyle/>
          <a:p>
            <a:pPr algn="ctr"/>
            <a:endParaRPr kumimoji="1" lang="zh-CN" altLang="en-US"/>
          </a:p>
        </p:txBody>
      </p:sp>
      <p:sp>
        <p:nvSpPr>
          <p:cNvPr id="2" name="标题 1">
            <a:extLst>
              <a:ext uri="{FF2B5EF4-FFF2-40B4-BE49-F238E27FC236}">
                <a16:creationId xmlns:a16="http://schemas.microsoft.com/office/drawing/2014/main" id="{92E924D9-F2E7-CA64-20C3-6B8238D62671}"/>
              </a:ext>
            </a:extLst>
          </p:cNvPr>
          <p:cNvSpPr txBox="1"/>
          <p:nvPr/>
        </p:nvSpPr>
        <p:spPr>
          <a:xfrm>
            <a:off x="756735" y="385281"/>
            <a:ext cx="4546785" cy="468000"/>
          </a:xfrm>
          <a:prstGeom prst="rect">
            <a:avLst/>
          </a:prstGeom>
          <a:noFill/>
          <a:ln cap="sq">
            <a:noFill/>
          </a:ln>
        </p:spPr>
        <p:txBody>
          <a:bodyPr vert="horz" wrap="square" lIns="0" tIns="0" rIns="0" bIns="0" rtlCol="0" anchor="ctr"/>
          <a:lstStyle/>
          <a:p>
            <a:r>
              <a:rPr lang="zh-CN" altLang="en-US" sz="2800" b="1" dirty="0">
                <a:solidFill>
                  <a:srgbClr val="2B77CC"/>
                </a:solidFill>
                <a:latin typeface="微软雅黑" panose="020B0503020204020204" pitchFamily="34" charset="-122"/>
                <a:ea typeface="微软雅黑" panose="020B0503020204020204" pitchFamily="34" charset="-122"/>
                <a:cs typeface="Times New Roman" panose="02020603050405020304" pitchFamily="18" charset="0"/>
              </a:rPr>
              <a:t>超网络（</a:t>
            </a:r>
            <a:r>
              <a:rPr lang="en-US" altLang="zh-CN" sz="2800" b="1" dirty="0">
                <a:solidFill>
                  <a:srgbClr val="2B77CC"/>
                </a:solidFill>
                <a:latin typeface="微软雅黑" panose="020B0503020204020204" pitchFamily="34" charset="-122"/>
                <a:ea typeface="微软雅黑" panose="020B0503020204020204" pitchFamily="34" charset="-122"/>
                <a:cs typeface="Times New Roman" panose="02020603050405020304" pitchFamily="18" charset="0"/>
              </a:rPr>
              <a:t>Hyper net</a:t>
            </a:r>
            <a:r>
              <a:rPr lang="zh-CN" altLang="en-US" sz="2800" b="1" dirty="0">
                <a:solidFill>
                  <a:srgbClr val="2B77CC"/>
                </a:solidFill>
                <a:latin typeface="微软雅黑" panose="020B0503020204020204" pitchFamily="34" charset="-122"/>
                <a:ea typeface="微软雅黑" panose="020B0503020204020204" pitchFamily="34" charset="-122"/>
                <a:cs typeface="Times New Roman" panose="02020603050405020304" pitchFamily="18" charset="0"/>
              </a:rPr>
              <a:t>）</a:t>
            </a:r>
          </a:p>
        </p:txBody>
      </p:sp>
      <p:sp>
        <p:nvSpPr>
          <p:cNvPr id="3" name="文本框 2">
            <a:extLst>
              <a:ext uri="{FF2B5EF4-FFF2-40B4-BE49-F238E27FC236}">
                <a16:creationId xmlns:a16="http://schemas.microsoft.com/office/drawing/2014/main" id="{ED12C3A1-C058-46B1-8F6F-950893341FC5}"/>
              </a:ext>
            </a:extLst>
          </p:cNvPr>
          <p:cNvSpPr txBox="1"/>
          <p:nvPr/>
        </p:nvSpPr>
        <p:spPr>
          <a:xfrm>
            <a:off x="1975458" y="4680888"/>
            <a:ext cx="3820160" cy="646331"/>
          </a:xfrm>
          <a:prstGeom prst="rect">
            <a:avLst/>
          </a:prstGeom>
          <a:noFill/>
        </p:spPr>
        <p:txBody>
          <a:bodyPr wrap="square" rtlCol="0">
            <a:spAutoFit/>
          </a:bodyPr>
          <a:lstStyle/>
          <a:p>
            <a:r>
              <a:rPr lang="zh-CN" altLang="en-US" dirty="0"/>
              <a:t>介绍超网络的能力，引入视角这个观念，让关系建模成为可能</a:t>
            </a:r>
          </a:p>
        </p:txBody>
      </p:sp>
      <p:pic>
        <p:nvPicPr>
          <p:cNvPr id="4" name="图片 3">
            <a:extLst>
              <a:ext uri="{FF2B5EF4-FFF2-40B4-BE49-F238E27FC236}">
                <a16:creationId xmlns:a16="http://schemas.microsoft.com/office/drawing/2014/main" id="{7276019A-AD97-4C7C-BD00-4329474B7342}"/>
              </a:ext>
            </a:extLst>
          </p:cNvPr>
          <p:cNvPicPr>
            <a:picLocks noChangeAspect="1"/>
          </p:cNvPicPr>
          <p:nvPr/>
        </p:nvPicPr>
        <p:blipFill>
          <a:blip r:embed="rId2"/>
          <a:stretch>
            <a:fillRect/>
          </a:stretch>
        </p:blipFill>
        <p:spPr>
          <a:xfrm>
            <a:off x="1359232" y="1302913"/>
            <a:ext cx="6449509" cy="2732373"/>
          </a:xfrm>
          <a:prstGeom prst="rect">
            <a:avLst/>
          </a:prstGeom>
        </p:spPr>
      </p:pic>
      <p:pic>
        <p:nvPicPr>
          <p:cNvPr id="5" name="图片 4">
            <a:extLst>
              <a:ext uri="{FF2B5EF4-FFF2-40B4-BE49-F238E27FC236}">
                <a16:creationId xmlns:a16="http://schemas.microsoft.com/office/drawing/2014/main" id="{8D39A07C-AC46-429A-9850-9DC94A8B7358}"/>
              </a:ext>
            </a:extLst>
          </p:cNvPr>
          <p:cNvPicPr>
            <a:picLocks noChangeAspect="1"/>
          </p:cNvPicPr>
          <p:nvPr/>
        </p:nvPicPr>
        <p:blipFill>
          <a:blip r:embed="rId3"/>
          <a:stretch>
            <a:fillRect/>
          </a:stretch>
        </p:blipFill>
        <p:spPr>
          <a:xfrm rot="16200000">
            <a:off x="5858604" y="2272915"/>
            <a:ext cx="1428949" cy="2095792"/>
          </a:xfrm>
          <a:prstGeom prst="rect">
            <a:avLst/>
          </a:prstGeom>
        </p:spPr>
      </p:pic>
    </p:spTree>
    <p:extLst>
      <p:ext uri="{BB962C8B-B14F-4D97-AF65-F5344CB8AC3E}">
        <p14:creationId xmlns:p14="http://schemas.microsoft.com/office/powerpoint/2010/main" val="1467521153"/>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3399609-7BE2-18CF-9878-832C84A9A6A1}"/>
            </a:ext>
          </a:extLst>
        </p:cNvPr>
        <p:cNvGrpSpPr/>
        <p:nvPr/>
      </p:nvGrpSpPr>
      <p:grpSpPr>
        <a:xfrm>
          <a:off x="0" y="0"/>
          <a:ext cx="0" cy="0"/>
          <a:chOff x="0" y="0"/>
          <a:chExt cx="0" cy="0"/>
        </a:xfrm>
      </p:grpSpPr>
      <p:sp>
        <p:nvSpPr>
          <p:cNvPr id="2" name="标题 1">
            <a:extLst>
              <a:ext uri="{FF2B5EF4-FFF2-40B4-BE49-F238E27FC236}">
                <a16:creationId xmlns:a16="http://schemas.microsoft.com/office/drawing/2014/main" id="{F18F4894-A63C-F677-3227-C06388F52F7F}"/>
              </a:ext>
            </a:extLst>
          </p:cNvPr>
          <p:cNvSpPr txBox="1"/>
          <p:nvPr/>
        </p:nvSpPr>
        <p:spPr>
          <a:xfrm>
            <a:off x="0" y="0"/>
            <a:ext cx="12192000" cy="6858000"/>
          </a:xfrm>
          <a:prstGeom prst="rect">
            <a:avLst/>
          </a:prstGeom>
          <a:gradFill>
            <a:gsLst>
              <a:gs pos="0">
                <a:schemeClr val="accent1">
                  <a:lumMod val="5000"/>
                  <a:lumOff val="95000"/>
                  <a:alpha val="9000"/>
                </a:schemeClr>
              </a:gs>
              <a:gs pos="100000">
                <a:schemeClr val="accent1">
                  <a:lumMod val="60000"/>
                  <a:lumOff val="40000"/>
                  <a:alpha val="39000"/>
                </a:schemeClr>
              </a:gs>
            </a:gsLst>
            <a:lin ang="7200000" scaled="0"/>
          </a:gradFill>
          <a:ln w="19050" cap="sq">
            <a:noFill/>
            <a:miter/>
          </a:ln>
        </p:spPr>
        <p:txBody>
          <a:bodyPr vert="horz" wrap="square" lIns="91440" tIns="45720" rIns="91440" bIns="45720" rtlCol="0" anchor="ctr"/>
          <a:lstStyle/>
          <a:p>
            <a:pPr algn="ctr"/>
            <a:endParaRPr kumimoji="1" lang="zh-CN" altLang="en-US"/>
          </a:p>
        </p:txBody>
      </p:sp>
      <p:sp>
        <p:nvSpPr>
          <p:cNvPr id="4" name="Oval 4">
            <a:extLst>
              <a:ext uri="{FF2B5EF4-FFF2-40B4-BE49-F238E27FC236}">
                <a16:creationId xmlns:a16="http://schemas.microsoft.com/office/drawing/2014/main" id="{836434F1-459E-1156-B75C-33863391A7D4}"/>
              </a:ext>
            </a:extLst>
          </p:cNvPr>
          <p:cNvSpPr/>
          <p:nvPr/>
        </p:nvSpPr>
        <p:spPr>
          <a:xfrm>
            <a:off x="1613948" y="2545234"/>
            <a:ext cx="1817008" cy="1767531"/>
          </a:xfrm>
          <a:prstGeom prst="ellipse">
            <a:avLst/>
          </a:prstGeom>
          <a:blipFill dpi="0" rotWithShape="1">
            <a:blip r:embed="rId2">
              <a:alphaModFix amt="86000"/>
            </a:blip>
            <a:srcRect/>
            <a:stretch>
              <a:fillRect r="-33000"/>
            </a:stretch>
          </a:bli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sz="6600" b="1" dirty="0">
                <a:solidFill>
                  <a:prstClr val="white"/>
                </a:solidFill>
                <a:latin typeface="Arial Black" panose="020B0A04020102020204" pitchFamily="34" charset="0"/>
                <a:ea typeface="字魂59号-创粗黑" panose="00000500000000000000" pitchFamily="2" charset="-122"/>
                <a:sym typeface="字魂59号-创粗黑" panose="00000500000000000000" pitchFamily="2" charset="-122"/>
              </a:rPr>
              <a:t>2</a:t>
            </a:r>
            <a:endParaRPr kumimoji="0" lang="id-ID" sz="6600" b="1" i="0" u="none" strike="noStrike" kern="1200" cap="none" spc="0" normalizeH="0" baseline="0" noProof="0" dirty="0">
              <a:ln>
                <a:noFill/>
              </a:ln>
              <a:solidFill>
                <a:prstClr val="white"/>
              </a:solidFill>
              <a:effectLst/>
              <a:uLnTx/>
              <a:uFillTx/>
              <a:latin typeface="Arial Black" panose="020B0A04020102020204" pitchFamily="34" charset="0"/>
              <a:ea typeface="字魂59号-创粗黑" panose="00000500000000000000" pitchFamily="2" charset="-122"/>
              <a:cs typeface="+mn-cs"/>
              <a:sym typeface="字魂59号-创粗黑" panose="00000500000000000000" pitchFamily="2" charset="-122"/>
            </a:endParaRPr>
          </a:p>
        </p:txBody>
      </p:sp>
      <p:sp>
        <p:nvSpPr>
          <p:cNvPr id="7" name="文本框 6">
            <a:extLst>
              <a:ext uri="{FF2B5EF4-FFF2-40B4-BE49-F238E27FC236}">
                <a16:creationId xmlns:a16="http://schemas.microsoft.com/office/drawing/2014/main" id="{023C2FA5-1D5B-67FD-B4A7-480A6617B2D8}"/>
              </a:ext>
            </a:extLst>
          </p:cNvPr>
          <p:cNvSpPr txBox="1"/>
          <p:nvPr/>
        </p:nvSpPr>
        <p:spPr>
          <a:xfrm>
            <a:off x="4786831" y="2852177"/>
            <a:ext cx="6097002" cy="1015663"/>
          </a:xfrm>
          <a:prstGeom prst="rect">
            <a:avLst/>
          </a:prstGeom>
          <a:noFill/>
        </p:spPr>
        <p:txBody>
          <a:bodyPr wrap="square">
            <a:spAutoFit/>
          </a:bodyPr>
          <a:lstStyle/>
          <a:p>
            <a:r>
              <a:rPr lang="zh-CN" altLang="en-US" sz="6000" b="1" dirty="0">
                <a:solidFill>
                  <a:srgbClr val="2B77CC"/>
                </a:solidFill>
                <a:latin typeface="微软雅黑" panose="020B0503020204020204" pitchFamily="34" charset="-122"/>
                <a:ea typeface="微软雅黑" panose="020B0503020204020204" pitchFamily="34" charset="-122"/>
                <a:cs typeface="Times New Roman" panose="02020603050405020304" pitchFamily="18" charset="0"/>
              </a:rPr>
              <a:t>研究内容与方法</a:t>
            </a:r>
          </a:p>
        </p:txBody>
      </p:sp>
      <p:sp>
        <p:nvSpPr>
          <p:cNvPr id="16" name="矩形 15">
            <a:extLst>
              <a:ext uri="{FF2B5EF4-FFF2-40B4-BE49-F238E27FC236}">
                <a16:creationId xmlns:a16="http://schemas.microsoft.com/office/drawing/2014/main" id="{C90633EF-B20D-13AF-6B70-FFEB0207FBEB}"/>
              </a:ext>
            </a:extLst>
          </p:cNvPr>
          <p:cNvSpPr/>
          <p:nvPr/>
        </p:nvSpPr>
        <p:spPr>
          <a:xfrm>
            <a:off x="4143736" y="482600"/>
            <a:ext cx="279400" cy="5892800"/>
          </a:xfrm>
          <a:prstGeom prst="rect">
            <a:avLst/>
          </a:prstGeom>
          <a:gradFill flip="none" rotWithShape="1">
            <a:gsLst>
              <a:gs pos="0">
                <a:schemeClr val="accent1">
                  <a:tint val="66000"/>
                  <a:satMod val="160000"/>
                </a:schemeClr>
              </a:gs>
              <a:gs pos="50000">
                <a:schemeClr val="accent1">
                  <a:tint val="44500"/>
                  <a:satMod val="160000"/>
                </a:schemeClr>
              </a:gs>
              <a:gs pos="100000">
                <a:schemeClr val="accent1">
                  <a:tint val="23500"/>
                  <a:satMod val="160000"/>
                </a:schemeClr>
              </a:gs>
            </a:gsLst>
            <a:lin ang="18900000" scaled="1"/>
            <a:tileRect/>
          </a:gradFill>
          <a:ln>
            <a:solidFill>
              <a:schemeClr val="tx2">
                <a:lumMod val="60000"/>
                <a:lumOff val="40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spTree>
    <p:extLst>
      <p:ext uri="{BB962C8B-B14F-4D97-AF65-F5344CB8AC3E}">
        <p14:creationId xmlns:p14="http://schemas.microsoft.com/office/powerpoint/2010/main" val="796404422"/>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376BBFA-A420-6F32-488D-18B4F220E47A}"/>
            </a:ext>
          </a:extLst>
        </p:cNvPr>
        <p:cNvGrpSpPr/>
        <p:nvPr/>
      </p:nvGrpSpPr>
      <p:grpSpPr>
        <a:xfrm>
          <a:off x="0" y="0"/>
          <a:ext cx="0" cy="0"/>
          <a:chOff x="0" y="0"/>
          <a:chExt cx="0" cy="0"/>
        </a:xfrm>
      </p:grpSpPr>
      <p:sp>
        <p:nvSpPr>
          <p:cNvPr id="11" name="标题 1">
            <a:extLst>
              <a:ext uri="{FF2B5EF4-FFF2-40B4-BE49-F238E27FC236}">
                <a16:creationId xmlns:a16="http://schemas.microsoft.com/office/drawing/2014/main" id="{FEC99D01-2123-4D5C-41F6-F2CCBD96ADD9}"/>
              </a:ext>
            </a:extLst>
          </p:cNvPr>
          <p:cNvSpPr txBox="1"/>
          <p:nvPr/>
        </p:nvSpPr>
        <p:spPr>
          <a:xfrm>
            <a:off x="363891" y="471047"/>
            <a:ext cx="296509" cy="296509"/>
          </a:xfrm>
          <a:prstGeom prst="ellipse">
            <a:avLst/>
          </a:prstGeom>
          <a:solidFill>
            <a:schemeClr val="accent1">
              <a:lumMod val="60000"/>
              <a:lumOff val="40000"/>
            </a:schemeClr>
          </a:solidFill>
          <a:ln w="12700" cap="sq">
            <a:noFill/>
            <a:prstDash val="solid"/>
            <a:miter/>
          </a:ln>
        </p:spPr>
        <p:txBody>
          <a:bodyPr vert="horz" wrap="square" lIns="91440" tIns="45720" rIns="91440" bIns="45720" rtlCol="0" anchor="ctr"/>
          <a:lstStyle/>
          <a:p>
            <a:pPr algn="ctr"/>
            <a:endParaRPr kumimoji="1" lang="zh-CN" altLang="en-US"/>
          </a:p>
        </p:txBody>
      </p:sp>
      <p:sp>
        <p:nvSpPr>
          <p:cNvPr id="2" name="标题 1">
            <a:extLst>
              <a:ext uri="{FF2B5EF4-FFF2-40B4-BE49-F238E27FC236}">
                <a16:creationId xmlns:a16="http://schemas.microsoft.com/office/drawing/2014/main" id="{790D558B-BF30-72B3-2C66-C1EAF18F25CF}"/>
              </a:ext>
            </a:extLst>
          </p:cNvPr>
          <p:cNvSpPr txBox="1"/>
          <p:nvPr/>
        </p:nvSpPr>
        <p:spPr>
          <a:xfrm>
            <a:off x="880385" y="356834"/>
            <a:ext cx="10033663" cy="524934"/>
          </a:xfrm>
          <a:prstGeom prst="rect">
            <a:avLst/>
          </a:prstGeom>
          <a:noFill/>
          <a:ln cap="sq">
            <a:noFill/>
          </a:ln>
        </p:spPr>
        <p:txBody>
          <a:bodyPr vert="horz" wrap="square" lIns="0" tIns="0" rIns="0" bIns="0" rtlCol="0" anchor="ctr"/>
          <a:lstStyle/>
          <a:p>
            <a:r>
              <a:rPr lang="zh-CN" altLang="en-US" sz="2800" b="1" dirty="0">
                <a:solidFill>
                  <a:srgbClr val="2B77CC"/>
                </a:solidFill>
                <a:latin typeface="微软雅黑" panose="020B0503020204020204" pitchFamily="34" charset="-122"/>
                <a:ea typeface="微软雅黑" panose="020B0503020204020204" pitchFamily="34" charset="-122"/>
                <a:cs typeface="Times New Roman" panose="02020603050405020304" pitchFamily="18" charset="0"/>
              </a:rPr>
              <a:t>基于超网络的角色感知能力的主客观分离世界模型框架</a:t>
            </a:r>
          </a:p>
        </p:txBody>
      </p:sp>
      <p:pic>
        <p:nvPicPr>
          <p:cNvPr id="5122" name="Picture 2">
            <a:extLst>
              <a:ext uri="{FF2B5EF4-FFF2-40B4-BE49-F238E27FC236}">
                <a16:creationId xmlns:a16="http://schemas.microsoft.com/office/drawing/2014/main" id="{EA575050-0A7F-4E4D-9E6C-973AEFB3BA4B}"/>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501985" y="1030006"/>
            <a:ext cx="10942319" cy="5471160"/>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3884316212"/>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376BBFA-A420-6F32-488D-18B4F220E47A}"/>
            </a:ext>
          </a:extLst>
        </p:cNvPr>
        <p:cNvGrpSpPr/>
        <p:nvPr/>
      </p:nvGrpSpPr>
      <p:grpSpPr>
        <a:xfrm>
          <a:off x="0" y="0"/>
          <a:ext cx="0" cy="0"/>
          <a:chOff x="0" y="0"/>
          <a:chExt cx="0" cy="0"/>
        </a:xfrm>
      </p:grpSpPr>
      <p:sp>
        <p:nvSpPr>
          <p:cNvPr id="11" name="标题 1">
            <a:extLst>
              <a:ext uri="{FF2B5EF4-FFF2-40B4-BE49-F238E27FC236}">
                <a16:creationId xmlns:a16="http://schemas.microsoft.com/office/drawing/2014/main" id="{FEC99D01-2123-4D5C-41F6-F2CCBD96ADD9}"/>
              </a:ext>
            </a:extLst>
          </p:cNvPr>
          <p:cNvSpPr txBox="1"/>
          <p:nvPr/>
        </p:nvSpPr>
        <p:spPr>
          <a:xfrm>
            <a:off x="363891" y="471047"/>
            <a:ext cx="296509" cy="296509"/>
          </a:xfrm>
          <a:prstGeom prst="ellipse">
            <a:avLst/>
          </a:prstGeom>
          <a:solidFill>
            <a:schemeClr val="accent1">
              <a:lumMod val="60000"/>
              <a:lumOff val="40000"/>
            </a:schemeClr>
          </a:solidFill>
          <a:ln w="12700" cap="sq">
            <a:noFill/>
            <a:prstDash val="solid"/>
            <a:miter/>
          </a:ln>
        </p:spPr>
        <p:txBody>
          <a:bodyPr vert="horz" wrap="square" lIns="91440" tIns="45720" rIns="91440" bIns="45720" rtlCol="0" anchor="ctr"/>
          <a:lstStyle/>
          <a:p>
            <a:pPr algn="ctr"/>
            <a:endParaRPr kumimoji="1" lang="zh-CN" altLang="en-US"/>
          </a:p>
        </p:txBody>
      </p:sp>
      <p:sp>
        <p:nvSpPr>
          <p:cNvPr id="2" name="标题 1">
            <a:extLst>
              <a:ext uri="{FF2B5EF4-FFF2-40B4-BE49-F238E27FC236}">
                <a16:creationId xmlns:a16="http://schemas.microsoft.com/office/drawing/2014/main" id="{790D558B-BF30-72B3-2C66-C1EAF18F25CF}"/>
              </a:ext>
            </a:extLst>
          </p:cNvPr>
          <p:cNvSpPr txBox="1"/>
          <p:nvPr/>
        </p:nvSpPr>
        <p:spPr>
          <a:xfrm>
            <a:off x="880385" y="356834"/>
            <a:ext cx="10033663" cy="524934"/>
          </a:xfrm>
          <a:prstGeom prst="rect">
            <a:avLst/>
          </a:prstGeom>
          <a:noFill/>
          <a:ln cap="sq">
            <a:noFill/>
          </a:ln>
        </p:spPr>
        <p:txBody>
          <a:bodyPr vert="horz" wrap="square" lIns="0" tIns="0" rIns="0" bIns="0" rtlCol="0" anchor="ctr"/>
          <a:lstStyle/>
          <a:p>
            <a:r>
              <a:rPr lang="en-US" altLang="zh-CN" sz="2800" b="1" dirty="0">
                <a:solidFill>
                  <a:srgbClr val="2B77CC"/>
                </a:solidFill>
                <a:latin typeface="微软雅黑" panose="020B0503020204020204" pitchFamily="34" charset="-122"/>
                <a:ea typeface="微软雅黑" panose="020B0503020204020204" pitchFamily="34" charset="-122"/>
                <a:cs typeface="Times New Roman" panose="02020603050405020304" pitchFamily="18" charset="0"/>
              </a:rPr>
              <a:t>MVE</a:t>
            </a:r>
            <a:r>
              <a:rPr lang="zh-CN" altLang="en-US" sz="2800" b="1" dirty="0">
                <a:solidFill>
                  <a:srgbClr val="2B77CC"/>
                </a:solidFill>
                <a:latin typeface="微软雅黑" panose="020B0503020204020204" pitchFamily="34" charset="-122"/>
                <a:ea typeface="微软雅黑" panose="020B0503020204020204" pitchFamily="34" charset="-122"/>
                <a:cs typeface="Times New Roman" panose="02020603050405020304" pitchFamily="18" charset="0"/>
              </a:rPr>
              <a:t>动作规划器设计</a:t>
            </a:r>
          </a:p>
        </p:txBody>
      </p:sp>
      <p:pic>
        <p:nvPicPr>
          <p:cNvPr id="4" name="Picture 2">
            <a:extLst>
              <a:ext uri="{FF2B5EF4-FFF2-40B4-BE49-F238E27FC236}">
                <a16:creationId xmlns:a16="http://schemas.microsoft.com/office/drawing/2014/main" id="{176EE027-933A-46FD-A42D-8633A2F67880}"/>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660400" y="1102359"/>
            <a:ext cx="5378175" cy="5485739"/>
          </a:xfrm>
          <a:prstGeom prst="rect">
            <a:avLst/>
          </a:prstGeom>
          <a:noFill/>
          <a:extLst>
            <a:ext uri="{909E8E84-426E-40DD-AFC4-6F175D3DCCD1}">
              <a14:hiddenFill xmlns:a14="http://schemas.microsoft.com/office/drawing/2010/main">
                <a:solidFill>
                  <a:srgbClr val="FFFFFF"/>
                </a:solidFill>
              </a14:hiddenFill>
            </a:ext>
          </a:extLst>
        </p:spPr>
      </p:pic>
      <p:sp>
        <p:nvSpPr>
          <p:cNvPr id="3" name="文本框 2">
            <a:extLst>
              <a:ext uri="{FF2B5EF4-FFF2-40B4-BE49-F238E27FC236}">
                <a16:creationId xmlns:a16="http://schemas.microsoft.com/office/drawing/2014/main" id="{9881F3F9-6E30-48CC-B555-DD71420FFADD}"/>
              </a:ext>
            </a:extLst>
          </p:cNvPr>
          <p:cNvSpPr txBox="1"/>
          <p:nvPr/>
        </p:nvSpPr>
        <p:spPr>
          <a:xfrm>
            <a:off x="5933440" y="1259840"/>
            <a:ext cx="5902960" cy="1200329"/>
          </a:xfrm>
          <a:prstGeom prst="rect">
            <a:avLst/>
          </a:prstGeom>
          <a:noFill/>
        </p:spPr>
        <p:txBody>
          <a:bodyPr wrap="square" rtlCol="0">
            <a:spAutoFit/>
          </a:bodyPr>
          <a:lstStyle/>
          <a:p>
            <a:r>
              <a:rPr lang="zh-CN" altLang="en-US" dirty="0">
                <a:latin typeface="微软雅黑" panose="020B0503020204020204" pitchFamily="34" charset="-122"/>
                <a:ea typeface="微软雅黑" panose="020B0503020204020204" pitchFamily="34" charset="-122"/>
              </a:rPr>
              <a:t>多智能体联合动作空间大小随智能体数量呈指数增长，为解决传统蒙特卡洛树搜索在该空间中面临组合爆炸的问题，设计逐智能体模型价值规划（</a:t>
            </a:r>
            <a:r>
              <a:rPr lang="en-US" altLang="zh-CN" dirty="0">
                <a:latin typeface="微软雅黑" panose="020B0503020204020204" pitchFamily="34" charset="-122"/>
                <a:ea typeface="微软雅黑" panose="020B0503020204020204" pitchFamily="34" charset="-122"/>
              </a:rPr>
              <a:t>MVE</a:t>
            </a:r>
            <a:r>
              <a:rPr lang="zh-CN" altLang="en-US" dirty="0">
                <a:latin typeface="微软雅黑" panose="020B0503020204020204" pitchFamily="34" charset="-122"/>
                <a:ea typeface="微软雅黑" panose="020B0503020204020204" pitchFamily="34" charset="-122"/>
              </a:rPr>
              <a:t>）规划器进行动作自举，以有限步模型展开结合自举价值进行策略估计</a:t>
            </a:r>
          </a:p>
        </p:txBody>
      </p:sp>
      <mc:AlternateContent xmlns:mc="http://schemas.openxmlformats.org/markup-compatibility/2006" xmlns:a14="http://schemas.microsoft.com/office/drawing/2010/main">
        <mc:Choice Requires="a14">
          <p:sp>
            <p:nvSpPr>
              <p:cNvPr id="10" name="文本框 9">
                <a:extLst>
                  <a:ext uri="{FF2B5EF4-FFF2-40B4-BE49-F238E27FC236}">
                    <a16:creationId xmlns:a16="http://schemas.microsoft.com/office/drawing/2014/main" id="{E892F509-92E6-4BCE-8761-4D83E192A405}"/>
                  </a:ext>
                </a:extLst>
              </p:cNvPr>
              <p:cNvSpPr txBox="1"/>
              <p:nvPr/>
            </p:nvSpPr>
            <p:spPr>
              <a:xfrm>
                <a:off x="5933440" y="2608462"/>
                <a:ext cx="6096000" cy="3188693"/>
              </a:xfrm>
              <a:prstGeom prst="rect">
                <a:avLst/>
              </a:prstGeom>
              <a:noFill/>
            </p:spPr>
            <p:txBody>
              <a:bodyPr wrap="square">
                <a:spAutoFit/>
              </a:bodyPr>
              <a:lstStyle/>
              <a:p>
                <a:r>
                  <a:rPr lang="zh-CN" altLang="zh-CN" sz="1800" kern="100" dirty="0">
                    <a:effectLst/>
                    <a:latin typeface="Times New Roman" panose="02020603050405020304" pitchFamily="18" charset="0"/>
                    <a:ea typeface="仿宋_GB2312"/>
                    <a:cs typeface="Times New Roman" panose="02020603050405020304" pitchFamily="18" charset="0"/>
                  </a:rPr>
                  <a:t>轮到智能体</a:t>
                </a:r>
                <a14:m>
                  <m:oMath xmlns:m="http://schemas.openxmlformats.org/officeDocument/2006/math">
                    <m:r>
                      <a:rPr lang="zh-CN" altLang="zh-CN" sz="1800" kern="100">
                        <a:effectLst/>
                        <a:latin typeface="Cambria Math" panose="02040503050406030204" pitchFamily="18" charset="0"/>
                        <a:ea typeface="Cambria Math" panose="02040503050406030204" pitchFamily="18" charset="0"/>
                        <a:cs typeface="Times New Roman" panose="02020603050405020304" pitchFamily="18" charset="0"/>
                      </a:rPr>
                      <m:t> </m:t>
                    </m:r>
                    <m:r>
                      <m:rPr>
                        <m:sty m:val="p"/>
                      </m:rPr>
                      <a:rPr lang="en-US" altLang="zh-CN" sz="1800" kern="100">
                        <a:effectLst/>
                        <a:latin typeface="Cambria Math" panose="02040503050406030204" pitchFamily="18" charset="0"/>
                        <a:ea typeface="Cambria Math" panose="02040503050406030204" pitchFamily="18" charset="0"/>
                        <a:cs typeface="Times New Roman" panose="02020603050405020304" pitchFamily="18" charset="0"/>
                      </a:rPr>
                      <m:t>i</m:t>
                    </m:r>
                    <m:r>
                      <a:rPr lang="en-US" altLang="zh-CN" sz="1800" kern="100">
                        <a:effectLst/>
                        <a:latin typeface="Cambria Math" panose="02040503050406030204" pitchFamily="18" charset="0"/>
                        <a:ea typeface="Cambria Math" panose="02040503050406030204" pitchFamily="18" charset="0"/>
                        <a:cs typeface="Times New Roman" panose="02020603050405020304" pitchFamily="18" charset="0"/>
                      </a:rPr>
                      <m:t> </m:t>
                    </m:r>
                  </m:oMath>
                </a14:m>
                <a:r>
                  <a:rPr lang="zh-CN" altLang="zh-CN" sz="1800" kern="100" dirty="0">
                    <a:effectLst/>
                    <a:latin typeface="Times New Roman" panose="02020603050405020304" pitchFamily="18" charset="0"/>
                    <a:ea typeface="仿宋_GB2312"/>
                    <a:cs typeface="Times New Roman" panose="02020603050405020304" pitchFamily="18" charset="0"/>
                  </a:rPr>
                  <a:t>时，其余智能体的首步动作依各自当前策略采样并被冻结</a:t>
                </a:r>
                <a:r>
                  <a:rPr lang="zh-CN" altLang="en-US" sz="1800" kern="100" dirty="0">
                    <a:effectLst/>
                    <a:latin typeface="Times New Roman" panose="02020603050405020304" pitchFamily="18" charset="0"/>
                    <a:ea typeface="仿宋_GB2312"/>
                    <a:cs typeface="Times New Roman" panose="02020603050405020304" pitchFamily="18" charset="0"/>
                  </a:rPr>
                  <a:t>，</a:t>
                </a:r>
                <a:r>
                  <a:rPr lang="zh-CN" altLang="zh-CN" kern="100" dirty="0">
                    <a:latin typeface="Times New Roman" panose="02020603050405020304" pitchFamily="18" charset="0"/>
                    <a:ea typeface="仿宋_GB2312"/>
                    <a:cs typeface="Times New Roman" panose="02020603050405020304" pitchFamily="18" charset="0"/>
                  </a:rPr>
                  <a:t>对智能体</a:t>
                </a:r>
                <a14:m>
                  <m:oMath xmlns:m="http://schemas.openxmlformats.org/officeDocument/2006/math">
                    <m:r>
                      <a:rPr lang="zh-CN" altLang="zh-CN" kern="100">
                        <a:latin typeface="Cambria Math" panose="02040503050406030204" pitchFamily="18" charset="0"/>
                        <a:ea typeface="Cambria Math" panose="02040503050406030204" pitchFamily="18" charset="0"/>
                        <a:cs typeface="Times New Roman" panose="02020603050405020304" pitchFamily="18" charset="0"/>
                      </a:rPr>
                      <m:t> </m:t>
                    </m:r>
                    <m:r>
                      <m:rPr>
                        <m:sty m:val="p"/>
                      </m:rPr>
                      <a:rPr lang="en-US" altLang="zh-CN" kern="100">
                        <a:latin typeface="Cambria Math" panose="02040503050406030204" pitchFamily="18" charset="0"/>
                        <a:ea typeface="Cambria Math" panose="02040503050406030204" pitchFamily="18" charset="0"/>
                        <a:cs typeface="Times New Roman" panose="02020603050405020304" pitchFamily="18" charset="0"/>
                      </a:rPr>
                      <m:t>i</m:t>
                    </m:r>
                  </m:oMath>
                </a14:m>
                <a:r>
                  <a:rPr lang="zh-CN" altLang="zh-CN" kern="100" dirty="0">
                    <a:latin typeface="Times New Roman" panose="02020603050405020304" pitchFamily="18" charset="0"/>
                    <a:ea typeface="仿宋_GB2312"/>
                    <a:cs typeface="Times New Roman" panose="02020603050405020304" pitchFamily="18" charset="0"/>
                  </a:rPr>
                  <a:t>的每个候选动作</a:t>
                </a:r>
                <a:r>
                  <a:rPr lang="zh-CN" altLang="zh-CN" kern="100" dirty="0">
                    <a:ea typeface="Times New Roman" panose="02020603050405020304" pitchFamily="18" charset="0"/>
                  </a:rPr>
                  <a:t> </a:t>
                </a:r>
                <a14:m>
                  <m:oMath xmlns:m="http://schemas.openxmlformats.org/officeDocument/2006/math">
                    <m:r>
                      <m:rPr>
                        <m:sty m:val="p"/>
                      </m:rPr>
                      <a:rPr lang="en-US" altLang="zh-CN" kern="100">
                        <a:latin typeface="Cambria Math" panose="02040503050406030204" pitchFamily="18" charset="0"/>
                        <a:ea typeface="仿宋_GB2312"/>
                        <a:cs typeface="Times New Roman" panose="02020603050405020304" pitchFamily="18" charset="0"/>
                      </a:rPr>
                      <m:t>a</m:t>
                    </m:r>
                    <m:r>
                      <a:rPr lang="zh-CN" altLang="zh-CN" kern="100">
                        <a:latin typeface="Cambria Math" panose="02040503050406030204" pitchFamily="18" charset="0"/>
                        <a:ea typeface="仿宋_GB2312"/>
                        <a:cs typeface="Times New Roman" panose="02020603050405020304" pitchFamily="18" charset="0"/>
                      </a:rPr>
                      <m:t>∈</m:t>
                    </m:r>
                    <m:r>
                      <m:rPr>
                        <m:lit/>
                      </m:rPr>
                      <a:rPr lang="en-US" altLang="zh-CN" kern="100">
                        <a:latin typeface="Cambria Math" panose="02040503050406030204" pitchFamily="18" charset="0"/>
                        <a:ea typeface="仿宋_GB2312"/>
                        <a:cs typeface="Times New Roman" panose="02020603050405020304" pitchFamily="18" charset="0"/>
                      </a:rPr>
                      <m:t>{</m:t>
                    </m:r>
                    <m:r>
                      <a:rPr lang="en-US" altLang="zh-CN" kern="100">
                        <a:latin typeface="Cambria Math" panose="02040503050406030204" pitchFamily="18" charset="0"/>
                        <a:ea typeface="仿宋_GB2312"/>
                        <a:cs typeface="Times New Roman" panose="02020603050405020304" pitchFamily="18" charset="0"/>
                      </a:rPr>
                      <m:t>1,</m:t>
                    </m:r>
                    <m:r>
                      <a:rPr lang="zh-CN" altLang="zh-CN" kern="100">
                        <a:latin typeface="Cambria Math" panose="02040503050406030204" pitchFamily="18" charset="0"/>
                        <a:ea typeface="仿宋_GB2312"/>
                        <a:cs typeface="Times New Roman" panose="02020603050405020304" pitchFamily="18" charset="0"/>
                      </a:rPr>
                      <m:t>…</m:t>
                    </m:r>
                    <m:r>
                      <a:rPr lang="en-US" altLang="zh-CN" kern="100">
                        <a:latin typeface="Cambria Math" panose="02040503050406030204" pitchFamily="18" charset="0"/>
                        <a:ea typeface="仿宋_GB2312"/>
                        <a:cs typeface="Times New Roman" panose="02020603050405020304" pitchFamily="18" charset="0"/>
                      </a:rPr>
                      <m:t>,</m:t>
                    </m:r>
                    <m:r>
                      <m:rPr>
                        <m:sty m:val="p"/>
                      </m:rPr>
                      <a:rPr lang="en-US" altLang="zh-CN" kern="100">
                        <a:latin typeface="Cambria Math" panose="02040503050406030204" pitchFamily="18" charset="0"/>
                        <a:ea typeface="仿宋_GB2312"/>
                        <a:cs typeface="Times New Roman" panose="02020603050405020304" pitchFamily="18" charset="0"/>
                      </a:rPr>
                      <m:t>A</m:t>
                    </m:r>
                    <m:r>
                      <m:rPr>
                        <m:lit/>
                      </m:rPr>
                      <a:rPr lang="en-US" altLang="zh-CN" kern="100">
                        <a:latin typeface="Cambria Math" panose="02040503050406030204" pitchFamily="18" charset="0"/>
                        <a:ea typeface="仿宋_GB2312"/>
                        <a:cs typeface="Times New Roman" panose="02020603050405020304" pitchFamily="18" charset="0"/>
                      </a:rPr>
                      <m:t>}</m:t>
                    </m:r>
                  </m:oMath>
                </a14:m>
                <a:r>
                  <a:rPr lang="en-US" altLang="zh-CN" kern="100" dirty="0">
                    <a:latin typeface="Times New Roman" panose="02020603050405020304" pitchFamily="18" charset="0"/>
                    <a:ea typeface="仿宋_GB2312"/>
                  </a:rPr>
                  <a:t> </a:t>
                </a:r>
                <a:r>
                  <a:rPr lang="zh-CN" altLang="zh-CN" kern="100" dirty="0">
                    <a:latin typeface="Times New Roman" panose="02020603050405020304" pitchFamily="18" charset="0"/>
                    <a:ea typeface="仿宋_GB2312"/>
                    <a:cs typeface="Times New Roman" panose="02020603050405020304" pitchFamily="18" charset="0"/>
                  </a:rPr>
                  <a:t>进行打分：从当前隐状态出发，每个情景对应一份其余智能体首步动作的冻结样本，同一情景在全部</a:t>
                </a:r>
                <a14:m>
                  <m:oMath xmlns:m="http://schemas.openxmlformats.org/officeDocument/2006/math">
                    <m:r>
                      <a:rPr lang="zh-CN" altLang="zh-CN" kern="100">
                        <a:latin typeface="Cambria Math" panose="02040503050406030204" pitchFamily="18" charset="0"/>
                        <a:ea typeface="Cambria Math" panose="02040503050406030204" pitchFamily="18" charset="0"/>
                        <a:cs typeface="Times New Roman" panose="02020603050405020304" pitchFamily="18" charset="0"/>
                      </a:rPr>
                      <m:t> </m:t>
                    </m:r>
                    <m:r>
                      <m:rPr>
                        <m:sty m:val="p"/>
                      </m:rPr>
                      <a:rPr lang="en-US" altLang="zh-CN" kern="100">
                        <a:latin typeface="Cambria Math" panose="02040503050406030204" pitchFamily="18" charset="0"/>
                        <a:ea typeface="Cambria Math" panose="02040503050406030204" pitchFamily="18" charset="0"/>
                        <a:cs typeface="Times New Roman" panose="02020603050405020304" pitchFamily="18" charset="0"/>
                      </a:rPr>
                      <m:t>A</m:t>
                    </m:r>
                  </m:oMath>
                </a14:m>
                <a:r>
                  <a:rPr lang="zh-CN" altLang="zh-CN" kern="100" dirty="0">
                    <a:latin typeface="Times New Roman" panose="02020603050405020304" pitchFamily="18" charset="0"/>
                    <a:ea typeface="仿宋_GB2312"/>
                    <a:cs typeface="Times New Roman" panose="02020603050405020304" pitchFamily="18" charset="0"/>
                  </a:rPr>
                  <a:t>个候选间复用，使他人行为的随机性在候选间比较中相消；随后沿世界模型预测</a:t>
                </a:r>
                <a14:m>
                  <m:oMath xmlns:m="http://schemas.openxmlformats.org/officeDocument/2006/math">
                    <m:r>
                      <m:rPr>
                        <m:sty m:val="p"/>
                      </m:rPr>
                      <a:rPr lang="en-US" altLang="zh-CN" kern="100">
                        <a:latin typeface="Cambria Math" panose="02040503050406030204" pitchFamily="18" charset="0"/>
                        <a:ea typeface="仿宋_GB2312"/>
                        <a:cs typeface="Times New Roman" panose="02020603050405020304" pitchFamily="18" charset="0"/>
                      </a:rPr>
                      <m:t>K</m:t>
                    </m:r>
                  </m:oMath>
                </a14:m>
                <a:r>
                  <a:rPr lang="zh-CN" altLang="zh-CN" kern="100" dirty="0">
                    <a:latin typeface="Times New Roman" panose="02020603050405020304" pitchFamily="18" charset="0"/>
                    <a:ea typeface="仿宋_GB2312"/>
                    <a:cs typeface="Times New Roman" panose="02020603050405020304" pitchFamily="18" charset="0"/>
                  </a:rPr>
                  <a:t>步，逐步累积由主观奖励头预测的折扣收益，并在第</a:t>
                </a:r>
                <a14:m>
                  <m:oMath xmlns:m="http://schemas.openxmlformats.org/officeDocument/2006/math">
                    <m:r>
                      <a:rPr lang="zh-CN" altLang="zh-CN" kern="100">
                        <a:latin typeface="Cambria Math" panose="02040503050406030204" pitchFamily="18" charset="0"/>
                        <a:ea typeface="Cambria Math" panose="02040503050406030204" pitchFamily="18" charset="0"/>
                        <a:cs typeface="Times New Roman" panose="02020603050405020304" pitchFamily="18" charset="0"/>
                      </a:rPr>
                      <m:t> </m:t>
                    </m:r>
                    <m:r>
                      <m:rPr>
                        <m:sty m:val="p"/>
                      </m:rPr>
                      <a:rPr lang="en-US" altLang="zh-CN" kern="100">
                        <a:latin typeface="Cambria Math" panose="02040503050406030204" pitchFamily="18" charset="0"/>
                        <a:ea typeface="Cambria Math" panose="02040503050406030204" pitchFamily="18" charset="0"/>
                        <a:cs typeface="Times New Roman" panose="02020603050405020304" pitchFamily="18" charset="0"/>
                      </a:rPr>
                      <m:t>K</m:t>
                    </m:r>
                  </m:oMath>
                </a14:m>
                <a:r>
                  <a:rPr lang="zh-CN" altLang="zh-CN" kern="100" dirty="0">
                    <a:latin typeface="Times New Roman" panose="02020603050405020304" pitchFamily="18" charset="0"/>
                    <a:ea typeface="仿宋_GB2312"/>
                    <a:cs typeface="Times New Roman" panose="02020603050405020304" pitchFamily="18" charset="0"/>
                  </a:rPr>
                  <a:t>步以价值头的预测自举截断，得到该候选在该情景下的</a:t>
                </a:r>
                <a14:m>
                  <m:oMath xmlns:m="http://schemas.openxmlformats.org/officeDocument/2006/math">
                    <m:r>
                      <a:rPr lang="zh-CN" altLang="zh-CN" kern="100">
                        <a:latin typeface="Cambria Math" panose="02040503050406030204" pitchFamily="18" charset="0"/>
                        <a:ea typeface="Cambria Math" panose="02040503050406030204" pitchFamily="18" charset="0"/>
                        <a:cs typeface="Times New Roman" panose="02020603050405020304" pitchFamily="18" charset="0"/>
                      </a:rPr>
                      <m:t> </m:t>
                    </m:r>
                    <m:r>
                      <m:rPr>
                        <m:sty m:val="p"/>
                      </m:rPr>
                      <a:rPr lang="en-US" altLang="zh-CN" kern="100">
                        <a:latin typeface="Cambria Math" panose="02040503050406030204" pitchFamily="18" charset="0"/>
                        <a:ea typeface="Cambria Math" panose="02040503050406030204" pitchFamily="18" charset="0"/>
                        <a:cs typeface="Times New Roman" panose="02020603050405020304" pitchFamily="18" charset="0"/>
                      </a:rPr>
                      <m:t>K</m:t>
                    </m:r>
                  </m:oMath>
                </a14:m>
                <a:r>
                  <a:rPr lang="zh-CN" altLang="zh-CN" kern="100" dirty="0">
                    <a:latin typeface="Times New Roman" panose="02020603050405020304" pitchFamily="18" charset="0"/>
                    <a:ea typeface="仿宋_GB2312"/>
                    <a:cs typeface="Times New Roman" panose="02020603050405020304" pitchFamily="18" charset="0"/>
                  </a:rPr>
                  <a:t>步展开回报</a:t>
                </a:r>
                <a:r>
                  <a:rPr lang="zh-CN" altLang="en-US" kern="100" dirty="0">
                    <a:latin typeface="Times New Roman" panose="02020603050405020304" pitchFamily="18" charset="0"/>
                    <a:ea typeface="仿宋_GB2312"/>
                    <a:cs typeface="Times New Roman" panose="02020603050405020304" pitchFamily="18" charset="0"/>
                  </a:rPr>
                  <a:t>：</a:t>
                </a:r>
                <a:endParaRPr lang="en-US" altLang="zh-CN" kern="100" dirty="0">
                  <a:latin typeface="Times New Roman" panose="02020603050405020304" pitchFamily="18" charset="0"/>
                  <a:ea typeface="仿宋_GB2312"/>
                  <a:cs typeface="Times New Roman" panose="02020603050405020304" pitchFamily="18" charset="0"/>
                </a:endParaRPr>
              </a:p>
              <a:p>
                <a:pPr/>
                <a14:m>
                  <m:oMathPara xmlns:m="http://schemas.openxmlformats.org/officeDocument/2006/math">
                    <m:oMathParaPr>
                      <m:jc m:val="centerGroup"/>
                    </m:oMathParaPr>
                    <m:oMath xmlns:m="http://schemas.openxmlformats.org/officeDocument/2006/math">
                      <m:acc>
                        <m:accPr>
                          <m:chr m:val="̂"/>
                          <m:ctrlPr>
                            <a:rPr lang="zh-CN" altLang="zh-CN" i="1" smtClean="0">
                              <a:effectLst/>
                              <a:latin typeface="Cambria Math" panose="02040503050406030204" pitchFamily="18" charset="0"/>
                              <a:ea typeface="Cambria Math" panose="02040503050406030204" pitchFamily="18" charset="0"/>
                            </a:rPr>
                          </m:ctrlPr>
                        </m:accPr>
                        <m:e>
                          <m:sSub>
                            <m:sSubPr>
                              <m:ctrlPr>
                                <a:rPr lang="zh-CN" altLang="zh-CN" i="1">
                                  <a:effectLst/>
                                  <a:latin typeface="Cambria Math" panose="02040503050406030204" pitchFamily="18" charset="0"/>
                                  <a:ea typeface="Cambria Math" panose="02040503050406030204" pitchFamily="18" charset="0"/>
                                </a:rPr>
                              </m:ctrlPr>
                            </m:sSubPr>
                            <m:e>
                              <m:r>
                                <a:rPr lang="en-US" altLang="zh-CN" sz="1800" i="1" kern="100">
                                  <a:effectLst/>
                                  <a:latin typeface="Cambria Math" panose="02040503050406030204" pitchFamily="18" charset="0"/>
                                  <a:ea typeface="仿宋_GB2312"/>
                                  <a:cs typeface="Times New Roman" panose="02020603050405020304" pitchFamily="18" charset="0"/>
                                </a:rPr>
                                <m:t>𝑄</m:t>
                              </m:r>
                            </m:e>
                            <m:sub>
                              <m:r>
                                <a:rPr lang="en-US" altLang="zh-CN" sz="1800" i="1" kern="100">
                                  <a:effectLst/>
                                  <a:latin typeface="Cambria Math" panose="02040503050406030204" pitchFamily="18" charset="0"/>
                                  <a:ea typeface="仿宋_GB2312"/>
                                  <a:cs typeface="Times New Roman" panose="02020603050405020304" pitchFamily="18" charset="0"/>
                                </a:rPr>
                                <m:t>𝑖</m:t>
                              </m:r>
                            </m:sub>
                          </m:sSub>
                        </m:e>
                      </m:acc>
                      <m:d>
                        <m:dPr>
                          <m:ctrlPr>
                            <a:rPr lang="zh-CN" altLang="zh-CN" i="1">
                              <a:effectLst/>
                              <a:latin typeface="Cambria Math" panose="02040503050406030204" pitchFamily="18" charset="0"/>
                              <a:ea typeface="Cambria Math" panose="02040503050406030204" pitchFamily="18" charset="0"/>
                            </a:rPr>
                          </m:ctrlPr>
                        </m:dPr>
                        <m:e>
                          <m:r>
                            <a:rPr lang="en-US" altLang="zh-CN" sz="1800" i="1" kern="100">
                              <a:effectLst/>
                              <a:latin typeface="Cambria Math" panose="02040503050406030204" pitchFamily="18" charset="0"/>
                              <a:ea typeface="仿宋_GB2312"/>
                              <a:cs typeface="Times New Roman" panose="02020603050405020304" pitchFamily="18" charset="0"/>
                            </a:rPr>
                            <m:t>𝑎</m:t>
                          </m:r>
                        </m:e>
                      </m:d>
                      <m:r>
                        <a:rPr lang="en-US" altLang="zh-CN" sz="1800" i="1" kern="100">
                          <a:effectLst/>
                          <a:latin typeface="Cambria Math" panose="02040503050406030204" pitchFamily="18" charset="0"/>
                          <a:ea typeface="仿宋_GB2312"/>
                          <a:cs typeface="Times New Roman" panose="02020603050405020304" pitchFamily="18" charset="0"/>
                        </a:rPr>
                        <m:t> = </m:t>
                      </m:r>
                      <m:f>
                        <m:fPr>
                          <m:ctrlPr>
                            <a:rPr lang="zh-CN" altLang="zh-CN" i="1">
                              <a:effectLst/>
                              <a:latin typeface="Cambria Math" panose="02040503050406030204" pitchFamily="18" charset="0"/>
                              <a:ea typeface="Cambria Math" panose="02040503050406030204" pitchFamily="18" charset="0"/>
                            </a:rPr>
                          </m:ctrlPr>
                        </m:fPr>
                        <m:num>
                          <m:r>
                            <a:rPr lang="en-US" altLang="zh-CN" sz="1800" i="1" kern="100">
                              <a:effectLst/>
                              <a:latin typeface="Cambria Math" panose="02040503050406030204" pitchFamily="18" charset="0"/>
                              <a:ea typeface="仿宋_GB2312"/>
                              <a:cs typeface="Times New Roman" panose="02020603050405020304" pitchFamily="18" charset="0"/>
                            </a:rPr>
                            <m:t>1</m:t>
                          </m:r>
                        </m:num>
                        <m:den>
                          <m:r>
                            <a:rPr lang="en-US" altLang="zh-CN" sz="1800" i="1" kern="100">
                              <a:effectLst/>
                              <a:latin typeface="Cambria Math" panose="02040503050406030204" pitchFamily="18" charset="0"/>
                              <a:ea typeface="仿宋_GB2312"/>
                              <a:cs typeface="Times New Roman" panose="02020603050405020304" pitchFamily="18" charset="0"/>
                            </a:rPr>
                            <m:t>𝑀</m:t>
                          </m:r>
                        </m:den>
                      </m:f>
                      <m:nary>
                        <m:naryPr>
                          <m:chr m:val="∑"/>
                          <m:ctrlPr>
                            <a:rPr lang="zh-CN" altLang="zh-CN" i="1">
                              <a:effectLst/>
                              <a:latin typeface="Cambria Math" panose="02040503050406030204" pitchFamily="18" charset="0"/>
                              <a:ea typeface="Cambria Math" panose="02040503050406030204" pitchFamily="18" charset="0"/>
                            </a:rPr>
                          </m:ctrlPr>
                        </m:naryPr>
                        <m:sub>
                          <m:r>
                            <a:rPr lang="en-US" altLang="zh-CN" sz="1800" i="1" kern="100">
                              <a:effectLst/>
                              <a:latin typeface="Cambria Math" panose="02040503050406030204" pitchFamily="18" charset="0"/>
                              <a:ea typeface="仿宋_GB2312"/>
                              <a:cs typeface="Times New Roman" panose="02020603050405020304" pitchFamily="18" charset="0"/>
                            </a:rPr>
                            <m:t>𝑚</m:t>
                          </m:r>
                          <m:r>
                            <a:rPr lang="en-US" altLang="zh-CN" sz="1800" i="1" kern="100">
                              <a:effectLst/>
                              <a:latin typeface="Cambria Math" panose="02040503050406030204" pitchFamily="18" charset="0"/>
                              <a:ea typeface="仿宋_GB2312"/>
                              <a:cs typeface="Times New Roman" panose="02020603050405020304" pitchFamily="18" charset="0"/>
                            </a:rPr>
                            <m:t>=1</m:t>
                          </m:r>
                        </m:sub>
                        <m:sup>
                          <m:r>
                            <a:rPr lang="en-US" altLang="zh-CN" sz="1800" i="1" kern="100">
                              <a:effectLst/>
                              <a:latin typeface="Cambria Math" panose="02040503050406030204" pitchFamily="18" charset="0"/>
                              <a:ea typeface="仿宋_GB2312"/>
                              <a:cs typeface="Times New Roman" panose="02020603050405020304" pitchFamily="18" charset="0"/>
                            </a:rPr>
                            <m:t>𝑀</m:t>
                          </m:r>
                        </m:sup>
                        <m:e>
                          <m:d>
                            <m:dPr>
                              <m:begChr m:val="["/>
                              <m:endChr m:val="]"/>
                              <m:ctrlPr>
                                <a:rPr lang="zh-CN" altLang="zh-CN" i="1">
                                  <a:effectLst/>
                                  <a:latin typeface="Cambria Math" panose="02040503050406030204" pitchFamily="18" charset="0"/>
                                  <a:ea typeface="Cambria Math" panose="02040503050406030204" pitchFamily="18" charset="0"/>
                                </a:rPr>
                              </m:ctrlPr>
                            </m:dPr>
                            <m:e>
                              <m:nary>
                                <m:naryPr>
                                  <m:chr m:val="∑"/>
                                  <m:ctrlPr>
                                    <a:rPr lang="zh-CN" altLang="zh-CN" i="1">
                                      <a:effectLst/>
                                      <a:latin typeface="Cambria Math" panose="02040503050406030204" pitchFamily="18" charset="0"/>
                                      <a:ea typeface="Cambria Math" panose="02040503050406030204" pitchFamily="18" charset="0"/>
                                    </a:rPr>
                                  </m:ctrlPr>
                                </m:naryPr>
                                <m:sub>
                                  <m:r>
                                    <a:rPr lang="en-US" altLang="zh-CN" sz="1800" i="1" kern="100">
                                      <a:effectLst/>
                                      <a:latin typeface="Cambria Math" panose="02040503050406030204" pitchFamily="18" charset="0"/>
                                      <a:ea typeface="仿宋_GB2312"/>
                                      <a:cs typeface="Times New Roman" panose="02020603050405020304" pitchFamily="18" charset="0"/>
                                    </a:rPr>
                                    <m:t>𝑘</m:t>
                                  </m:r>
                                  <m:r>
                                    <a:rPr lang="en-US" altLang="zh-CN" sz="1800" i="1" kern="100">
                                      <a:effectLst/>
                                      <a:latin typeface="Cambria Math" panose="02040503050406030204" pitchFamily="18" charset="0"/>
                                      <a:ea typeface="仿宋_GB2312"/>
                                      <a:cs typeface="Times New Roman" panose="02020603050405020304" pitchFamily="18" charset="0"/>
                                    </a:rPr>
                                    <m:t>=0</m:t>
                                  </m:r>
                                </m:sub>
                                <m:sup>
                                  <m:r>
                                    <a:rPr lang="en-US" altLang="zh-CN" sz="1800" i="1" kern="100">
                                      <a:effectLst/>
                                      <a:latin typeface="Cambria Math" panose="02040503050406030204" pitchFamily="18" charset="0"/>
                                      <a:ea typeface="仿宋_GB2312"/>
                                      <a:cs typeface="Times New Roman" panose="02020603050405020304" pitchFamily="18" charset="0"/>
                                    </a:rPr>
                                    <m:t>𝐾</m:t>
                                  </m:r>
                                  <m:r>
                                    <a:rPr lang="en-US" altLang="zh-CN" sz="1800" i="1" kern="100">
                                      <a:effectLst/>
                                      <a:latin typeface="Cambria Math" panose="02040503050406030204" pitchFamily="18" charset="0"/>
                                      <a:ea typeface="仿宋_GB2312"/>
                                      <a:cs typeface="Times New Roman" panose="02020603050405020304" pitchFamily="18" charset="0"/>
                                    </a:rPr>
                                    <m:t>−1</m:t>
                                  </m:r>
                                </m:sup>
                                <m:e>
                                  <m:sSup>
                                    <m:sSupPr>
                                      <m:ctrlPr>
                                        <a:rPr lang="zh-CN" altLang="zh-CN" i="1">
                                          <a:effectLst/>
                                          <a:latin typeface="Cambria Math" panose="02040503050406030204" pitchFamily="18" charset="0"/>
                                          <a:ea typeface="Cambria Math" panose="02040503050406030204" pitchFamily="18" charset="0"/>
                                        </a:rPr>
                                      </m:ctrlPr>
                                    </m:sSupPr>
                                    <m:e>
                                      <m:r>
                                        <m:rPr>
                                          <m:sty m:val="p"/>
                                        </m:rPr>
                                        <a:rPr lang="en-US" altLang="zh-CN" sz="1800" kern="100">
                                          <a:effectLst/>
                                          <a:latin typeface="Cambria Math" panose="02040503050406030204" pitchFamily="18" charset="0"/>
                                          <a:ea typeface="仿宋_GB2312"/>
                                          <a:cs typeface="Times New Roman" panose="02020603050405020304" pitchFamily="18" charset="0"/>
                                        </a:rPr>
                                        <m:t>γ</m:t>
                                      </m:r>
                                    </m:e>
                                    <m:sup>
                                      <m:r>
                                        <a:rPr lang="en-US" altLang="zh-CN" sz="1800" i="1" kern="100">
                                          <a:effectLst/>
                                          <a:latin typeface="Cambria Math" panose="02040503050406030204" pitchFamily="18" charset="0"/>
                                          <a:ea typeface="仿宋_GB2312"/>
                                          <a:cs typeface="Times New Roman" panose="02020603050405020304" pitchFamily="18" charset="0"/>
                                        </a:rPr>
                                        <m:t>𝑘</m:t>
                                      </m:r>
                                    </m:sup>
                                  </m:sSup>
                                </m:e>
                              </m:nary>
                              <m:r>
                                <a:rPr lang="en-US" altLang="zh-CN" sz="1800" i="1" kern="100">
                                  <a:effectLst/>
                                  <a:latin typeface="Cambria Math" panose="02040503050406030204" pitchFamily="18" charset="0"/>
                                  <a:ea typeface="仿宋_GB2312"/>
                                  <a:cs typeface="Times New Roman" panose="02020603050405020304" pitchFamily="18" charset="0"/>
                                </a:rPr>
                                <m:t> </m:t>
                              </m:r>
                              <m:acc>
                                <m:accPr>
                                  <m:chr m:val="̂"/>
                                  <m:ctrlPr>
                                    <a:rPr lang="zh-CN" altLang="zh-CN" i="1">
                                      <a:effectLst/>
                                      <a:latin typeface="Cambria Math" panose="02040503050406030204" pitchFamily="18" charset="0"/>
                                      <a:ea typeface="Cambria Math" panose="02040503050406030204" pitchFamily="18" charset="0"/>
                                    </a:rPr>
                                  </m:ctrlPr>
                                </m:accPr>
                                <m:e>
                                  <m:sSubSup>
                                    <m:sSubSupPr>
                                      <m:ctrlPr>
                                        <a:rPr lang="zh-CN" altLang="zh-CN" i="1">
                                          <a:effectLst/>
                                          <a:latin typeface="Cambria Math" panose="02040503050406030204" pitchFamily="18" charset="0"/>
                                          <a:ea typeface="Cambria Math" panose="02040503050406030204" pitchFamily="18" charset="0"/>
                                        </a:rPr>
                                      </m:ctrlPr>
                                    </m:sSubSupPr>
                                    <m:e>
                                      <m:r>
                                        <a:rPr lang="en-US" altLang="zh-CN" sz="1800" i="1" kern="100">
                                          <a:effectLst/>
                                          <a:latin typeface="Cambria Math" panose="02040503050406030204" pitchFamily="18" charset="0"/>
                                          <a:ea typeface="仿宋_GB2312"/>
                                          <a:cs typeface="Times New Roman" panose="02020603050405020304" pitchFamily="18" charset="0"/>
                                        </a:rPr>
                                        <m:t>𝑟</m:t>
                                      </m:r>
                                    </m:e>
                                    <m:sub>
                                      <m:r>
                                        <a:rPr lang="en-US" altLang="zh-CN" sz="1800" i="1" kern="100">
                                          <a:effectLst/>
                                          <a:latin typeface="Cambria Math" panose="02040503050406030204" pitchFamily="18" charset="0"/>
                                          <a:ea typeface="仿宋_GB2312"/>
                                          <a:cs typeface="Times New Roman" panose="02020603050405020304" pitchFamily="18" charset="0"/>
                                        </a:rPr>
                                        <m:t>𝑘</m:t>
                                      </m:r>
                                      <m:r>
                                        <a:rPr lang="en-US" altLang="zh-CN" sz="1800" i="1" kern="100">
                                          <a:effectLst/>
                                          <a:latin typeface="Cambria Math" panose="02040503050406030204" pitchFamily="18" charset="0"/>
                                          <a:ea typeface="仿宋_GB2312"/>
                                          <a:cs typeface="Times New Roman" panose="02020603050405020304" pitchFamily="18" charset="0"/>
                                        </a:rPr>
                                        <m:t>,</m:t>
                                      </m:r>
                                      <m:r>
                                        <a:rPr lang="en-US" altLang="zh-CN" sz="1800" i="1" kern="100">
                                          <a:effectLst/>
                                          <a:latin typeface="Cambria Math" panose="02040503050406030204" pitchFamily="18" charset="0"/>
                                          <a:ea typeface="仿宋_GB2312"/>
                                          <a:cs typeface="Times New Roman" panose="02020603050405020304" pitchFamily="18" charset="0"/>
                                        </a:rPr>
                                        <m:t>𝑚</m:t>
                                      </m:r>
                                    </m:sub>
                                    <m:sup>
                                      <m:r>
                                        <a:rPr lang="en-US" altLang="zh-CN" sz="1800" i="1" kern="100">
                                          <a:effectLst/>
                                          <a:latin typeface="Cambria Math" panose="02040503050406030204" pitchFamily="18" charset="0"/>
                                          <a:ea typeface="仿宋_GB2312"/>
                                          <a:cs typeface="Times New Roman" panose="02020603050405020304" pitchFamily="18" charset="0"/>
                                        </a:rPr>
                                        <m:t> </m:t>
                                      </m:r>
                                      <m:r>
                                        <a:rPr lang="en-US" altLang="zh-CN" sz="1800" i="1" kern="100">
                                          <a:effectLst/>
                                          <a:latin typeface="Cambria Math" panose="02040503050406030204" pitchFamily="18" charset="0"/>
                                          <a:ea typeface="仿宋_GB2312"/>
                                          <a:cs typeface="Times New Roman" panose="02020603050405020304" pitchFamily="18" charset="0"/>
                                        </a:rPr>
                                        <m:t>𝑖</m:t>
                                      </m:r>
                                    </m:sup>
                                  </m:sSubSup>
                                </m:e>
                              </m:acc>
                              <m:r>
                                <a:rPr lang="en-US" altLang="zh-CN" sz="1800" i="1" kern="100">
                                  <a:effectLst/>
                                  <a:latin typeface="Cambria Math" panose="02040503050406030204" pitchFamily="18" charset="0"/>
                                  <a:ea typeface="仿宋_GB2312"/>
                                  <a:cs typeface="Times New Roman" panose="02020603050405020304" pitchFamily="18" charset="0"/>
                                </a:rPr>
                                <m:t> + </m:t>
                              </m:r>
                              <m:sSup>
                                <m:sSupPr>
                                  <m:ctrlPr>
                                    <a:rPr lang="zh-CN" altLang="zh-CN" i="1">
                                      <a:effectLst/>
                                      <a:latin typeface="Cambria Math" panose="02040503050406030204" pitchFamily="18" charset="0"/>
                                      <a:ea typeface="Cambria Math" panose="02040503050406030204" pitchFamily="18" charset="0"/>
                                    </a:rPr>
                                  </m:ctrlPr>
                                </m:sSupPr>
                                <m:e>
                                  <m:r>
                                    <m:rPr>
                                      <m:sty m:val="p"/>
                                    </m:rPr>
                                    <a:rPr lang="en-US" altLang="zh-CN" sz="1800" kern="100">
                                      <a:effectLst/>
                                      <a:latin typeface="Cambria Math" panose="02040503050406030204" pitchFamily="18" charset="0"/>
                                      <a:ea typeface="仿宋_GB2312"/>
                                      <a:cs typeface="Times New Roman" panose="02020603050405020304" pitchFamily="18" charset="0"/>
                                    </a:rPr>
                                    <m:t>γ</m:t>
                                  </m:r>
                                </m:e>
                                <m:sup>
                                  <m:r>
                                    <a:rPr lang="en-US" altLang="zh-CN" sz="1800" i="1" kern="100">
                                      <a:effectLst/>
                                      <a:latin typeface="Cambria Math" panose="02040503050406030204" pitchFamily="18" charset="0"/>
                                      <a:ea typeface="仿宋_GB2312"/>
                                      <a:cs typeface="Times New Roman" panose="02020603050405020304" pitchFamily="18" charset="0"/>
                                    </a:rPr>
                                    <m:t>𝐾</m:t>
                                  </m:r>
                                </m:sup>
                              </m:sSup>
                              <m:r>
                                <a:rPr lang="en-US" altLang="zh-CN" sz="1800" i="1" kern="100">
                                  <a:effectLst/>
                                  <a:latin typeface="Cambria Math" panose="02040503050406030204" pitchFamily="18" charset="0"/>
                                  <a:ea typeface="仿宋_GB2312"/>
                                  <a:cs typeface="Times New Roman" panose="02020603050405020304" pitchFamily="18" charset="0"/>
                                </a:rPr>
                                <m:t> </m:t>
                              </m:r>
                              <m:acc>
                                <m:accPr>
                                  <m:chr m:val="̂"/>
                                  <m:ctrlPr>
                                    <a:rPr lang="zh-CN" altLang="zh-CN" i="1">
                                      <a:effectLst/>
                                      <a:latin typeface="Cambria Math" panose="02040503050406030204" pitchFamily="18" charset="0"/>
                                      <a:ea typeface="Cambria Math" panose="02040503050406030204" pitchFamily="18" charset="0"/>
                                    </a:rPr>
                                  </m:ctrlPr>
                                </m:accPr>
                                <m:e>
                                  <m:sSub>
                                    <m:sSubPr>
                                      <m:ctrlPr>
                                        <a:rPr lang="zh-CN" altLang="zh-CN" i="1">
                                          <a:effectLst/>
                                          <a:latin typeface="Cambria Math" panose="02040503050406030204" pitchFamily="18" charset="0"/>
                                          <a:ea typeface="Cambria Math" panose="02040503050406030204" pitchFamily="18" charset="0"/>
                                        </a:rPr>
                                      </m:ctrlPr>
                                    </m:sSubPr>
                                    <m:e>
                                      <m:r>
                                        <a:rPr lang="en-US" altLang="zh-CN" sz="1800" i="1" kern="100">
                                          <a:effectLst/>
                                          <a:latin typeface="Cambria Math" panose="02040503050406030204" pitchFamily="18" charset="0"/>
                                          <a:ea typeface="仿宋_GB2312"/>
                                          <a:cs typeface="Times New Roman" panose="02020603050405020304" pitchFamily="18" charset="0"/>
                                        </a:rPr>
                                        <m:t>𝑉</m:t>
                                      </m:r>
                                    </m:e>
                                    <m:sub>
                                      <m:r>
                                        <a:rPr lang="en-US" altLang="zh-CN" sz="1800" i="1" kern="100">
                                          <a:effectLst/>
                                          <a:latin typeface="Cambria Math" panose="02040503050406030204" pitchFamily="18" charset="0"/>
                                          <a:ea typeface="仿宋_GB2312"/>
                                          <a:cs typeface="Times New Roman" panose="02020603050405020304" pitchFamily="18" charset="0"/>
                                        </a:rPr>
                                        <m:t>𝑖</m:t>
                                      </m:r>
                                    </m:sub>
                                  </m:sSub>
                                </m:e>
                              </m:acc>
                              <m:d>
                                <m:dPr>
                                  <m:ctrlPr>
                                    <a:rPr lang="zh-CN" altLang="zh-CN" i="1">
                                      <a:effectLst/>
                                      <a:latin typeface="Cambria Math" panose="02040503050406030204" pitchFamily="18" charset="0"/>
                                      <a:ea typeface="Cambria Math" panose="02040503050406030204" pitchFamily="18" charset="0"/>
                                    </a:rPr>
                                  </m:ctrlPr>
                                </m:dPr>
                                <m:e>
                                  <m:sSub>
                                    <m:sSubPr>
                                      <m:ctrlPr>
                                        <a:rPr lang="zh-CN" altLang="zh-CN" i="1">
                                          <a:effectLst/>
                                          <a:latin typeface="Cambria Math" panose="02040503050406030204" pitchFamily="18" charset="0"/>
                                          <a:ea typeface="Cambria Math" panose="02040503050406030204" pitchFamily="18" charset="0"/>
                                        </a:rPr>
                                      </m:ctrlPr>
                                    </m:sSubPr>
                                    <m:e>
                                      <m:r>
                                        <a:rPr lang="en-US" altLang="zh-CN" sz="1800" i="1" kern="100">
                                          <a:effectLst/>
                                          <a:latin typeface="Cambria Math" panose="02040503050406030204" pitchFamily="18" charset="0"/>
                                          <a:ea typeface="仿宋_GB2312"/>
                                          <a:cs typeface="Times New Roman" panose="02020603050405020304" pitchFamily="18" charset="0"/>
                                        </a:rPr>
                                        <m:t>𝑠</m:t>
                                      </m:r>
                                    </m:e>
                                    <m:sub>
                                      <m:r>
                                        <a:rPr lang="en-US" altLang="zh-CN" sz="1800" i="1" kern="100">
                                          <a:effectLst/>
                                          <a:latin typeface="Cambria Math" panose="02040503050406030204" pitchFamily="18" charset="0"/>
                                          <a:ea typeface="仿宋_GB2312"/>
                                          <a:cs typeface="Times New Roman" panose="02020603050405020304" pitchFamily="18" charset="0"/>
                                        </a:rPr>
                                        <m:t>𝐾</m:t>
                                      </m:r>
                                      <m:r>
                                        <a:rPr lang="en-US" altLang="zh-CN" sz="1800" i="1" kern="100">
                                          <a:effectLst/>
                                          <a:latin typeface="Cambria Math" panose="02040503050406030204" pitchFamily="18" charset="0"/>
                                          <a:ea typeface="仿宋_GB2312"/>
                                          <a:cs typeface="Times New Roman" panose="02020603050405020304" pitchFamily="18" charset="0"/>
                                        </a:rPr>
                                        <m:t>,</m:t>
                                      </m:r>
                                      <m:r>
                                        <a:rPr lang="en-US" altLang="zh-CN" sz="1800" i="1" kern="100">
                                          <a:effectLst/>
                                          <a:latin typeface="Cambria Math" panose="02040503050406030204" pitchFamily="18" charset="0"/>
                                          <a:ea typeface="仿宋_GB2312"/>
                                          <a:cs typeface="Times New Roman" panose="02020603050405020304" pitchFamily="18" charset="0"/>
                                        </a:rPr>
                                        <m:t>𝑚</m:t>
                                      </m:r>
                                    </m:sub>
                                  </m:sSub>
                                </m:e>
                              </m:d>
                            </m:e>
                          </m:d>
                        </m:e>
                      </m:nary>
                    </m:oMath>
                  </m:oMathPara>
                </a14:m>
                <a:endParaRPr lang="zh-CN" altLang="en-US" dirty="0"/>
              </a:p>
            </p:txBody>
          </p:sp>
        </mc:Choice>
        <mc:Fallback xmlns="">
          <p:sp>
            <p:nvSpPr>
              <p:cNvPr id="10" name="文本框 9">
                <a:extLst>
                  <a:ext uri="{FF2B5EF4-FFF2-40B4-BE49-F238E27FC236}">
                    <a16:creationId xmlns:a16="http://schemas.microsoft.com/office/drawing/2014/main" id="{E892F509-92E6-4BCE-8761-4D83E192A405}"/>
                  </a:ext>
                </a:extLst>
              </p:cNvPr>
              <p:cNvSpPr txBox="1">
                <a:spLocks noRot="1" noChangeAspect="1" noMove="1" noResize="1" noEditPoints="1" noAdjustHandles="1" noChangeArrowheads="1" noChangeShapeType="1" noTextEdit="1"/>
              </p:cNvSpPr>
              <p:nvPr/>
            </p:nvSpPr>
            <p:spPr>
              <a:xfrm>
                <a:off x="5933440" y="2608462"/>
                <a:ext cx="6096000" cy="3188693"/>
              </a:xfrm>
              <a:prstGeom prst="rect">
                <a:avLst/>
              </a:prstGeom>
              <a:blipFill>
                <a:blip r:embed="rId3"/>
                <a:stretch>
                  <a:fillRect l="-800" t="-1147" r="-900"/>
                </a:stretch>
              </a:blipFill>
            </p:spPr>
            <p:txBody>
              <a:bodyPr/>
              <a:lstStyle/>
              <a:p>
                <a:r>
                  <a:rPr lang="zh-CN" altLang="en-US">
                    <a:noFill/>
                  </a:rPr>
                  <a:t> </a:t>
                </a:r>
              </a:p>
            </p:txBody>
          </p:sp>
        </mc:Fallback>
      </mc:AlternateContent>
    </p:spTree>
    <p:extLst>
      <p:ext uri="{BB962C8B-B14F-4D97-AF65-F5344CB8AC3E}">
        <p14:creationId xmlns:p14="http://schemas.microsoft.com/office/powerpoint/2010/main" val="1779236394"/>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AD89165-713E-9687-3A75-5872327D71A9}"/>
            </a:ext>
          </a:extLst>
        </p:cNvPr>
        <p:cNvGrpSpPr/>
        <p:nvPr/>
      </p:nvGrpSpPr>
      <p:grpSpPr>
        <a:xfrm>
          <a:off x="0" y="0"/>
          <a:ext cx="0" cy="0"/>
          <a:chOff x="0" y="0"/>
          <a:chExt cx="0" cy="0"/>
        </a:xfrm>
      </p:grpSpPr>
      <p:sp>
        <p:nvSpPr>
          <p:cNvPr id="2" name="标题 1">
            <a:extLst>
              <a:ext uri="{FF2B5EF4-FFF2-40B4-BE49-F238E27FC236}">
                <a16:creationId xmlns:a16="http://schemas.microsoft.com/office/drawing/2014/main" id="{2B4B70F0-990E-9922-15B8-F4CB44A59E16}"/>
              </a:ext>
            </a:extLst>
          </p:cNvPr>
          <p:cNvSpPr txBox="1"/>
          <p:nvPr/>
        </p:nvSpPr>
        <p:spPr>
          <a:xfrm>
            <a:off x="0" y="0"/>
            <a:ext cx="12192000" cy="6858000"/>
          </a:xfrm>
          <a:prstGeom prst="rect">
            <a:avLst/>
          </a:prstGeom>
          <a:gradFill>
            <a:gsLst>
              <a:gs pos="0">
                <a:schemeClr val="accent1">
                  <a:lumMod val="5000"/>
                  <a:lumOff val="95000"/>
                  <a:alpha val="9000"/>
                </a:schemeClr>
              </a:gs>
              <a:gs pos="100000">
                <a:schemeClr val="accent1">
                  <a:lumMod val="60000"/>
                  <a:lumOff val="40000"/>
                  <a:alpha val="39000"/>
                </a:schemeClr>
              </a:gs>
            </a:gsLst>
            <a:lin ang="7200000" scaled="0"/>
          </a:gradFill>
          <a:ln w="19050" cap="sq">
            <a:noFill/>
            <a:miter/>
          </a:ln>
        </p:spPr>
        <p:txBody>
          <a:bodyPr vert="horz" wrap="square" lIns="91440" tIns="45720" rIns="91440" bIns="45720" rtlCol="0" anchor="ctr"/>
          <a:lstStyle/>
          <a:p>
            <a:pPr algn="ctr"/>
            <a:endParaRPr kumimoji="1" lang="zh-CN" altLang="en-US"/>
          </a:p>
        </p:txBody>
      </p:sp>
      <p:sp>
        <p:nvSpPr>
          <p:cNvPr id="4" name="Oval 4">
            <a:extLst>
              <a:ext uri="{FF2B5EF4-FFF2-40B4-BE49-F238E27FC236}">
                <a16:creationId xmlns:a16="http://schemas.microsoft.com/office/drawing/2014/main" id="{93BCE2CB-2158-FB75-B2D1-9B301697EFCD}"/>
              </a:ext>
            </a:extLst>
          </p:cNvPr>
          <p:cNvSpPr/>
          <p:nvPr/>
        </p:nvSpPr>
        <p:spPr>
          <a:xfrm>
            <a:off x="1613948" y="2545234"/>
            <a:ext cx="1817008" cy="1767531"/>
          </a:xfrm>
          <a:prstGeom prst="ellipse">
            <a:avLst/>
          </a:prstGeom>
          <a:blipFill dpi="0" rotWithShape="1">
            <a:blip r:embed="rId2">
              <a:alphaModFix amt="86000"/>
            </a:blip>
            <a:srcRect/>
            <a:stretch>
              <a:fillRect r="-33000"/>
            </a:stretch>
          </a:bli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6600" b="1" i="0" u="none" strike="noStrike" kern="1200" cap="none" spc="0" normalizeH="0" baseline="0" noProof="0" dirty="0">
                <a:ln>
                  <a:noFill/>
                </a:ln>
                <a:solidFill>
                  <a:prstClr val="white"/>
                </a:solidFill>
                <a:effectLst/>
                <a:uLnTx/>
                <a:uFillTx/>
                <a:latin typeface="Arial Black" panose="020B0A04020102020204" pitchFamily="34" charset="0"/>
                <a:ea typeface="字魂59号-创粗黑" panose="00000500000000000000" pitchFamily="2" charset="-122"/>
                <a:cs typeface="+mn-cs"/>
                <a:sym typeface="字魂59号-创粗黑" panose="00000500000000000000" pitchFamily="2" charset="-122"/>
              </a:rPr>
              <a:t>3</a:t>
            </a:r>
            <a:endParaRPr kumimoji="0" lang="id-ID" sz="6600" b="1" i="0" u="none" strike="noStrike" kern="1200" cap="none" spc="0" normalizeH="0" baseline="0" noProof="0" dirty="0">
              <a:ln>
                <a:noFill/>
              </a:ln>
              <a:solidFill>
                <a:prstClr val="white"/>
              </a:solidFill>
              <a:effectLst/>
              <a:uLnTx/>
              <a:uFillTx/>
              <a:latin typeface="Arial Black" panose="020B0A04020102020204" pitchFamily="34" charset="0"/>
              <a:ea typeface="字魂59号-创粗黑" panose="00000500000000000000" pitchFamily="2" charset="-122"/>
              <a:cs typeface="+mn-cs"/>
              <a:sym typeface="字魂59号-创粗黑" panose="00000500000000000000" pitchFamily="2" charset="-122"/>
            </a:endParaRPr>
          </a:p>
        </p:txBody>
      </p:sp>
      <p:sp>
        <p:nvSpPr>
          <p:cNvPr id="7" name="文本框 6">
            <a:extLst>
              <a:ext uri="{FF2B5EF4-FFF2-40B4-BE49-F238E27FC236}">
                <a16:creationId xmlns:a16="http://schemas.microsoft.com/office/drawing/2014/main" id="{EC82B469-8C44-31E3-A04F-D64255E206FE}"/>
              </a:ext>
            </a:extLst>
          </p:cNvPr>
          <p:cNvSpPr txBox="1"/>
          <p:nvPr/>
        </p:nvSpPr>
        <p:spPr>
          <a:xfrm>
            <a:off x="4786831" y="2852177"/>
            <a:ext cx="7243492" cy="1015663"/>
          </a:xfrm>
          <a:prstGeom prst="rect">
            <a:avLst/>
          </a:prstGeom>
          <a:noFill/>
        </p:spPr>
        <p:txBody>
          <a:bodyPr wrap="square">
            <a:spAutoFit/>
          </a:bodyPr>
          <a:lstStyle/>
          <a:p>
            <a:r>
              <a:rPr lang="zh-CN" altLang="en-US" sz="6000" b="1" dirty="0">
                <a:solidFill>
                  <a:srgbClr val="2B77CC"/>
                </a:solidFill>
                <a:latin typeface="微软雅黑" panose="020B0503020204020204" pitchFamily="34" charset="-122"/>
                <a:ea typeface="微软雅黑" panose="020B0503020204020204" pitchFamily="34" charset="-122"/>
                <a:cs typeface="Times New Roman" panose="02020603050405020304" pitchFamily="18" charset="0"/>
              </a:rPr>
              <a:t>研究进展与实验验证</a:t>
            </a:r>
          </a:p>
        </p:txBody>
      </p:sp>
      <p:sp>
        <p:nvSpPr>
          <p:cNvPr id="16" name="矩形 15">
            <a:extLst>
              <a:ext uri="{FF2B5EF4-FFF2-40B4-BE49-F238E27FC236}">
                <a16:creationId xmlns:a16="http://schemas.microsoft.com/office/drawing/2014/main" id="{87FD361A-C374-84B3-8097-B46A52C6C507}"/>
              </a:ext>
            </a:extLst>
          </p:cNvPr>
          <p:cNvSpPr/>
          <p:nvPr/>
        </p:nvSpPr>
        <p:spPr>
          <a:xfrm>
            <a:off x="4143736" y="482600"/>
            <a:ext cx="279400" cy="5892800"/>
          </a:xfrm>
          <a:prstGeom prst="rect">
            <a:avLst/>
          </a:prstGeom>
          <a:gradFill flip="none" rotWithShape="1">
            <a:gsLst>
              <a:gs pos="0">
                <a:schemeClr val="accent1">
                  <a:tint val="66000"/>
                  <a:satMod val="160000"/>
                </a:schemeClr>
              </a:gs>
              <a:gs pos="50000">
                <a:schemeClr val="accent1">
                  <a:tint val="44500"/>
                  <a:satMod val="160000"/>
                </a:schemeClr>
              </a:gs>
              <a:gs pos="100000">
                <a:schemeClr val="accent1">
                  <a:tint val="23500"/>
                  <a:satMod val="160000"/>
                </a:schemeClr>
              </a:gs>
            </a:gsLst>
            <a:lin ang="18900000" scaled="1"/>
            <a:tileRect/>
          </a:gradFill>
          <a:ln>
            <a:solidFill>
              <a:schemeClr val="tx2">
                <a:lumMod val="60000"/>
                <a:lumOff val="40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spTree>
    <p:extLst>
      <p:ext uri="{BB962C8B-B14F-4D97-AF65-F5344CB8AC3E}">
        <p14:creationId xmlns:p14="http://schemas.microsoft.com/office/powerpoint/2010/main" val="3764319890"/>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BA699CE-EEF7-5DA9-1F51-B09A89151B08}"/>
            </a:ext>
          </a:extLst>
        </p:cNvPr>
        <p:cNvGrpSpPr/>
        <p:nvPr/>
      </p:nvGrpSpPr>
      <p:grpSpPr>
        <a:xfrm>
          <a:off x="0" y="0"/>
          <a:ext cx="0" cy="0"/>
          <a:chOff x="0" y="0"/>
          <a:chExt cx="0" cy="0"/>
        </a:xfrm>
      </p:grpSpPr>
      <p:sp>
        <p:nvSpPr>
          <p:cNvPr id="11" name="标题 1">
            <a:extLst>
              <a:ext uri="{FF2B5EF4-FFF2-40B4-BE49-F238E27FC236}">
                <a16:creationId xmlns:a16="http://schemas.microsoft.com/office/drawing/2014/main" id="{D60E0B74-E09E-63D4-F646-7D9FA126A7EC}"/>
              </a:ext>
            </a:extLst>
          </p:cNvPr>
          <p:cNvSpPr txBox="1"/>
          <p:nvPr/>
        </p:nvSpPr>
        <p:spPr>
          <a:xfrm>
            <a:off x="363891" y="471047"/>
            <a:ext cx="296509" cy="296509"/>
          </a:xfrm>
          <a:prstGeom prst="ellipse">
            <a:avLst/>
          </a:prstGeom>
          <a:solidFill>
            <a:schemeClr val="accent1">
              <a:lumMod val="60000"/>
              <a:lumOff val="40000"/>
            </a:schemeClr>
          </a:solidFill>
          <a:ln w="12700" cap="sq">
            <a:noFill/>
            <a:prstDash val="solid"/>
            <a:miter/>
          </a:ln>
        </p:spPr>
        <p:txBody>
          <a:bodyPr vert="horz" wrap="square" lIns="91440" tIns="45720" rIns="91440" bIns="45720" rtlCol="0" anchor="ctr"/>
          <a:lstStyle/>
          <a:p>
            <a:pPr algn="ctr"/>
            <a:endParaRPr kumimoji="1" lang="zh-CN" altLang="en-US"/>
          </a:p>
        </p:txBody>
      </p:sp>
      <p:sp>
        <p:nvSpPr>
          <p:cNvPr id="2" name="标题 1">
            <a:extLst>
              <a:ext uri="{FF2B5EF4-FFF2-40B4-BE49-F238E27FC236}">
                <a16:creationId xmlns:a16="http://schemas.microsoft.com/office/drawing/2014/main" id="{A96EB2A1-F7E3-17C5-AC7F-C39CCDCA7CF7}"/>
              </a:ext>
            </a:extLst>
          </p:cNvPr>
          <p:cNvSpPr txBox="1"/>
          <p:nvPr/>
        </p:nvSpPr>
        <p:spPr>
          <a:xfrm>
            <a:off x="787215" y="385281"/>
            <a:ext cx="5308785" cy="468000"/>
          </a:xfrm>
          <a:prstGeom prst="rect">
            <a:avLst/>
          </a:prstGeom>
          <a:noFill/>
          <a:ln cap="sq">
            <a:noFill/>
          </a:ln>
        </p:spPr>
        <p:txBody>
          <a:bodyPr vert="horz" wrap="square" lIns="0" tIns="0" rIns="0" bIns="0" rtlCol="0" anchor="ctr"/>
          <a:lstStyle/>
          <a:p>
            <a:r>
              <a:rPr lang="zh-CN" altLang="en-US" sz="2800" b="1" dirty="0">
                <a:solidFill>
                  <a:srgbClr val="2B77CC"/>
                </a:solidFill>
                <a:latin typeface="微软雅黑" panose="020B0503020204020204" pitchFamily="34" charset="-122"/>
                <a:ea typeface="微软雅黑" panose="020B0503020204020204" pitchFamily="34" charset="-122"/>
                <a:cs typeface="Times New Roman" panose="02020603050405020304" pitchFamily="18" charset="0"/>
              </a:rPr>
              <a:t>实验设计</a:t>
            </a:r>
          </a:p>
        </p:txBody>
      </p:sp>
      <mc:AlternateContent xmlns:mc="http://schemas.openxmlformats.org/markup-compatibility/2006">
        <mc:Choice xmlns:a14="http://schemas.microsoft.com/office/drawing/2010/main" Requires="a14">
          <p:sp>
            <p:nvSpPr>
              <p:cNvPr id="4" name="文本框 3">
                <a:extLst>
                  <a:ext uri="{FF2B5EF4-FFF2-40B4-BE49-F238E27FC236}">
                    <a16:creationId xmlns:a16="http://schemas.microsoft.com/office/drawing/2014/main" id="{62F77A28-E252-4A34-8712-A5E2EFB2CD5A}"/>
                  </a:ext>
                </a:extLst>
              </p:cNvPr>
              <p:cNvSpPr txBox="1"/>
              <p:nvPr/>
            </p:nvSpPr>
            <p:spPr>
              <a:xfrm>
                <a:off x="1432560" y="1442720"/>
                <a:ext cx="8930640" cy="3292312"/>
              </a:xfrm>
              <a:prstGeom prst="rect">
                <a:avLst/>
              </a:prstGeom>
              <a:noFill/>
            </p:spPr>
            <p:txBody>
              <a:bodyPr wrap="square" rtlCol="0">
                <a:spAutoFit/>
              </a:bodyPr>
              <a:lstStyle/>
              <a:p>
                <a:r>
                  <a:rPr lang="zh-CN" altLang="zh-CN" sz="1800" kern="100" dirty="0">
                    <a:effectLst/>
                    <a:latin typeface="微软雅黑" panose="020B0503020204020204" pitchFamily="34" charset="-122"/>
                    <a:ea typeface="微软雅黑" panose="020B0503020204020204" pitchFamily="34" charset="-122"/>
                    <a:cs typeface="Times New Roman" panose="02020603050405020304" pitchFamily="18" charset="0"/>
                  </a:rPr>
                  <a:t>实验基于</a:t>
                </a:r>
                <a:r>
                  <a:rPr lang="zh-CN" altLang="zh-CN" sz="1800" kern="100" dirty="0">
                    <a:effectLst/>
                    <a:latin typeface="微软雅黑" panose="020B0503020204020204" pitchFamily="34" charset="-122"/>
                    <a:ea typeface="微软雅黑" panose="020B0503020204020204" pitchFamily="34" charset="-122"/>
                  </a:rPr>
                  <a:t> </a:t>
                </a:r>
                <a:r>
                  <a:rPr lang="en-US" altLang="zh-CN" sz="1800" kern="100" dirty="0" err="1">
                    <a:effectLst/>
                    <a:latin typeface="微软雅黑" panose="020B0503020204020204" pitchFamily="34" charset="-122"/>
                    <a:ea typeface="微软雅黑" panose="020B0503020204020204" pitchFamily="34" charset="-122"/>
                  </a:rPr>
                  <a:t>RelationCommons</a:t>
                </a:r>
                <a:r>
                  <a:rPr lang="en-US" altLang="zh-CN" sz="1800" kern="100" dirty="0">
                    <a:effectLst/>
                    <a:latin typeface="微软雅黑" panose="020B0503020204020204" pitchFamily="34" charset="-122"/>
                    <a:ea typeface="微软雅黑" panose="020B0503020204020204" pitchFamily="34" charset="-122"/>
                  </a:rPr>
                  <a:t> </a:t>
                </a:r>
                <a:r>
                  <a:rPr lang="zh-CN" altLang="zh-CN" sz="1800" kern="100" dirty="0">
                    <a:effectLst/>
                    <a:latin typeface="微软雅黑" panose="020B0503020204020204" pitchFamily="34" charset="-122"/>
                    <a:ea typeface="微软雅黑" panose="020B0503020204020204" pitchFamily="34" charset="-122"/>
                    <a:cs typeface="Times New Roman" panose="02020603050405020304" pitchFamily="18" charset="0"/>
                  </a:rPr>
                  <a:t>多智能体资源采集仿真环境，遵循</a:t>
                </a:r>
                <a:r>
                  <a:rPr lang="en-US" altLang="zh-CN" sz="1800" kern="100" dirty="0">
                    <a:effectLst/>
                    <a:latin typeface="微软雅黑" panose="020B0503020204020204" pitchFamily="34" charset="-122"/>
                    <a:ea typeface="微软雅黑" panose="020B0503020204020204" pitchFamily="34" charset="-122"/>
                  </a:rPr>
                  <a:t> </a:t>
                </a:r>
                <a:r>
                  <a:rPr lang="en-US" altLang="zh-CN" sz="1800" kern="100" dirty="0" err="1">
                    <a:effectLst/>
                    <a:latin typeface="微软雅黑" panose="020B0503020204020204" pitchFamily="34" charset="-122"/>
                    <a:ea typeface="微软雅黑" panose="020B0503020204020204" pitchFamily="34" charset="-122"/>
                  </a:rPr>
                  <a:t>OpenAI</a:t>
                </a:r>
                <a:r>
                  <a:rPr lang="en-US" altLang="zh-CN" sz="1800" kern="100" dirty="0">
                    <a:effectLst/>
                    <a:latin typeface="微软雅黑" panose="020B0503020204020204" pitchFamily="34" charset="-122"/>
                    <a:ea typeface="微软雅黑" panose="020B0503020204020204" pitchFamily="34" charset="-122"/>
                  </a:rPr>
                  <a:t> Gym </a:t>
                </a:r>
                <a:r>
                  <a:rPr lang="zh-CN" altLang="zh-CN" sz="1800" kern="100" dirty="0">
                    <a:effectLst/>
                    <a:latin typeface="微软雅黑" panose="020B0503020204020204" pitchFamily="34" charset="-122"/>
                    <a:ea typeface="微软雅黑" panose="020B0503020204020204" pitchFamily="34" charset="-122"/>
                    <a:cs typeface="Times New Roman" panose="02020603050405020304" pitchFamily="18" charset="0"/>
                  </a:rPr>
                  <a:t>接口规范。当前实验</a:t>
                </a:r>
                <a14:m>
                  <m:oMath xmlns:m="http://schemas.openxmlformats.org/officeDocument/2006/math">
                    <m:r>
                      <m:rPr>
                        <m:sty m:val="p"/>
                      </m:rPr>
                      <a:rPr lang="en-US" altLang="zh-CN" sz="1800" kern="100">
                        <a:effectLst/>
                        <a:latin typeface="Cambria Math" panose="02040503050406030204" pitchFamily="18" charset="0"/>
                        <a:ea typeface="仿宋_GB2312"/>
                        <a:cs typeface="Times New Roman" panose="02020603050405020304" pitchFamily="18" charset="0"/>
                      </a:rPr>
                      <m:t>L</m:t>
                    </m:r>
                    <m:r>
                      <a:rPr lang="zh-CN" altLang="zh-CN" sz="1800" kern="100">
                        <a:effectLst/>
                        <a:latin typeface="Cambria Math" panose="02040503050406030204" pitchFamily="18" charset="0"/>
                        <a:ea typeface="仿宋_GB2312"/>
                        <a:cs typeface="Times New Roman" panose="02020603050405020304" pitchFamily="18" charset="0"/>
                      </a:rPr>
                      <m:t>×</m:t>
                    </m:r>
                    <m:r>
                      <m:rPr>
                        <m:sty m:val="p"/>
                      </m:rPr>
                      <a:rPr lang="en-US" altLang="zh-CN" sz="1800" kern="100">
                        <a:effectLst/>
                        <a:latin typeface="Cambria Math" panose="02040503050406030204" pitchFamily="18" charset="0"/>
                        <a:ea typeface="仿宋_GB2312"/>
                        <a:cs typeface="Times New Roman" panose="02020603050405020304" pitchFamily="18" charset="0"/>
                      </a:rPr>
                      <m:t>L</m:t>
                    </m:r>
                    <m:r>
                      <a:rPr lang="en-US" altLang="zh-CN" sz="1800" kern="100">
                        <a:effectLst/>
                        <a:latin typeface="Cambria Math" panose="02040503050406030204" pitchFamily="18" charset="0"/>
                        <a:ea typeface="仿宋_GB2312"/>
                        <a:cs typeface="Times New Roman" panose="02020603050405020304" pitchFamily="18" charset="0"/>
                      </a:rPr>
                      <m:t>=8×8</m:t>
                    </m:r>
                  </m:oMath>
                </a14:m>
                <a:r>
                  <a:rPr lang="zh-CN" altLang="zh-CN" sz="1800" kern="100" dirty="0">
                    <a:effectLst/>
                    <a:latin typeface="微软雅黑" panose="020B0503020204020204" pitchFamily="34" charset="-122"/>
                    <a:ea typeface="微软雅黑" panose="020B0503020204020204" pitchFamily="34" charset="-122"/>
                    <a:cs typeface="Times New Roman" panose="02020603050405020304" pitchFamily="18" charset="0"/>
                  </a:rPr>
                  <a:t>网格、</a:t>
                </a:r>
                <a14:m>
                  <m:oMath xmlns:m="http://schemas.openxmlformats.org/officeDocument/2006/math">
                    <m:r>
                      <m:rPr>
                        <m:sty m:val="p"/>
                      </m:rPr>
                      <a:rPr lang="en-US" altLang="zh-CN" sz="1800" kern="100">
                        <a:effectLst/>
                        <a:latin typeface="Cambria Math" panose="02040503050406030204" pitchFamily="18" charset="0"/>
                        <a:ea typeface="仿宋_GB2312"/>
                        <a:cs typeface="Times New Roman" panose="02020603050405020304" pitchFamily="18" charset="0"/>
                      </a:rPr>
                      <m:t>K</m:t>
                    </m:r>
                    <m:r>
                      <a:rPr lang="en-US" altLang="zh-CN" sz="1800" kern="100">
                        <a:effectLst/>
                        <a:latin typeface="Cambria Math" panose="02040503050406030204" pitchFamily="18" charset="0"/>
                        <a:ea typeface="仿宋_GB2312"/>
                        <a:cs typeface="Times New Roman" panose="02020603050405020304" pitchFamily="18" charset="0"/>
                      </a:rPr>
                      <m:t>=8</m:t>
                    </m:r>
                  </m:oMath>
                </a14:m>
                <a:r>
                  <a:rPr lang="zh-CN" altLang="zh-CN" sz="1800" kern="100" dirty="0">
                    <a:effectLst/>
                    <a:latin typeface="微软雅黑" panose="020B0503020204020204" pitchFamily="34" charset="-122"/>
                    <a:ea typeface="微软雅黑" panose="020B0503020204020204" pitchFamily="34" charset="-122"/>
                    <a:cs typeface="Times New Roman" panose="02020603050405020304" pitchFamily="18" charset="0"/>
                  </a:rPr>
                  <a:t>个资源点、回合长度</a:t>
                </a:r>
                <a14:m>
                  <m:oMath xmlns:m="http://schemas.openxmlformats.org/officeDocument/2006/math">
                    <m:sSub>
                      <m:sSubPr>
                        <m:ctrlPr>
                          <a:rPr lang="zh-CN" altLang="zh-CN" i="1">
                            <a:effectLst/>
                            <a:latin typeface="Cambria Math" panose="02040503050406030204" pitchFamily="18" charset="0"/>
                            <a:ea typeface="Cambria Math" panose="02040503050406030204" pitchFamily="18" charset="0"/>
                          </a:rPr>
                        </m:ctrlPr>
                      </m:sSubPr>
                      <m:e>
                        <m:r>
                          <m:rPr>
                            <m:sty m:val="p"/>
                          </m:rPr>
                          <a:rPr lang="en-US" altLang="zh-CN" sz="1800" kern="100">
                            <a:effectLst/>
                            <a:latin typeface="Cambria Math" panose="02040503050406030204" pitchFamily="18" charset="0"/>
                            <a:ea typeface="仿宋_GB2312"/>
                            <a:cs typeface="Times New Roman" panose="02020603050405020304" pitchFamily="18" charset="0"/>
                          </a:rPr>
                          <m:t>T</m:t>
                        </m:r>
                      </m:e>
                      <m:sub>
                        <m:r>
                          <m:rPr>
                            <m:sty m:val="p"/>
                          </m:rPr>
                          <a:rPr lang="en-US" altLang="zh-CN" sz="1800" kern="100">
                            <a:effectLst/>
                            <a:latin typeface="Cambria Math" panose="02040503050406030204" pitchFamily="18" charset="0"/>
                            <a:ea typeface="仿宋_GB2312"/>
                            <a:cs typeface="Times New Roman" panose="02020603050405020304" pitchFamily="18" charset="0"/>
                          </a:rPr>
                          <m:t>max</m:t>
                        </m:r>
                      </m:sub>
                    </m:sSub>
                    <m:r>
                      <a:rPr lang="en-US" altLang="zh-CN" sz="1800" kern="100">
                        <a:effectLst/>
                        <a:latin typeface="Cambria Math" panose="02040503050406030204" pitchFamily="18" charset="0"/>
                        <a:ea typeface="仿宋_GB2312"/>
                        <a:cs typeface="Times New Roman" panose="02020603050405020304" pitchFamily="18" charset="0"/>
                      </a:rPr>
                      <m:t>=100</m:t>
                    </m:r>
                  </m:oMath>
                </a14:m>
                <a:r>
                  <a:rPr lang="zh-CN" altLang="zh-CN" sz="1800" kern="100" dirty="0">
                    <a:effectLst/>
                    <a:latin typeface="微软雅黑" panose="020B0503020204020204" pitchFamily="34" charset="-122"/>
                    <a:ea typeface="微软雅黑" panose="020B0503020204020204" pitchFamily="34" charset="-122"/>
                    <a:cs typeface="Times New Roman" panose="02020603050405020304" pitchFamily="18" charset="0"/>
                  </a:rPr>
                  <a:t>。每个智能体在每一步从</a:t>
                </a:r>
                <a:r>
                  <a:rPr lang="en-US" altLang="zh-CN" sz="1800" kern="100" dirty="0">
                    <a:effectLst/>
                    <a:latin typeface="微软雅黑" panose="020B0503020204020204" pitchFamily="34" charset="-122"/>
                    <a:ea typeface="微软雅黑" panose="020B0503020204020204" pitchFamily="34" charset="-122"/>
                  </a:rPr>
                  <a:t> 6 </a:t>
                </a:r>
                <a:r>
                  <a:rPr lang="zh-CN" altLang="zh-CN" sz="1800" kern="100" dirty="0">
                    <a:effectLst/>
                    <a:latin typeface="微软雅黑" panose="020B0503020204020204" pitchFamily="34" charset="-122"/>
                    <a:ea typeface="微软雅黑" panose="020B0503020204020204" pitchFamily="34" charset="-122"/>
                    <a:cs typeface="Times New Roman" panose="02020603050405020304" pitchFamily="18" charset="0"/>
                  </a:rPr>
                  <a:t>个离散动作中选择一个：静止、上下左右移动、采集；当多个智能体同时处于同一资源点时，该点产出按人数均分。</a:t>
                </a:r>
                <a:endParaRPr lang="en-US" altLang="zh-CN" sz="1800" kern="100" dirty="0">
                  <a:effectLst/>
                  <a:latin typeface="微软雅黑" panose="020B0503020204020204" pitchFamily="34" charset="-122"/>
                  <a:ea typeface="微软雅黑" panose="020B0503020204020204" pitchFamily="34" charset="-122"/>
                  <a:cs typeface="Times New Roman" panose="02020603050405020304" pitchFamily="18" charset="0"/>
                </a:endParaRPr>
              </a:p>
              <a:p>
                <a:pPr indent="304800" algn="just"/>
                <a:r>
                  <a:rPr lang="zh-CN" altLang="zh-CN" sz="1800" kern="100" dirty="0">
                    <a:effectLst/>
                    <a:latin typeface="微软雅黑" panose="020B0503020204020204" pitchFamily="34" charset="-122"/>
                    <a:ea typeface="微软雅黑" panose="020B0503020204020204" pitchFamily="34" charset="-122"/>
                    <a:cs typeface="Times New Roman" panose="02020603050405020304" pitchFamily="18" charset="0"/>
                  </a:rPr>
                  <a:t>设关系构型</a:t>
                </a:r>
                <a14:m>
                  <m:oMath xmlns:m="http://schemas.openxmlformats.org/officeDocument/2006/math">
                    <m:r>
                      <a:rPr lang="zh-CN" altLang="zh-CN" sz="1800" kern="100">
                        <a:effectLst/>
                        <a:latin typeface="Cambria Math" panose="02040503050406030204" pitchFamily="18" charset="0"/>
                        <a:ea typeface="Cambria Math" panose="02040503050406030204" pitchFamily="18" charset="0"/>
                        <a:cs typeface="Times New Roman" panose="02020603050405020304" pitchFamily="18" charset="0"/>
                      </a:rPr>
                      <m:t> </m:t>
                    </m:r>
                    <m:r>
                      <m:rPr>
                        <m:sty m:val="p"/>
                      </m:rPr>
                      <a:rPr lang="en-US" altLang="zh-CN" sz="1800" kern="100">
                        <a:effectLst/>
                        <a:latin typeface="Cambria Math" panose="02040503050406030204" pitchFamily="18" charset="0"/>
                        <a:ea typeface="Cambria Math" panose="02040503050406030204" pitchFamily="18" charset="0"/>
                        <a:cs typeface="Times New Roman" panose="02020603050405020304" pitchFamily="18" charset="0"/>
                      </a:rPr>
                      <m:t>g</m:t>
                    </m:r>
                  </m:oMath>
                </a14:m>
                <a:r>
                  <a:rPr lang="zh-CN" altLang="zh-CN" sz="1800" kern="100" dirty="0">
                    <a:effectLst/>
                    <a:latin typeface="微软雅黑" panose="020B0503020204020204" pitchFamily="34" charset="-122"/>
                    <a:ea typeface="微软雅黑" panose="020B0503020204020204" pitchFamily="34" charset="-122"/>
                    <a:cs typeface="Times New Roman" panose="02020603050405020304" pitchFamily="18" charset="0"/>
                  </a:rPr>
                  <a:t>对应关系矩阵</a:t>
                </a:r>
                <a14:m>
                  <m:oMath xmlns:m="http://schemas.openxmlformats.org/officeDocument/2006/math">
                    <m:r>
                      <m:rPr>
                        <m:sty m:val="p"/>
                      </m:rPr>
                      <a:rPr lang="en-US" altLang="zh-CN" sz="1800" kern="100">
                        <a:effectLst/>
                        <a:latin typeface="Cambria Math" panose="02040503050406030204" pitchFamily="18" charset="0"/>
                        <a:ea typeface="仿宋_GB2312"/>
                        <a:cs typeface="Times New Roman" panose="02020603050405020304" pitchFamily="18" charset="0"/>
                      </a:rPr>
                      <m:t>W</m:t>
                    </m:r>
                    <m:d>
                      <m:dPr>
                        <m:ctrlPr>
                          <a:rPr lang="zh-CN" altLang="zh-CN" sz="1800" i="1" kern="100">
                            <a:effectLst/>
                            <a:latin typeface="Cambria Math" panose="02040503050406030204" pitchFamily="18" charset="0"/>
                            <a:ea typeface="Cambria Math" panose="02040503050406030204" pitchFamily="18" charset="0"/>
                            <a:cs typeface="Times New Roman" panose="02020603050405020304" pitchFamily="18" charset="0"/>
                          </a:rPr>
                        </m:ctrlPr>
                      </m:dPr>
                      <m:e>
                        <m:r>
                          <m:rPr>
                            <m:sty m:val="p"/>
                          </m:rPr>
                          <a:rPr lang="en-US" altLang="zh-CN" sz="1800" kern="100">
                            <a:effectLst/>
                            <a:latin typeface="Cambria Math" panose="02040503050406030204" pitchFamily="18" charset="0"/>
                            <a:ea typeface="仿宋_GB2312"/>
                            <a:cs typeface="Times New Roman" panose="02020603050405020304" pitchFamily="18" charset="0"/>
                          </a:rPr>
                          <m:t>g</m:t>
                        </m:r>
                      </m:e>
                    </m:d>
                    <m:r>
                      <a:rPr lang="zh-CN" altLang="zh-CN" sz="1800" kern="100">
                        <a:effectLst/>
                        <a:latin typeface="Cambria Math" panose="02040503050406030204" pitchFamily="18" charset="0"/>
                        <a:ea typeface="仿宋_GB2312"/>
                        <a:cs typeface="Times New Roman" panose="02020603050405020304" pitchFamily="18" charset="0"/>
                      </a:rPr>
                      <m:t>∈</m:t>
                    </m:r>
                    <m:sSup>
                      <m:sSupPr>
                        <m:ctrlPr>
                          <a:rPr lang="zh-CN" altLang="zh-CN" sz="1800" i="1" kern="100">
                            <a:effectLst/>
                            <a:latin typeface="Cambria Math" panose="02040503050406030204" pitchFamily="18" charset="0"/>
                            <a:ea typeface="Cambria Math" panose="02040503050406030204" pitchFamily="18" charset="0"/>
                            <a:cs typeface="Times New Roman" panose="02020603050405020304" pitchFamily="18" charset="0"/>
                          </a:rPr>
                        </m:ctrlPr>
                      </m:sSupPr>
                      <m:e>
                        <m:d>
                          <m:dPr>
                            <m:begChr m:val="["/>
                            <m:endChr m:val="]"/>
                            <m:ctrlPr>
                              <a:rPr lang="zh-CN" altLang="zh-CN" sz="1800" i="1" kern="100">
                                <a:effectLst/>
                                <a:latin typeface="Cambria Math" panose="02040503050406030204" pitchFamily="18" charset="0"/>
                                <a:ea typeface="Cambria Math" panose="02040503050406030204" pitchFamily="18" charset="0"/>
                                <a:cs typeface="Times New Roman" panose="02020603050405020304" pitchFamily="18" charset="0"/>
                              </a:rPr>
                            </m:ctrlPr>
                          </m:dPr>
                          <m:e>
                            <m:r>
                              <a:rPr lang="zh-CN" altLang="en-US" sz="1800" i="1" kern="100">
                                <a:effectLst/>
                                <a:latin typeface="Cambria Math" panose="02040503050406030204" pitchFamily="18" charset="0"/>
                                <a:ea typeface="微软雅黑" panose="020B0503020204020204" pitchFamily="34" charset="-122"/>
                                <a:cs typeface="微软雅黑" panose="020B0503020204020204" pitchFamily="34" charset="-122"/>
                              </a:rPr>
                              <m:t>−</m:t>
                            </m:r>
                            <m:r>
                              <a:rPr lang="en-US" altLang="zh-CN" sz="1800" kern="100">
                                <a:effectLst/>
                                <a:latin typeface="Cambria Math" panose="02040503050406030204" pitchFamily="18" charset="0"/>
                                <a:ea typeface="仿宋_GB2312"/>
                                <a:cs typeface="Times New Roman" panose="02020603050405020304" pitchFamily="18" charset="0"/>
                              </a:rPr>
                              <m:t>1,1</m:t>
                            </m:r>
                          </m:e>
                        </m:d>
                      </m:e>
                      <m:sup>
                        <m:r>
                          <m:rPr>
                            <m:sty m:val="p"/>
                          </m:rPr>
                          <a:rPr lang="en-US" altLang="zh-CN" sz="1800" kern="100">
                            <a:effectLst/>
                            <a:latin typeface="Cambria Math" panose="02040503050406030204" pitchFamily="18" charset="0"/>
                            <a:ea typeface="仿宋_GB2312"/>
                            <a:cs typeface="Times New Roman" panose="02020603050405020304" pitchFamily="18" charset="0"/>
                          </a:rPr>
                          <m:t>N</m:t>
                        </m:r>
                        <m:r>
                          <a:rPr lang="zh-CN" altLang="zh-CN" sz="1800" kern="100">
                            <a:effectLst/>
                            <a:latin typeface="Cambria Math" panose="02040503050406030204" pitchFamily="18" charset="0"/>
                            <a:ea typeface="仿宋_GB2312"/>
                            <a:cs typeface="Times New Roman" panose="02020603050405020304" pitchFamily="18" charset="0"/>
                          </a:rPr>
                          <m:t>×</m:t>
                        </m:r>
                        <m:r>
                          <m:rPr>
                            <m:sty m:val="p"/>
                          </m:rPr>
                          <a:rPr lang="en-US" altLang="zh-CN" sz="1800" kern="100">
                            <a:effectLst/>
                            <a:latin typeface="Cambria Math" panose="02040503050406030204" pitchFamily="18" charset="0"/>
                            <a:ea typeface="仿宋_GB2312"/>
                            <a:cs typeface="Times New Roman" panose="02020603050405020304" pitchFamily="18" charset="0"/>
                          </a:rPr>
                          <m:t>N</m:t>
                        </m:r>
                      </m:sup>
                    </m:sSup>
                  </m:oMath>
                </a14:m>
                <a:r>
                  <a:rPr lang="zh-CN" altLang="zh-CN" sz="1800" kern="100" dirty="0">
                    <a:effectLst/>
                    <a:latin typeface="微软雅黑" panose="020B0503020204020204" pitchFamily="34" charset="-122"/>
                    <a:ea typeface="微软雅黑" panose="020B0503020204020204" pitchFamily="34" charset="-122"/>
                    <a:cs typeface="Times New Roman" panose="02020603050405020304" pitchFamily="18" charset="0"/>
                  </a:rPr>
                  <a:t>，智能体</a:t>
                </a:r>
                <a14:m>
                  <m:oMath xmlns:m="http://schemas.openxmlformats.org/officeDocument/2006/math">
                    <m:r>
                      <a:rPr lang="zh-CN" altLang="zh-CN" sz="1800" kern="100">
                        <a:effectLst/>
                        <a:latin typeface="Cambria Math" panose="02040503050406030204" pitchFamily="18" charset="0"/>
                        <a:ea typeface="Cambria Math" panose="02040503050406030204" pitchFamily="18" charset="0"/>
                        <a:cs typeface="Times New Roman" panose="02020603050405020304" pitchFamily="18" charset="0"/>
                      </a:rPr>
                      <m:t> </m:t>
                    </m:r>
                    <m:r>
                      <m:rPr>
                        <m:sty m:val="p"/>
                      </m:rPr>
                      <a:rPr lang="en-US" altLang="zh-CN" sz="1800" kern="100">
                        <a:effectLst/>
                        <a:latin typeface="Cambria Math" panose="02040503050406030204" pitchFamily="18" charset="0"/>
                        <a:ea typeface="Cambria Math" panose="02040503050406030204" pitchFamily="18" charset="0"/>
                        <a:cs typeface="Times New Roman" panose="02020603050405020304" pitchFamily="18" charset="0"/>
                      </a:rPr>
                      <m:t>i</m:t>
                    </m:r>
                  </m:oMath>
                </a14:m>
                <a:r>
                  <a:rPr lang="zh-CN" altLang="zh-CN" sz="1800" kern="100" dirty="0">
                    <a:effectLst/>
                    <a:latin typeface="微软雅黑" panose="020B0503020204020204" pitchFamily="34" charset="-122"/>
                    <a:ea typeface="微软雅黑" panose="020B0503020204020204" pitchFamily="34" charset="-122"/>
                    <a:cs typeface="Times New Roman" panose="02020603050405020304" pitchFamily="18" charset="0"/>
                  </a:rPr>
                  <a:t>的即时收益为关系加权的归一化聚合</a:t>
                </a:r>
              </a:p>
              <a:p>
                <a:pPr algn="ctr"/>
                <a14:m>
                  <m:oMathPara xmlns:m="http://schemas.openxmlformats.org/officeDocument/2006/math">
                    <m:oMathParaPr>
                      <m:jc m:val="centerGroup"/>
                    </m:oMathParaPr>
                    <m:oMath xmlns:m="http://schemas.openxmlformats.org/officeDocument/2006/math">
                      <m:sSub>
                        <m:sSubPr>
                          <m:ctrlPr>
                            <a:rPr lang="zh-CN" altLang="zh-CN" sz="1800" i="1" kern="100">
                              <a:effectLst/>
                              <a:latin typeface="Cambria Math" panose="02040503050406030204" pitchFamily="18" charset="0"/>
                              <a:ea typeface="Cambria Math" panose="02040503050406030204" pitchFamily="18" charset="0"/>
                              <a:cs typeface="Times New Roman" panose="02020603050405020304" pitchFamily="18" charset="0"/>
                            </a:rPr>
                          </m:ctrlPr>
                        </m:sSubPr>
                        <m:e>
                          <m:r>
                            <m:rPr>
                              <m:sty m:val="p"/>
                            </m:rPr>
                            <a:rPr lang="en-US" altLang="zh-CN" sz="1800" kern="100">
                              <a:effectLst/>
                              <a:latin typeface="Cambria Math" panose="02040503050406030204" pitchFamily="18" charset="0"/>
                              <a:ea typeface="仿宋_GB2312"/>
                              <a:cs typeface="Times New Roman" panose="02020603050405020304" pitchFamily="18" charset="0"/>
                            </a:rPr>
                            <m:t>R</m:t>
                          </m:r>
                        </m:e>
                        <m:sub>
                          <m:r>
                            <m:rPr>
                              <m:sty m:val="p"/>
                            </m:rPr>
                            <a:rPr lang="en-US" altLang="zh-CN" sz="1800" kern="100">
                              <a:effectLst/>
                              <a:latin typeface="Cambria Math" panose="02040503050406030204" pitchFamily="18" charset="0"/>
                              <a:ea typeface="仿宋_GB2312"/>
                              <a:cs typeface="Times New Roman" panose="02020603050405020304" pitchFamily="18" charset="0"/>
                            </a:rPr>
                            <m:t>i</m:t>
                          </m:r>
                        </m:sub>
                      </m:sSub>
                      <m:r>
                        <a:rPr lang="en-US" altLang="zh-CN" sz="1800" kern="100">
                          <a:effectLst/>
                          <a:latin typeface="Cambria Math" panose="02040503050406030204" pitchFamily="18" charset="0"/>
                          <a:ea typeface="仿宋_GB2312"/>
                          <a:cs typeface="Times New Roman" panose="02020603050405020304" pitchFamily="18" charset="0"/>
                        </a:rPr>
                        <m:t> = </m:t>
                      </m:r>
                      <m:f>
                        <m:fPr>
                          <m:ctrlPr>
                            <a:rPr lang="zh-CN" altLang="zh-CN" sz="1800" i="1" kern="100">
                              <a:effectLst/>
                              <a:latin typeface="Cambria Math" panose="02040503050406030204" pitchFamily="18" charset="0"/>
                              <a:ea typeface="Cambria Math" panose="02040503050406030204" pitchFamily="18" charset="0"/>
                              <a:cs typeface="Times New Roman" panose="02020603050405020304" pitchFamily="18" charset="0"/>
                            </a:rPr>
                          </m:ctrlPr>
                        </m:fPr>
                        <m:num>
                          <m:sSub>
                            <m:sSubPr>
                              <m:ctrlPr>
                                <a:rPr lang="zh-CN" altLang="zh-CN" sz="1800" i="1" kern="100">
                                  <a:effectLst/>
                                  <a:latin typeface="Cambria Math" panose="02040503050406030204" pitchFamily="18" charset="0"/>
                                  <a:ea typeface="Cambria Math" panose="02040503050406030204" pitchFamily="18" charset="0"/>
                                  <a:cs typeface="Times New Roman" panose="02020603050405020304" pitchFamily="18" charset="0"/>
                                </a:rPr>
                              </m:ctrlPr>
                            </m:sSubPr>
                            <m:e>
                              <m:r>
                                <m:rPr>
                                  <m:sty m:val="p"/>
                                </m:rPr>
                                <a:rPr lang="en-US" altLang="zh-CN" sz="1800" kern="100">
                                  <a:effectLst/>
                                  <a:latin typeface="Cambria Math" panose="02040503050406030204" pitchFamily="18" charset="0"/>
                                  <a:ea typeface="仿宋_GB2312"/>
                                  <a:cs typeface="Times New Roman" panose="02020603050405020304" pitchFamily="18" charset="0"/>
                                </a:rPr>
                                <m:t>u</m:t>
                              </m:r>
                            </m:e>
                            <m:sub>
                              <m:r>
                                <m:rPr>
                                  <m:sty m:val="p"/>
                                </m:rPr>
                                <a:rPr lang="en-US" altLang="zh-CN" sz="1800" kern="100">
                                  <a:effectLst/>
                                  <a:latin typeface="Cambria Math" panose="02040503050406030204" pitchFamily="18" charset="0"/>
                                  <a:ea typeface="仿宋_GB2312"/>
                                  <a:cs typeface="Times New Roman" panose="02020603050405020304" pitchFamily="18" charset="0"/>
                                </a:rPr>
                                <m:t>i</m:t>
                              </m:r>
                            </m:sub>
                          </m:sSub>
                          <m:r>
                            <a:rPr lang="en-US" altLang="zh-CN" sz="1800" kern="100">
                              <a:effectLst/>
                              <a:latin typeface="Cambria Math" panose="02040503050406030204" pitchFamily="18" charset="0"/>
                              <a:ea typeface="仿宋_GB2312"/>
                              <a:cs typeface="Times New Roman" panose="02020603050405020304" pitchFamily="18" charset="0"/>
                            </a:rPr>
                            <m:t>+</m:t>
                          </m:r>
                          <m:nary>
                            <m:naryPr>
                              <m:chr m:val="∑"/>
                              <m:supHide m:val="on"/>
                              <m:ctrlPr>
                                <a:rPr lang="zh-CN" altLang="zh-CN" sz="1800" i="1" kern="100">
                                  <a:effectLst/>
                                  <a:latin typeface="Cambria Math" panose="02040503050406030204" pitchFamily="18" charset="0"/>
                                  <a:ea typeface="Cambria Math" panose="02040503050406030204" pitchFamily="18" charset="0"/>
                                  <a:cs typeface="Times New Roman" panose="02020603050405020304" pitchFamily="18" charset="0"/>
                                </a:rPr>
                              </m:ctrlPr>
                            </m:naryPr>
                            <m:sub>
                              <m:r>
                                <m:rPr>
                                  <m:sty m:val="p"/>
                                </m:rPr>
                                <a:rPr lang="en-US" altLang="zh-CN" sz="1800" kern="100">
                                  <a:effectLst/>
                                  <a:latin typeface="Cambria Math" panose="02040503050406030204" pitchFamily="18" charset="0"/>
                                  <a:ea typeface="仿宋_GB2312"/>
                                  <a:cs typeface="Times New Roman" panose="02020603050405020304" pitchFamily="18" charset="0"/>
                                </a:rPr>
                                <m:t>j</m:t>
                              </m:r>
                              <m:r>
                                <a:rPr lang="zh-CN" altLang="zh-CN" sz="1800" kern="100">
                                  <a:effectLst/>
                                  <a:latin typeface="Cambria Math" panose="02040503050406030204" pitchFamily="18" charset="0"/>
                                  <a:ea typeface="仿宋_GB2312"/>
                                  <a:cs typeface="Times New Roman" panose="02020603050405020304" pitchFamily="18" charset="0"/>
                                </a:rPr>
                                <m:t>≠</m:t>
                              </m:r>
                              <m:r>
                                <m:rPr>
                                  <m:sty m:val="p"/>
                                </m:rPr>
                                <a:rPr lang="en-US" altLang="zh-CN" sz="1800" kern="100">
                                  <a:effectLst/>
                                  <a:latin typeface="Cambria Math" panose="02040503050406030204" pitchFamily="18" charset="0"/>
                                  <a:ea typeface="仿宋_GB2312"/>
                                  <a:cs typeface="Times New Roman" panose="02020603050405020304" pitchFamily="18" charset="0"/>
                                </a:rPr>
                                <m:t>i</m:t>
                              </m:r>
                            </m:sub>
                            <m:sup/>
                            <m:e>
                              <m:sSub>
                                <m:sSubPr>
                                  <m:ctrlPr>
                                    <a:rPr lang="zh-CN" altLang="zh-CN" sz="1800" i="1" kern="100">
                                      <a:effectLst/>
                                      <a:latin typeface="Cambria Math" panose="02040503050406030204" pitchFamily="18" charset="0"/>
                                      <a:ea typeface="Cambria Math" panose="02040503050406030204" pitchFamily="18" charset="0"/>
                                      <a:cs typeface="Times New Roman" panose="02020603050405020304" pitchFamily="18" charset="0"/>
                                    </a:rPr>
                                  </m:ctrlPr>
                                </m:sSubPr>
                                <m:e>
                                  <m:r>
                                    <m:rPr>
                                      <m:sty m:val="p"/>
                                    </m:rPr>
                                    <a:rPr lang="en-US" altLang="zh-CN" sz="1800" kern="100">
                                      <a:effectLst/>
                                      <a:latin typeface="Cambria Math" panose="02040503050406030204" pitchFamily="18" charset="0"/>
                                      <a:ea typeface="仿宋_GB2312"/>
                                      <a:cs typeface="Times New Roman" panose="02020603050405020304" pitchFamily="18" charset="0"/>
                                    </a:rPr>
                                    <m:t>w</m:t>
                                  </m:r>
                                </m:e>
                                <m:sub>
                                  <m:r>
                                    <m:rPr>
                                      <m:sty m:val="p"/>
                                    </m:rPr>
                                    <a:rPr lang="en-US" altLang="zh-CN" sz="1800" kern="100">
                                      <a:effectLst/>
                                      <a:latin typeface="Cambria Math" panose="02040503050406030204" pitchFamily="18" charset="0"/>
                                      <a:ea typeface="仿宋_GB2312"/>
                                      <a:cs typeface="Times New Roman" panose="02020603050405020304" pitchFamily="18" charset="0"/>
                                    </a:rPr>
                                    <m:t>ij</m:t>
                                  </m:r>
                                </m:sub>
                              </m:sSub>
                            </m:e>
                          </m:nary>
                          <m:r>
                            <a:rPr lang="en-US" altLang="zh-CN" sz="1800" kern="100">
                              <a:effectLst/>
                              <a:latin typeface="Cambria Math" panose="02040503050406030204" pitchFamily="18" charset="0"/>
                              <a:ea typeface="仿宋_GB2312"/>
                              <a:cs typeface="Times New Roman" panose="02020603050405020304" pitchFamily="18" charset="0"/>
                            </a:rPr>
                            <m:t> </m:t>
                          </m:r>
                          <m:sSub>
                            <m:sSubPr>
                              <m:ctrlPr>
                                <a:rPr lang="zh-CN" altLang="zh-CN" sz="1800" i="1" kern="100">
                                  <a:effectLst/>
                                  <a:latin typeface="Cambria Math" panose="02040503050406030204" pitchFamily="18" charset="0"/>
                                  <a:ea typeface="Cambria Math" panose="02040503050406030204" pitchFamily="18" charset="0"/>
                                  <a:cs typeface="Times New Roman" panose="02020603050405020304" pitchFamily="18" charset="0"/>
                                </a:rPr>
                              </m:ctrlPr>
                            </m:sSubPr>
                            <m:e>
                              <m:r>
                                <m:rPr>
                                  <m:sty m:val="p"/>
                                </m:rPr>
                                <a:rPr lang="en-US" altLang="zh-CN" sz="1800" kern="100">
                                  <a:effectLst/>
                                  <a:latin typeface="Cambria Math" panose="02040503050406030204" pitchFamily="18" charset="0"/>
                                  <a:ea typeface="仿宋_GB2312"/>
                                  <a:cs typeface="Times New Roman" panose="02020603050405020304" pitchFamily="18" charset="0"/>
                                </a:rPr>
                                <m:t>u</m:t>
                              </m:r>
                            </m:e>
                            <m:sub>
                              <m:r>
                                <m:rPr>
                                  <m:sty m:val="p"/>
                                </m:rPr>
                                <a:rPr lang="en-US" altLang="zh-CN" sz="1800" kern="100">
                                  <a:effectLst/>
                                  <a:latin typeface="Cambria Math" panose="02040503050406030204" pitchFamily="18" charset="0"/>
                                  <a:ea typeface="仿宋_GB2312"/>
                                  <a:cs typeface="Times New Roman" panose="02020603050405020304" pitchFamily="18" charset="0"/>
                                </a:rPr>
                                <m:t>j</m:t>
                              </m:r>
                            </m:sub>
                          </m:sSub>
                        </m:num>
                        <m:den>
                          <m:r>
                            <a:rPr lang="en-US" altLang="zh-CN" sz="1800" kern="100">
                              <a:effectLst/>
                              <a:latin typeface="Cambria Math" panose="02040503050406030204" pitchFamily="18" charset="0"/>
                              <a:ea typeface="仿宋_GB2312"/>
                              <a:cs typeface="Times New Roman" panose="02020603050405020304" pitchFamily="18" charset="0"/>
                            </a:rPr>
                            <m:t>1+</m:t>
                          </m:r>
                          <m:nary>
                            <m:naryPr>
                              <m:chr m:val="∑"/>
                              <m:supHide m:val="on"/>
                              <m:ctrlPr>
                                <a:rPr lang="zh-CN" altLang="zh-CN" sz="1800" i="1" kern="100">
                                  <a:effectLst/>
                                  <a:latin typeface="Cambria Math" panose="02040503050406030204" pitchFamily="18" charset="0"/>
                                  <a:ea typeface="Cambria Math" panose="02040503050406030204" pitchFamily="18" charset="0"/>
                                  <a:cs typeface="Times New Roman" panose="02020603050405020304" pitchFamily="18" charset="0"/>
                                </a:rPr>
                              </m:ctrlPr>
                            </m:naryPr>
                            <m:sub>
                              <m:r>
                                <m:rPr>
                                  <m:sty m:val="p"/>
                                </m:rPr>
                                <a:rPr lang="en-US" altLang="zh-CN" sz="1800" kern="100">
                                  <a:effectLst/>
                                  <a:latin typeface="Cambria Math" panose="02040503050406030204" pitchFamily="18" charset="0"/>
                                  <a:ea typeface="仿宋_GB2312"/>
                                  <a:cs typeface="Times New Roman" panose="02020603050405020304" pitchFamily="18" charset="0"/>
                                </a:rPr>
                                <m:t>j</m:t>
                              </m:r>
                              <m:r>
                                <a:rPr lang="zh-CN" altLang="zh-CN" sz="1800" kern="100">
                                  <a:effectLst/>
                                  <a:latin typeface="Cambria Math" panose="02040503050406030204" pitchFamily="18" charset="0"/>
                                  <a:ea typeface="仿宋_GB2312"/>
                                  <a:cs typeface="Times New Roman" panose="02020603050405020304" pitchFamily="18" charset="0"/>
                                </a:rPr>
                                <m:t>≠</m:t>
                              </m:r>
                              <m:r>
                                <m:rPr>
                                  <m:sty m:val="p"/>
                                </m:rPr>
                                <a:rPr lang="en-US" altLang="zh-CN" sz="1800" kern="100">
                                  <a:effectLst/>
                                  <a:latin typeface="Cambria Math" panose="02040503050406030204" pitchFamily="18" charset="0"/>
                                  <a:ea typeface="仿宋_GB2312"/>
                                  <a:cs typeface="Times New Roman" panose="02020603050405020304" pitchFamily="18" charset="0"/>
                                </a:rPr>
                                <m:t>i</m:t>
                              </m:r>
                            </m:sub>
                            <m:sup/>
                            <m:e>
                              <m:d>
                                <m:dPr>
                                  <m:begChr m:val="|"/>
                                  <m:endChr m:val="|"/>
                                  <m:ctrlPr>
                                    <a:rPr lang="zh-CN" altLang="zh-CN" sz="1800" i="1" kern="100">
                                      <a:effectLst/>
                                      <a:latin typeface="Cambria Math" panose="02040503050406030204" pitchFamily="18" charset="0"/>
                                      <a:ea typeface="Cambria Math" panose="02040503050406030204" pitchFamily="18" charset="0"/>
                                      <a:cs typeface="Times New Roman" panose="02020603050405020304" pitchFamily="18" charset="0"/>
                                    </a:rPr>
                                  </m:ctrlPr>
                                </m:dPr>
                                <m:e>
                                  <m:sSub>
                                    <m:sSubPr>
                                      <m:ctrlPr>
                                        <a:rPr lang="zh-CN" altLang="zh-CN" sz="1800" i="1" kern="100">
                                          <a:effectLst/>
                                          <a:latin typeface="Cambria Math" panose="02040503050406030204" pitchFamily="18" charset="0"/>
                                          <a:ea typeface="Cambria Math" panose="02040503050406030204" pitchFamily="18" charset="0"/>
                                          <a:cs typeface="Times New Roman" panose="02020603050405020304" pitchFamily="18" charset="0"/>
                                        </a:rPr>
                                      </m:ctrlPr>
                                    </m:sSubPr>
                                    <m:e>
                                      <m:r>
                                        <m:rPr>
                                          <m:sty m:val="p"/>
                                        </m:rPr>
                                        <a:rPr lang="en-US" altLang="zh-CN" sz="1800" kern="100">
                                          <a:effectLst/>
                                          <a:latin typeface="Cambria Math" panose="02040503050406030204" pitchFamily="18" charset="0"/>
                                          <a:ea typeface="仿宋_GB2312"/>
                                          <a:cs typeface="Times New Roman" panose="02020603050405020304" pitchFamily="18" charset="0"/>
                                        </a:rPr>
                                        <m:t>w</m:t>
                                      </m:r>
                                    </m:e>
                                    <m:sub>
                                      <m:r>
                                        <m:rPr>
                                          <m:sty m:val="p"/>
                                        </m:rPr>
                                        <a:rPr lang="en-US" altLang="zh-CN" sz="1800" kern="100">
                                          <a:effectLst/>
                                          <a:latin typeface="Cambria Math" panose="02040503050406030204" pitchFamily="18" charset="0"/>
                                          <a:ea typeface="仿宋_GB2312"/>
                                          <a:cs typeface="Times New Roman" panose="02020603050405020304" pitchFamily="18" charset="0"/>
                                        </a:rPr>
                                        <m:t>ij</m:t>
                                      </m:r>
                                    </m:sub>
                                  </m:sSub>
                                </m:e>
                              </m:d>
                            </m:e>
                          </m:nary>
                        </m:den>
                      </m:f>
                    </m:oMath>
                  </m:oMathPara>
                </a14:m>
                <a:endParaRPr lang="zh-CN" altLang="zh-CN" sz="1800" kern="100" dirty="0">
                  <a:effectLst/>
                  <a:latin typeface="微软雅黑" panose="020B0503020204020204" pitchFamily="34" charset="-122"/>
                  <a:ea typeface="微软雅黑" panose="020B0503020204020204" pitchFamily="34" charset="-122"/>
                  <a:cs typeface="Times New Roman" panose="02020603050405020304" pitchFamily="18" charset="0"/>
                </a:endParaRPr>
              </a:p>
              <a:p>
                <a:r>
                  <a:rPr lang="zh-CN" altLang="zh-CN" sz="1800" kern="100" dirty="0">
                    <a:effectLst/>
                    <a:latin typeface="微软雅黑" panose="020B0503020204020204" pitchFamily="34" charset="-122"/>
                    <a:ea typeface="微软雅黑" panose="020B0503020204020204" pitchFamily="34" charset="-122"/>
                    <a:cs typeface="Times New Roman" panose="02020603050405020304" pitchFamily="18" charset="0"/>
                  </a:rPr>
                  <a:t>其中</a:t>
                </a:r>
                <a14:m>
                  <m:oMath xmlns:m="http://schemas.openxmlformats.org/officeDocument/2006/math">
                    <m:sSub>
                      <m:sSubPr>
                        <m:ctrlPr>
                          <a:rPr lang="zh-CN" altLang="zh-CN" i="1">
                            <a:effectLst/>
                            <a:latin typeface="Cambria Math" panose="02040503050406030204" pitchFamily="18" charset="0"/>
                            <a:ea typeface="Cambria Math" panose="02040503050406030204" pitchFamily="18" charset="0"/>
                          </a:rPr>
                        </m:ctrlPr>
                      </m:sSubPr>
                      <m:e>
                        <m:r>
                          <m:rPr>
                            <m:sty m:val="p"/>
                          </m:rPr>
                          <a:rPr lang="en-US" altLang="zh-CN" sz="1800" kern="100">
                            <a:effectLst/>
                            <a:latin typeface="Cambria Math" panose="02040503050406030204" pitchFamily="18" charset="0"/>
                            <a:ea typeface="仿宋_GB2312"/>
                            <a:cs typeface="Times New Roman" panose="02020603050405020304" pitchFamily="18" charset="0"/>
                          </a:rPr>
                          <m:t>u</m:t>
                        </m:r>
                      </m:e>
                      <m:sub>
                        <m:r>
                          <m:rPr>
                            <m:sty m:val="p"/>
                          </m:rPr>
                          <a:rPr lang="en-US" altLang="zh-CN" sz="1800" kern="100">
                            <a:effectLst/>
                            <a:latin typeface="Cambria Math" panose="02040503050406030204" pitchFamily="18" charset="0"/>
                            <a:ea typeface="仿宋_GB2312"/>
                            <a:cs typeface="Times New Roman" panose="02020603050405020304" pitchFamily="18" charset="0"/>
                          </a:rPr>
                          <m:t>j</m:t>
                        </m:r>
                      </m:sub>
                    </m:sSub>
                  </m:oMath>
                </a14:m>
                <a:r>
                  <a:rPr lang="zh-CN" altLang="zh-CN" sz="1800" kern="100" dirty="0">
                    <a:effectLst/>
                    <a:latin typeface="微软雅黑" panose="020B0503020204020204" pitchFamily="34" charset="-122"/>
                    <a:ea typeface="微软雅黑" panose="020B0503020204020204" pitchFamily="34" charset="-122"/>
                    <a:cs typeface="Times New Roman" panose="02020603050405020304" pitchFamily="18" charset="0"/>
                  </a:rPr>
                  <a:t>为智能体</a:t>
                </a:r>
                <a14:m>
                  <m:oMath xmlns:m="http://schemas.openxmlformats.org/officeDocument/2006/math">
                    <m:r>
                      <a:rPr lang="zh-CN" altLang="zh-CN" sz="1800" kern="100">
                        <a:effectLst/>
                        <a:latin typeface="Cambria Math" panose="02040503050406030204" pitchFamily="18" charset="0"/>
                        <a:ea typeface="Cambria Math" panose="02040503050406030204" pitchFamily="18" charset="0"/>
                        <a:cs typeface="Times New Roman" panose="02020603050405020304" pitchFamily="18" charset="0"/>
                      </a:rPr>
                      <m:t> </m:t>
                    </m:r>
                    <m:r>
                      <m:rPr>
                        <m:sty m:val="p"/>
                      </m:rPr>
                      <a:rPr lang="en-US" altLang="zh-CN" sz="1800" kern="100">
                        <a:effectLst/>
                        <a:latin typeface="Cambria Math" panose="02040503050406030204" pitchFamily="18" charset="0"/>
                        <a:ea typeface="Cambria Math" panose="02040503050406030204" pitchFamily="18" charset="0"/>
                        <a:cs typeface="Times New Roman" panose="02020603050405020304" pitchFamily="18" charset="0"/>
                      </a:rPr>
                      <m:t>j</m:t>
                    </m:r>
                  </m:oMath>
                </a14:m>
                <a:r>
                  <a:rPr lang="zh-CN" altLang="zh-CN" sz="1800" kern="100" dirty="0">
                    <a:effectLst/>
                    <a:latin typeface="微软雅黑" panose="020B0503020204020204" pitchFamily="34" charset="-122"/>
                    <a:ea typeface="微软雅黑" panose="020B0503020204020204" pitchFamily="34" charset="-122"/>
                    <a:cs typeface="Times New Roman" panose="02020603050405020304" pitchFamily="18" charset="0"/>
                  </a:rPr>
                  <a:t>的即时物理采集量</a:t>
                </a:r>
                <a:r>
                  <a:rPr lang="en-US" altLang="zh-CN" sz="1800" kern="100" dirty="0">
                    <a:effectLst/>
                    <a:latin typeface="微软雅黑" panose="020B0503020204020204" pitchFamily="34" charset="-122"/>
                    <a:ea typeface="微软雅黑" panose="020B0503020204020204" pitchFamily="34" charset="-122"/>
                    <a:cs typeface="Times New Roman" panose="02020603050405020304" pitchFamily="18" charset="0"/>
                  </a:rPr>
                  <a:t>,</a:t>
                </a:r>
                <a:r>
                  <a:rPr lang="zh-CN" altLang="en-US" kern="100" dirty="0">
                    <a:latin typeface="微软雅黑" panose="020B0503020204020204" pitchFamily="34" charset="-122"/>
                    <a:ea typeface="微软雅黑" panose="020B0503020204020204" pitchFamily="34" charset="-122"/>
                    <a:cs typeface="Times New Roman" panose="02020603050405020304" pitchFamily="18" charset="0"/>
                  </a:rPr>
                  <a:t>即收益对他人采集的敏感度由关系权重</a:t>
                </a:r>
                <a14:m>
                  <m:oMath xmlns:m="http://schemas.openxmlformats.org/officeDocument/2006/math">
                    <m:sSub>
                      <m:sSubPr>
                        <m:ctrlPr>
                          <a:rPr lang="en-US" altLang="zh-CN" i="1" kern="100" smtClean="0">
                            <a:latin typeface="Cambria Math" panose="02040503050406030204" pitchFamily="18" charset="0"/>
                            <a:ea typeface="微软雅黑" panose="020B0503020204020204" pitchFamily="34" charset="-122"/>
                            <a:cs typeface="Times New Roman" panose="02020603050405020304" pitchFamily="18" charset="0"/>
                          </a:rPr>
                        </m:ctrlPr>
                      </m:sSubPr>
                      <m:e>
                        <m:r>
                          <a:rPr lang="en-US" altLang="zh-CN" i="1" kern="100">
                            <a:latin typeface="Cambria Math" panose="02040503050406030204" pitchFamily="18" charset="0"/>
                            <a:ea typeface="微软雅黑" panose="020B0503020204020204" pitchFamily="34" charset="-122"/>
                            <a:cs typeface="Times New Roman" panose="02020603050405020304" pitchFamily="18" charset="0"/>
                          </a:rPr>
                          <m:t>𝑤</m:t>
                        </m:r>
                      </m:e>
                      <m:sub>
                        <m:d>
                          <m:dPr>
                            <m:begChr m:val="{"/>
                            <m:endChr m:val="}"/>
                            <m:ctrlPr>
                              <a:rPr lang="en-US" altLang="zh-CN" i="1" kern="100">
                                <a:latin typeface="Cambria Math" panose="02040503050406030204" pitchFamily="18" charset="0"/>
                                <a:ea typeface="微软雅黑" panose="020B0503020204020204" pitchFamily="34" charset="-122"/>
                                <a:cs typeface="Times New Roman" panose="02020603050405020304" pitchFamily="18" charset="0"/>
                              </a:rPr>
                            </m:ctrlPr>
                          </m:dPr>
                          <m:e>
                            <m:r>
                              <a:rPr lang="en-US" altLang="zh-CN" i="1" kern="100">
                                <a:latin typeface="Cambria Math" panose="02040503050406030204" pitchFamily="18" charset="0"/>
                                <a:ea typeface="微软雅黑" panose="020B0503020204020204" pitchFamily="34" charset="-122"/>
                                <a:cs typeface="Times New Roman" panose="02020603050405020304" pitchFamily="18" charset="0"/>
                              </a:rPr>
                              <m:t>𝑖𝑗</m:t>
                            </m:r>
                          </m:e>
                        </m:d>
                      </m:sub>
                    </m:sSub>
                  </m:oMath>
                </a14:m>
                <a:r>
                  <a:rPr lang="zh-CN" altLang="en-US" kern="100" dirty="0">
                    <a:latin typeface="微软雅黑" panose="020B0503020204020204" pitchFamily="34" charset="-122"/>
                    <a:ea typeface="微软雅黑" panose="020B0503020204020204" pitchFamily="34" charset="-122"/>
                    <a:cs typeface="Times New Roman" panose="02020603050405020304" pitchFamily="18" charset="0"/>
                  </a:rPr>
                  <a:t>决定。同一个共享的奖励预测网络被要求在不同关系构型下拟合符号相反的输入输出关系：合作构型要求对方多采集则我的收益上升，竞争构型要求恰好相反。</a:t>
                </a:r>
                <a:endParaRPr lang="zh-CN" altLang="en-US" dirty="0">
                  <a:latin typeface="微软雅黑" panose="020B0503020204020204" pitchFamily="34" charset="-122"/>
                  <a:ea typeface="微软雅黑" panose="020B0503020204020204" pitchFamily="34" charset="-122"/>
                </a:endParaRPr>
              </a:p>
            </p:txBody>
          </p:sp>
        </mc:Choice>
        <mc:Fallback>
          <p:sp>
            <p:nvSpPr>
              <p:cNvPr id="4" name="文本框 3">
                <a:extLst>
                  <a:ext uri="{FF2B5EF4-FFF2-40B4-BE49-F238E27FC236}">
                    <a16:creationId xmlns:a16="http://schemas.microsoft.com/office/drawing/2014/main" id="{62F77A28-E252-4A34-8712-A5E2EFB2CD5A}"/>
                  </a:ext>
                </a:extLst>
              </p:cNvPr>
              <p:cNvSpPr txBox="1">
                <a:spLocks noRot="1" noChangeAspect="1" noMove="1" noResize="1" noEditPoints="1" noAdjustHandles="1" noChangeArrowheads="1" noChangeShapeType="1" noTextEdit="1"/>
              </p:cNvSpPr>
              <p:nvPr/>
            </p:nvSpPr>
            <p:spPr>
              <a:xfrm>
                <a:off x="1432560" y="1442720"/>
                <a:ext cx="8930640" cy="3292312"/>
              </a:xfrm>
              <a:prstGeom prst="rect">
                <a:avLst/>
              </a:prstGeom>
              <a:blipFill>
                <a:blip r:embed="rId2"/>
                <a:stretch>
                  <a:fillRect l="-546" t="-1111" r="-546" b="-2037"/>
                </a:stretch>
              </a:blipFill>
            </p:spPr>
            <p:txBody>
              <a:bodyPr/>
              <a:lstStyle/>
              <a:p>
                <a:r>
                  <a:rPr lang="zh-CN" altLang="en-US">
                    <a:noFill/>
                  </a:rPr>
                  <a:t> </a:t>
                </a:r>
              </a:p>
            </p:txBody>
          </p:sp>
        </mc:Fallback>
      </mc:AlternateContent>
    </p:spTree>
    <p:extLst>
      <p:ext uri="{BB962C8B-B14F-4D97-AF65-F5344CB8AC3E}">
        <p14:creationId xmlns:p14="http://schemas.microsoft.com/office/powerpoint/2010/main" val="2151543114"/>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C0DFB72-0B8F-3CBE-A88C-D2DF5427D14E}"/>
            </a:ext>
          </a:extLst>
        </p:cNvPr>
        <p:cNvGrpSpPr/>
        <p:nvPr/>
      </p:nvGrpSpPr>
      <p:grpSpPr>
        <a:xfrm>
          <a:off x="0" y="0"/>
          <a:ext cx="0" cy="0"/>
          <a:chOff x="0" y="0"/>
          <a:chExt cx="0" cy="0"/>
        </a:xfrm>
      </p:grpSpPr>
      <p:sp>
        <p:nvSpPr>
          <p:cNvPr id="11" name="标题 1">
            <a:extLst>
              <a:ext uri="{FF2B5EF4-FFF2-40B4-BE49-F238E27FC236}">
                <a16:creationId xmlns:a16="http://schemas.microsoft.com/office/drawing/2014/main" id="{BBCD79E3-7840-01E4-D520-275AF817BA6F}"/>
              </a:ext>
            </a:extLst>
          </p:cNvPr>
          <p:cNvSpPr txBox="1"/>
          <p:nvPr/>
        </p:nvSpPr>
        <p:spPr>
          <a:xfrm>
            <a:off x="363891" y="471047"/>
            <a:ext cx="296509" cy="296509"/>
          </a:xfrm>
          <a:prstGeom prst="ellipse">
            <a:avLst/>
          </a:prstGeom>
          <a:solidFill>
            <a:schemeClr val="accent1">
              <a:lumMod val="60000"/>
              <a:lumOff val="40000"/>
            </a:schemeClr>
          </a:solidFill>
          <a:ln w="12700" cap="sq">
            <a:noFill/>
            <a:prstDash val="solid"/>
            <a:miter/>
          </a:ln>
        </p:spPr>
        <p:txBody>
          <a:bodyPr vert="horz" wrap="square" lIns="91440" tIns="45720" rIns="91440" bIns="45720" rtlCol="0" anchor="ctr"/>
          <a:lstStyle/>
          <a:p>
            <a:pPr algn="ctr"/>
            <a:endParaRPr kumimoji="1" lang="zh-CN" altLang="en-US"/>
          </a:p>
        </p:txBody>
      </p:sp>
      <p:sp>
        <p:nvSpPr>
          <p:cNvPr id="2" name="标题 1">
            <a:extLst>
              <a:ext uri="{FF2B5EF4-FFF2-40B4-BE49-F238E27FC236}">
                <a16:creationId xmlns:a16="http://schemas.microsoft.com/office/drawing/2014/main" id="{4A88A374-7A3D-0A67-B51C-9A85D2082CA4}"/>
              </a:ext>
            </a:extLst>
          </p:cNvPr>
          <p:cNvSpPr txBox="1"/>
          <p:nvPr/>
        </p:nvSpPr>
        <p:spPr>
          <a:xfrm>
            <a:off x="787215" y="385281"/>
            <a:ext cx="5308785" cy="468000"/>
          </a:xfrm>
          <a:prstGeom prst="rect">
            <a:avLst/>
          </a:prstGeom>
          <a:noFill/>
          <a:ln cap="sq">
            <a:noFill/>
          </a:ln>
        </p:spPr>
        <p:txBody>
          <a:bodyPr vert="horz" wrap="square" lIns="0" tIns="0" rIns="0" bIns="0" rtlCol="0" anchor="ctr"/>
          <a:lstStyle/>
          <a:p>
            <a:r>
              <a:rPr lang="zh-CN" altLang="en-US" sz="2800" b="1" dirty="0">
                <a:solidFill>
                  <a:srgbClr val="2B77CC"/>
                </a:solidFill>
                <a:latin typeface="微软雅黑" panose="020B0503020204020204" pitchFamily="34" charset="-122"/>
                <a:ea typeface="微软雅黑" panose="020B0503020204020204" pitchFamily="34" charset="-122"/>
                <a:cs typeface="Times New Roman" panose="02020603050405020304" pitchFamily="18" charset="0"/>
              </a:rPr>
              <a:t>实验验证</a:t>
            </a:r>
          </a:p>
        </p:txBody>
      </p:sp>
      <p:sp>
        <p:nvSpPr>
          <p:cNvPr id="4" name="文本框 3">
            <a:extLst>
              <a:ext uri="{FF2B5EF4-FFF2-40B4-BE49-F238E27FC236}">
                <a16:creationId xmlns:a16="http://schemas.microsoft.com/office/drawing/2014/main" id="{FBD6CA53-1D0E-7ECB-E329-B9A29BD99F6C}"/>
              </a:ext>
            </a:extLst>
          </p:cNvPr>
          <p:cNvSpPr txBox="1"/>
          <p:nvPr/>
        </p:nvSpPr>
        <p:spPr>
          <a:xfrm>
            <a:off x="881048" y="984834"/>
            <a:ext cx="10091751" cy="461665"/>
          </a:xfrm>
          <a:prstGeom prst="rect">
            <a:avLst/>
          </a:prstGeom>
          <a:noFill/>
        </p:spPr>
        <p:txBody>
          <a:bodyPr wrap="square">
            <a:spAutoFit/>
          </a:bodyPr>
          <a:lstStyle/>
          <a:p>
            <a:r>
              <a:rPr lang="zh-CN" altLang="en-US" sz="2400" dirty="0">
                <a:latin typeface="Times New Roman" panose="02020603050405020304" pitchFamily="18" charset="0"/>
                <a:ea typeface="黑体" panose="02010609060101010101" pitchFamily="49" charset="-122"/>
                <a:cs typeface="Times New Roman" panose="02020603050405020304" pitchFamily="18" charset="0"/>
              </a:rPr>
              <a:t>实验</a:t>
            </a:r>
            <a:r>
              <a:rPr lang="en-US" altLang="zh-CN" sz="2400" dirty="0">
                <a:latin typeface="Times New Roman" panose="02020603050405020304" pitchFamily="18" charset="0"/>
                <a:ea typeface="黑体" panose="02010609060101010101" pitchFamily="49" charset="-122"/>
                <a:cs typeface="Times New Roman" panose="02020603050405020304" pitchFamily="18" charset="0"/>
              </a:rPr>
              <a:t>1</a:t>
            </a:r>
            <a:r>
              <a:rPr lang="zh-CN" altLang="en-US" sz="2400" dirty="0">
                <a:latin typeface="Times New Roman" panose="02020603050405020304" pitchFamily="18" charset="0"/>
                <a:ea typeface="黑体" panose="02010609060101010101" pitchFamily="49" charset="-122"/>
                <a:cs typeface="Times New Roman" panose="02020603050405020304" pitchFamily="18" charset="0"/>
              </a:rPr>
              <a:t>：全局</a:t>
            </a:r>
            <a:r>
              <a:rPr lang="en-US" altLang="zh-CN" sz="2400" dirty="0">
                <a:latin typeface="Times New Roman" panose="02020603050405020304" pitchFamily="18" charset="0"/>
                <a:ea typeface="黑体" panose="02010609060101010101" pitchFamily="49" charset="-122"/>
                <a:cs typeface="Times New Roman" panose="02020603050405020304" pitchFamily="18" charset="0"/>
              </a:rPr>
              <a:t>reward</a:t>
            </a:r>
            <a:r>
              <a:rPr lang="zh-CN" altLang="en-US" sz="2400" dirty="0">
                <a:latin typeface="Times New Roman" panose="02020603050405020304" pitchFamily="18" charset="0"/>
                <a:ea typeface="黑体" panose="02010609060101010101" pitchFamily="49" charset="-122"/>
                <a:cs typeface="Times New Roman" panose="02020603050405020304" pitchFamily="18" charset="0"/>
              </a:rPr>
              <a:t>验证</a:t>
            </a:r>
            <a:endParaRPr lang="zh-CN" altLang="en-US" sz="2400" dirty="0"/>
          </a:p>
        </p:txBody>
      </p:sp>
      <p:sp>
        <p:nvSpPr>
          <p:cNvPr id="5" name="文本框 4">
            <a:extLst>
              <a:ext uri="{FF2B5EF4-FFF2-40B4-BE49-F238E27FC236}">
                <a16:creationId xmlns:a16="http://schemas.microsoft.com/office/drawing/2014/main" id="{611F64B1-EE67-2DE5-3EEF-0019B90E7EF2}"/>
              </a:ext>
            </a:extLst>
          </p:cNvPr>
          <p:cNvSpPr txBox="1"/>
          <p:nvPr/>
        </p:nvSpPr>
        <p:spPr>
          <a:xfrm>
            <a:off x="881048" y="1514441"/>
            <a:ext cx="10091751" cy="461665"/>
          </a:xfrm>
          <a:prstGeom prst="rect">
            <a:avLst/>
          </a:prstGeom>
          <a:noFill/>
        </p:spPr>
        <p:txBody>
          <a:bodyPr wrap="square">
            <a:spAutoFit/>
          </a:bodyPr>
          <a:lstStyle/>
          <a:p>
            <a:r>
              <a:rPr lang="zh-CN" altLang="en-US" sz="2400" dirty="0">
                <a:latin typeface="Times New Roman" panose="02020603050405020304" pitchFamily="18" charset="0"/>
                <a:ea typeface="黑体" panose="02010609060101010101" pitchFamily="49" charset="-122"/>
                <a:cs typeface="Times New Roman" panose="02020603050405020304" pitchFamily="18" charset="0"/>
              </a:rPr>
              <a:t>实验目的：验证角色关系矩阵在训练过程中发生变化时，算法的适应性</a:t>
            </a:r>
          </a:p>
        </p:txBody>
      </p:sp>
      <p:pic>
        <p:nvPicPr>
          <p:cNvPr id="9" name="图片 8">
            <a:extLst>
              <a:ext uri="{FF2B5EF4-FFF2-40B4-BE49-F238E27FC236}">
                <a16:creationId xmlns:a16="http://schemas.microsoft.com/office/drawing/2014/main" id="{E9F0C91A-FB44-4F2F-80E8-2D4E3F411516}"/>
              </a:ext>
            </a:extLst>
          </p:cNvPr>
          <p:cNvPicPr/>
          <p:nvPr/>
        </p:nvPicPr>
        <p:blipFill>
          <a:blip r:embed="rId2"/>
          <a:stretch>
            <a:fillRect/>
          </a:stretch>
        </p:blipFill>
        <p:spPr>
          <a:xfrm>
            <a:off x="881048" y="1903172"/>
            <a:ext cx="8516952" cy="4804316"/>
          </a:xfrm>
          <a:prstGeom prst="rect">
            <a:avLst/>
          </a:prstGeom>
        </p:spPr>
      </p:pic>
      <p:sp>
        <p:nvSpPr>
          <p:cNvPr id="3" name="文本框 2">
            <a:extLst>
              <a:ext uri="{FF2B5EF4-FFF2-40B4-BE49-F238E27FC236}">
                <a16:creationId xmlns:a16="http://schemas.microsoft.com/office/drawing/2014/main" id="{0440CB8B-AF1B-41F0-ACBA-F95FE9991204}"/>
              </a:ext>
            </a:extLst>
          </p:cNvPr>
          <p:cNvSpPr txBox="1"/>
          <p:nvPr/>
        </p:nvSpPr>
        <p:spPr>
          <a:xfrm>
            <a:off x="9509760" y="2079639"/>
            <a:ext cx="2529840" cy="3970318"/>
          </a:xfrm>
          <a:prstGeom prst="rect">
            <a:avLst/>
          </a:prstGeom>
          <a:noFill/>
        </p:spPr>
        <p:txBody>
          <a:bodyPr wrap="square" rtlCol="0">
            <a:spAutoFit/>
          </a:bodyPr>
          <a:lstStyle/>
          <a:p>
            <a:r>
              <a:rPr lang="en-US" altLang="zh-CN" dirty="0">
                <a:latin typeface="微软雅黑" panose="020B0503020204020204" pitchFamily="34" charset="-122"/>
                <a:ea typeface="微软雅黑" panose="020B0503020204020204" pitchFamily="34" charset="-122"/>
              </a:rPr>
              <a:t>DR-MBHGL</a:t>
            </a:r>
            <a:r>
              <a:rPr lang="zh-CN" altLang="en-US" dirty="0">
                <a:latin typeface="微软雅黑" panose="020B0503020204020204" pitchFamily="34" charset="-122"/>
                <a:ea typeface="微软雅黑" panose="020B0503020204020204" pitchFamily="34" charset="-122"/>
              </a:rPr>
              <a:t>在所有可学习的机制中均占据主导地位，且学习速度快。在其 </a:t>
            </a:r>
            <a:r>
              <a:rPr lang="en-US" altLang="zh-CN" dirty="0">
                <a:latin typeface="微软雅黑" panose="020B0503020204020204" pitchFamily="34" charset="-122"/>
                <a:ea typeface="微软雅黑" panose="020B0503020204020204" pitchFamily="34" charset="-122"/>
              </a:rPr>
              <a:t>20</a:t>
            </a:r>
            <a:r>
              <a:rPr lang="zh-CN" altLang="en-US" dirty="0">
                <a:latin typeface="微软雅黑" panose="020B0503020204020204" pitchFamily="34" charset="-122"/>
                <a:ea typeface="微软雅黑" panose="020B0503020204020204" pitchFamily="34" charset="-122"/>
              </a:rPr>
              <a:t>万步的运行中，它在合作机制 </a:t>
            </a:r>
            <a:r>
              <a:rPr lang="en-US" altLang="zh-CN" dirty="0">
                <a:latin typeface="微软雅黑" panose="020B0503020204020204" pitchFamily="34" charset="-122"/>
                <a:ea typeface="微软雅黑" panose="020B0503020204020204" pitchFamily="34" charset="-122"/>
              </a:rPr>
              <a:t>g0 </a:t>
            </a:r>
            <a:r>
              <a:rPr lang="zh-CN" altLang="en-US" dirty="0">
                <a:latin typeface="微软雅黑" panose="020B0503020204020204" pitchFamily="34" charset="-122"/>
                <a:ea typeface="微软雅黑" panose="020B0503020204020204" pitchFamily="34" charset="-122"/>
              </a:rPr>
              <a:t>上达到约 </a:t>
            </a:r>
            <a:r>
              <a:rPr lang="en-US" altLang="zh-CN" dirty="0">
                <a:latin typeface="微软雅黑" panose="020B0503020204020204" pitchFamily="34" charset="-122"/>
                <a:ea typeface="微软雅黑" panose="020B0503020204020204" pitchFamily="34" charset="-122"/>
              </a:rPr>
              <a:t>120 </a:t>
            </a:r>
            <a:r>
              <a:rPr lang="zh-CN" altLang="en-US" dirty="0">
                <a:latin typeface="微软雅黑" panose="020B0503020204020204" pitchFamily="34" charset="-122"/>
                <a:ea typeface="微软雅黑" panose="020B0503020204020204" pitchFamily="34" charset="-122"/>
              </a:rPr>
              <a:t>的回报，在两个非对称机制 </a:t>
            </a:r>
            <a:r>
              <a:rPr lang="en-US" altLang="zh-CN" dirty="0">
                <a:latin typeface="微软雅黑" panose="020B0503020204020204" pitchFamily="34" charset="-122"/>
                <a:ea typeface="微软雅黑" panose="020B0503020204020204" pitchFamily="34" charset="-122"/>
              </a:rPr>
              <a:t>(g2/g3) </a:t>
            </a:r>
            <a:r>
              <a:rPr lang="zh-CN" altLang="en-US" dirty="0">
                <a:latin typeface="微软雅黑" panose="020B0503020204020204" pitchFamily="34" charset="-122"/>
                <a:ea typeface="微软雅黑" panose="020B0503020204020204" pitchFamily="34" charset="-122"/>
              </a:rPr>
              <a:t>上约为 </a:t>
            </a:r>
            <a:r>
              <a:rPr lang="en-US" altLang="zh-CN" dirty="0">
                <a:latin typeface="微软雅黑" panose="020B0503020204020204" pitchFamily="34" charset="-122"/>
                <a:ea typeface="微软雅黑" panose="020B0503020204020204" pitchFamily="34" charset="-122"/>
              </a:rPr>
              <a:t>65</a:t>
            </a:r>
            <a:r>
              <a:rPr lang="zh-CN" altLang="en-US" dirty="0">
                <a:latin typeface="微软雅黑" panose="020B0503020204020204" pitchFamily="34" charset="-122"/>
                <a:ea typeface="微软雅黑" panose="020B0503020204020204" pitchFamily="34" charset="-122"/>
              </a:rPr>
              <a:t>，在中立机制 </a:t>
            </a:r>
            <a:r>
              <a:rPr lang="en-US" altLang="zh-CN" dirty="0">
                <a:latin typeface="微软雅黑" panose="020B0503020204020204" pitchFamily="34" charset="-122"/>
                <a:ea typeface="微软雅黑" panose="020B0503020204020204" pitchFamily="34" charset="-122"/>
              </a:rPr>
              <a:t>g4 </a:t>
            </a:r>
            <a:r>
              <a:rPr lang="zh-CN" altLang="en-US" dirty="0">
                <a:latin typeface="微软雅黑" panose="020B0503020204020204" pitchFamily="34" charset="-122"/>
                <a:ea typeface="微软雅黑" panose="020B0503020204020204" pitchFamily="34" charset="-122"/>
              </a:rPr>
              <a:t>上约为 </a:t>
            </a:r>
            <a:r>
              <a:rPr lang="en-US" altLang="zh-CN" dirty="0">
                <a:latin typeface="微软雅黑" panose="020B0503020204020204" pitchFamily="34" charset="-122"/>
                <a:ea typeface="微软雅黑" panose="020B0503020204020204" pitchFamily="34" charset="-122"/>
              </a:rPr>
              <a:t>110</a:t>
            </a:r>
            <a:r>
              <a:rPr lang="zh-CN" altLang="en-US" dirty="0">
                <a:latin typeface="微软雅黑" panose="020B0503020204020204" pitchFamily="34" charset="-122"/>
                <a:ea typeface="微软雅黑" panose="020B0503020204020204" pitchFamily="34" charset="-122"/>
              </a:rPr>
              <a:t>，所有机制的平均值稳定在 </a:t>
            </a:r>
            <a:r>
              <a:rPr lang="en-US" altLang="zh-CN" dirty="0">
                <a:latin typeface="微软雅黑" panose="020B0503020204020204" pitchFamily="34" charset="-122"/>
                <a:ea typeface="微软雅黑" panose="020B0503020204020204" pitchFamily="34" charset="-122"/>
              </a:rPr>
              <a:t>72 </a:t>
            </a:r>
            <a:r>
              <a:rPr lang="zh-CN" altLang="en-US" dirty="0">
                <a:latin typeface="微软雅黑" panose="020B0503020204020204" pitchFamily="34" charset="-122"/>
                <a:ea typeface="微软雅黑" panose="020B0503020204020204" pitchFamily="34" charset="-122"/>
              </a:rPr>
              <a:t>左右。</a:t>
            </a:r>
            <a:r>
              <a:rPr lang="en-US" altLang="zh-CN" dirty="0">
                <a:latin typeface="微软雅黑" panose="020B0503020204020204" pitchFamily="34" charset="-122"/>
                <a:ea typeface="微软雅黑" panose="020B0503020204020204" pitchFamily="34" charset="-122"/>
              </a:rPr>
              <a:t>MAMBA </a:t>
            </a:r>
            <a:r>
              <a:rPr lang="zh-CN" altLang="en-US" dirty="0">
                <a:latin typeface="微软雅黑" panose="020B0503020204020204" pitchFamily="34" charset="-122"/>
                <a:ea typeface="微软雅黑" panose="020B0503020204020204" pitchFamily="34" charset="-122"/>
              </a:rPr>
              <a:t>受其世界模型训练开销限制，截至目前其训练仍在进行</a:t>
            </a:r>
          </a:p>
        </p:txBody>
      </p:sp>
    </p:spTree>
    <p:extLst>
      <p:ext uri="{BB962C8B-B14F-4D97-AF65-F5344CB8AC3E}">
        <p14:creationId xmlns:p14="http://schemas.microsoft.com/office/powerpoint/2010/main" val="3012720796"/>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C0DFB72-0B8F-3CBE-A88C-D2DF5427D14E}"/>
            </a:ext>
          </a:extLst>
        </p:cNvPr>
        <p:cNvGrpSpPr/>
        <p:nvPr/>
      </p:nvGrpSpPr>
      <p:grpSpPr>
        <a:xfrm>
          <a:off x="0" y="0"/>
          <a:ext cx="0" cy="0"/>
          <a:chOff x="0" y="0"/>
          <a:chExt cx="0" cy="0"/>
        </a:xfrm>
      </p:grpSpPr>
      <p:sp>
        <p:nvSpPr>
          <p:cNvPr id="11" name="标题 1">
            <a:extLst>
              <a:ext uri="{FF2B5EF4-FFF2-40B4-BE49-F238E27FC236}">
                <a16:creationId xmlns:a16="http://schemas.microsoft.com/office/drawing/2014/main" id="{BBCD79E3-7840-01E4-D520-275AF817BA6F}"/>
              </a:ext>
            </a:extLst>
          </p:cNvPr>
          <p:cNvSpPr txBox="1"/>
          <p:nvPr/>
        </p:nvSpPr>
        <p:spPr>
          <a:xfrm>
            <a:off x="363891" y="471047"/>
            <a:ext cx="296509" cy="296509"/>
          </a:xfrm>
          <a:prstGeom prst="ellipse">
            <a:avLst/>
          </a:prstGeom>
          <a:solidFill>
            <a:schemeClr val="accent1">
              <a:lumMod val="60000"/>
              <a:lumOff val="40000"/>
            </a:schemeClr>
          </a:solidFill>
          <a:ln w="12700" cap="sq">
            <a:noFill/>
            <a:prstDash val="solid"/>
            <a:miter/>
          </a:ln>
        </p:spPr>
        <p:txBody>
          <a:bodyPr vert="horz" wrap="square" lIns="91440" tIns="45720" rIns="91440" bIns="45720" rtlCol="0" anchor="ctr"/>
          <a:lstStyle/>
          <a:p>
            <a:pPr algn="ctr"/>
            <a:endParaRPr kumimoji="1" lang="zh-CN" altLang="en-US"/>
          </a:p>
        </p:txBody>
      </p:sp>
      <p:sp>
        <p:nvSpPr>
          <p:cNvPr id="2" name="标题 1">
            <a:extLst>
              <a:ext uri="{FF2B5EF4-FFF2-40B4-BE49-F238E27FC236}">
                <a16:creationId xmlns:a16="http://schemas.microsoft.com/office/drawing/2014/main" id="{4A88A374-7A3D-0A67-B51C-9A85D2082CA4}"/>
              </a:ext>
            </a:extLst>
          </p:cNvPr>
          <p:cNvSpPr txBox="1"/>
          <p:nvPr/>
        </p:nvSpPr>
        <p:spPr>
          <a:xfrm>
            <a:off x="787215" y="385281"/>
            <a:ext cx="5308785" cy="468000"/>
          </a:xfrm>
          <a:prstGeom prst="rect">
            <a:avLst/>
          </a:prstGeom>
          <a:noFill/>
          <a:ln cap="sq">
            <a:noFill/>
          </a:ln>
        </p:spPr>
        <p:txBody>
          <a:bodyPr vert="horz" wrap="square" lIns="0" tIns="0" rIns="0" bIns="0" rtlCol="0" anchor="ctr"/>
          <a:lstStyle/>
          <a:p>
            <a:r>
              <a:rPr lang="zh-CN" altLang="en-US" sz="2800" b="1" dirty="0">
                <a:solidFill>
                  <a:srgbClr val="2B77CC"/>
                </a:solidFill>
                <a:latin typeface="微软雅黑" panose="020B0503020204020204" pitchFamily="34" charset="-122"/>
                <a:ea typeface="微软雅黑" panose="020B0503020204020204" pitchFamily="34" charset="-122"/>
                <a:cs typeface="Times New Roman" panose="02020603050405020304" pitchFamily="18" charset="0"/>
              </a:rPr>
              <a:t>实验验证</a:t>
            </a:r>
          </a:p>
        </p:txBody>
      </p:sp>
      <p:sp>
        <p:nvSpPr>
          <p:cNvPr id="4" name="文本框 3">
            <a:extLst>
              <a:ext uri="{FF2B5EF4-FFF2-40B4-BE49-F238E27FC236}">
                <a16:creationId xmlns:a16="http://schemas.microsoft.com/office/drawing/2014/main" id="{FBD6CA53-1D0E-7ECB-E329-B9A29BD99F6C}"/>
              </a:ext>
            </a:extLst>
          </p:cNvPr>
          <p:cNvSpPr txBox="1"/>
          <p:nvPr/>
        </p:nvSpPr>
        <p:spPr>
          <a:xfrm>
            <a:off x="881048" y="984834"/>
            <a:ext cx="10091751" cy="461665"/>
          </a:xfrm>
          <a:prstGeom prst="rect">
            <a:avLst/>
          </a:prstGeom>
          <a:noFill/>
        </p:spPr>
        <p:txBody>
          <a:bodyPr wrap="square">
            <a:spAutoFit/>
          </a:bodyPr>
          <a:lstStyle/>
          <a:p>
            <a:r>
              <a:rPr lang="zh-CN" altLang="en-US" sz="2400" dirty="0">
                <a:latin typeface="Times New Roman" panose="02020603050405020304" pitchFamily="18" charset="0"/>
                <a:ea typeface="黑体" panose="02010609060101010101" pitchFamily="49" charset="-122"/>
                <a:cs typeface="Times New Roman" panose="02020603050405020304" pitchFamily="18" charset="0"/>
              </a:rPr>
              <a:t>实验</a:t>
            </a:r>
            <a:r>
              <a:rPr lang="en-US" altLang="zh-CN" sz="2400" dirty="0">
                <a:latin typeface="Times New Roman" panose="02020603050405020304" pitchFamily="18" charset="0"/>
                <a:ea typeface="黑体" panose="02010609060101010101" pitchFamily="49" charset="-122"/>
                <a:cs typeface="Times New Roman" panose="02020603050405020304" pitchFamily="18" charset="0"/>
              </a:rPr>
              <a:t>2</a:t>
            </a:r>
            <a:r>
              <a:rPr lang="zh-CN" altLang="en-US" sz="2400" dirty="0">
                <a:latin typeface="Times New Roman" panose="02020603050405020304" pitchFamily="18" charset="0"/>
                <a:ea typeface="黑体" panose="02010609060101010101" pitchFamily="49" charset="-122"/>
                <a:cs typeface="Times New Roman" panose="02020603050405020304" pitchFamily="18" charset="0"/>
              </a:rPr>
              <a:t>：算法泛化性验证</a:t>
            </a:r>
            <a:endParaRPr lang="zh-CN" altLang="en-US" sz="2400" dirty="0"/>
          </a:p>
        </p:txBody>
      </p:sp>
      <p:sp>
        <p:nvSpPr>
          <p:cNvPr id="5" name="文本框 4">
            <a:extLst>
              <a:ext uri="{FF2B5EF4-FFF2-40B4-BE49-F238E27FC236}">
                <a16:creationId xmlns:a16="http://schemas.microsoft.com/office/drawing/2014/main" id="{611F64B1-EE67-2DE5-3EEF-0019B90E7EF2}"/>
              </a:ext>
            </a:extLst>
          </p:cNvPr>
          <p:cNvSpPr txBox="1"/>
          <p:nvPr/>
        </p:nvSpPr>
        <p:spPr>
          <a:xfrm>
            <a:off x="881048" y="1514441"/>
            <a:ext cx="10091751" cy="461665"/>
          </a:xfrm>
          <a:prstGeom prst="rect">
            <a:avLst/>
          </a:prstGeom>
          <a:noFill/>
        </p:spPr>
        <p:txBody>
          <a:bodyPr wrap="square">
            <a:spAutoFit/>
          </a:bodyPr>
          <a:lstStyle/>
          <a:p>
            <a:r>
              <a:rPr lang="zh-CN" altLang="en-US" sz="2400" dirty="0">
                <a:latin typeface="Times New Roman" panose="02020603050405020304" pitchFamily="18" charset="0"/>
                <a:ea typeface="黑体" panose="02010609060101010101" pitchFamily="49" charset="-122"/>
                <a:cs typeface="Times New Roman" panose="02020603050405020304" pitchFamily="18" charset="0"/>
              </a:rPr>
              <a:t>实验目的：验模型对训练中未出现的关系构型的泛化能力</a:t>
            </a:r>
          </a:p>
        </p:txBody>
      </p:sp>
      <p:sp>
        <p:nvSpPr>
          <p:cNvPr id="3" name="文本框 2">
            <a:extLst>
              <a:ext uri="{FF2B5EF4-FFF2-40B4-BE49-F238E27FC236}">
                <a16:creationId xmlns:a16="http://schemas.microsoft.com/office/drawing/2014/main" id="{0440CB8B-AF1B-41F0-ACBA-F95FE9991204}"/>
              </a:ext>
            </a:extLst>
          </p:cNvPr>
          <p:cNvSpPr txBox="1"/>
          <p:nvPr/>
        </p:nvSpPr>
        <p:spPr>
          <a:xfrm>
            <a:off x="7995919" y="2529840"/>
            <a:ext cx="2976880" cy="3416320"/>
          </a:xfrm>
          <a:prstGeom prst="rect">
            <a:avLst/>
          </a:prstGeom>
          <a:noFill/>
        </p:spPr>
        <p:txBody>
          <a:bodyPr wrap="square" rtlCol="0">
            <a:spAutoFit/>
          </a:bodyPr>
          <a:lstStyle/>
          <a:p>
            <a:r>
              <a:rPr lang="zh-CN" altLang="en-US" dirty="0">
                <a:latin typeface="微软雅黑" panose="020B0503020204020204" pitchFamily="34" charset="-122"/>
                <a:ea typeface="微软雅黑" panose="020B0503020204020204" pitchFamily="34" charset="-122"/>
              </a:rPr>
              <a:t>结果分析：本实验验证方法面对训练中从未出现的关系机制时能否实现知识迁移。该柱状图比较在训练已见机制与未见机制上的平均收敛零样本奖励。</a:t>
            </a:r>
            <a:r>
              <a:rPr lang="en-US" altLang="zh-CN" dirty="0">
                <a:latin typeface="微软雅黑" panose="020B0503020204020204" pitchFamily="34" charset="-122"/>
                <a:ea typeface="微软雅黑" panose="020B0503020204020204" pitchFamily="34" charset="-122"/>
              </a:rPr>
              <a:t>DR-MBHGL </a:t>
            </a:r>
            <a:r>
              <a:rPr lang="zh-CN" altLang="en-US" dirty="0">
                <a:latin typeface="微软雅黑" panose="020B0503020204020204" pitchFamily="34" charset="-122"/>
                <a:ea typeface="微软雅黑" panose="020B0503020204020204" pitchFamily="34" charset="-122"/>
              </a:rPr>
              <a:t>以高回报泛化到了未见的关系机制中。该方法在其他构型上获得的经验（共享客观转移动力学、角色行向量）到主观参数的生成映射对新构型较适用</a:t>
            </a:r>
          </a:p>
        </p:txBody>
      </p:sp>
      <p:pic>
        <p:nvPicPr>
          <p:cNvPr id="8" name="图片 7">
            <a:extLst>
              <a:ext uri="{FF2B5EF4-FFF2-40B4-BE49-F238E27FC236}">
                <a16:creationId xmlns:a16="http://schemas.microsoft.com/office/drawing/2014/main" id="{90942368-1D37-4BD0-BF8F-D20EC3034A86}"/>
              </a:ext>
            </a:extLst>
          </p:cNvPr>
          <p:cNvPicPr/>
          <p:nvPr/>
        </p:nvPicPr>
        <p:blipFill>
          <a:blip r:embed="rId2"/>
          <a:stretch>
            <a:fillRect/>
          </a:stretch>
        </p:blipFill>
        <p:spPr>
          <a:xfrm>
            <a:off x="955041" y="2044048"/>
            <a:ext cx="6289039" cy="4723601"/>
          </a:xfrm>
          <a:prstGeom prst="rect">
            <a:avLst/>
          </a:prstGeom>
        </p:spPr>
      </p:pic>
    </p:spTree>
    <p:extLst>
      <p:ext uri="{BB962C8B-B14F-4D97-AF65-F5344CB8AC3E}">
        <p14:creationId xmlns:p14="http://schemas.microsoft.com/office/powerpoint/2010/main" val="1022049550"/>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137C298-510D-0E63-7DEE-6FA9FBAA74D2}"/>
            </a:ext>
          </a:extLst>
        </p:cNvPr>
        <p:cNvGrpSpPr/>
        <p:nvPr/>
      </p:nvGrpSpPr>
      <p:grpSpPr>
        <a:xfrm>
          <a:off x="0" y="0"/>
          <a:ext cx="0" cy="0"/>
          <a:chOff x="0" y="0"/>
          <a:chExt cx="0" cy="0"/>
        </a:xfrm>
      </p:grpSpPr>
      <p:sp>
        <p:nvSpPr>
          <p:cNvPr id="2" name="标题 1">
            <a:extLst>
              <a:ext uri="{FF2B5EF4-FFF2-40B4-BE49-F238E27FC236}">
                <a16:creationId xmlns:a16="http://schemas.microsoft.com/office/drawing/2014/main" id="{EA02A46B-DA07-659B-E5F8-E000EA705653}"/>
              </a:ext>
            </a:extLst>
          </p:cNvPr>
          <p:cNvSpPr txBox="1"/>
          <p:nvPr/>
        </p:nvSpPr>
        <p:spPr>
          <a:xfrm>
            <a:off x="0" y="0"/>
            <a:ext cx="12192000" cy="6858000"/>
          </a:xfrm>
          <a:prstGeom prst="rect">
            <a:avLst/>
          </a:prstGeom>
          <a:gradFill>
            <a:gsLst>
              <a:gs pos="0">
                <a:schemeClr val="accent1">
                  <a:lumMod val="5000"/>
                  <a:lumOff val="95000"/>
                  <a:alpha val="9000"/>
                </a:schemeClr>
              </a:gs>
              <a:gs pos="100000">
                <a:schemeClr val="accent1">
                  <a:lumMod val="60000"/>
                  <a:lumOff val="40000"/>
                  <a:alpha val="39000"/>
                </a:schemeClr>
              </a:gs>
            </a:gsLst>
            <a:lin ang="7200000" scaled="0"/>
          </a:gradFill>
          <a:ln w="19050" cap="sq">
            <a:noFill/>
            <a:miter/>
          </a:ln>
        </p:spPr>
        <p:txBody>
          <a:bodyPr vert="horz" wrap="square" lIns="91440" tIns="45720" rIns="91440" bIns="45720" rtlCol="0" anchor="ctr"/>
          <a:lstStyle/>
          <a:p>
            <a:pPr algn="ctr"/>
            <a:endParaRPr kumimoji="1" lang="zh-CN" altLang="en-US"/>
          </a:p>
        </p:txBody>
      </p:sp>
      <p:sp>
        <p:nvSpPr>
          <p:cNvPr id="4" name="Oval 4">
            <a:extLst>
              <a:ext uri="{FF2B5EF4-FFF2-40B4-BE49-F238E27FC236}">
                <a16:creationId xmlns:a16="http://schemas.microsoft.com/office/drawing/2014/main" id="{29FEFB15-150D-F633-AA28-1BBFC6B0E9C5}"/>
              </a:ext>
            </a:extLst>
          </p:cNvPr>
          <p:cNvSpPr/>
          <p:nvPr/>
        </p:nvSpPr>
        <p:spPr>
          <a:xfrm>
            <a:off x="1613948" y="2545234"/>
            <a:ext cx="1817008" cy="1767531"/>
          </a:xfrm>
          <a:prstGeom prst="ellipse">
            <a:avLst/>
          </a:prstGeom>
          <a:blipFill dpi="0" rotWithShape="1">
            <a:blip r:embed="rId2">
              <a:alphaModFix amt="86000"/>
            </a:blip>
            <a:srcRect/>
            <a:stretch>
              <a:fillRect r="-33000"/>
            </a:stretch>
          </a:bli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sz="6600" b="1" dirty="0">
                <a:solidFill>
                  <a:prstClr val="white"/>
                </a:solidFill>
                <a:latin typeface="Arial Black" panose="020B0A04020102020204" pitchFamily="34" charset="0"/>
                <a:ea typeface="字魂59号-创粗黑" panose="00000500000000000000" pitchFamily="2" charset="-122"/>
                <a:sym typeface="字魂59号-创粗黑" panose="00000500000000000000" pitchFamily="2" charset="-122"/>
              </a:rPr>
              <a:t>4</a:t>
            </a:r>
            <a:endParaRPr kumimoji="0" lang="id-ID" sz="6600" b="1" i="0" u="none" strike="noStrike" kern="1200" cap="none" spc="0" normalizeH="0" baseline="0" noProof="0" dirty="0">
              <a:ln>
                <a:noFill/>
              </a:ln>
              <a:solidFill>
                <a:prstClr val="white"/>
              </a:solidFill>
              <a:effectLst/>
              <a:uLnTx/>
              <a:uFillTx/>
              <a:latin typeface="Arial Black" panose="020B0A04020102020204" pitchFamily="34" charset="0"/>
              <a:ea typeface="字魂59号-创粗黑" panose="00000500000000000000" pitchFamily="2" charset="-122"/>
              <a:cs typeface="+mn-cs"/>
              <a:sym typeface="字魂59号-创粗黑" panose="00000500000000000000" pitchFamily="2" charset="-122"/>
            </a:endParaRPr>
          </a:p>
        </p:txBody>
      </p:sp>
      <p:sp>
        <p:nvSpPr>
          <p:cNvPr id="7" name="文本框 6">
            <a:extLst>
              <a:ext uri="{FF2B5EF4-FFF2-40B4-BE49-F238E27FC236}">
                <a16:creationId xmlns:a16="http://schemas.microsoft.com/office/drawing/2014/main" id="{E2427D2B-2FFD-EC19-B62D-2FF6FEA72473}"/>
              </a:ext>
            </a:extLst>
          </p:cNvPr>
          <p:cNvSpPr txBox="1"/>
          <p:nvPr/>
        </p:nvSpPr>
        <p:spPr>
          <a:xfrm>
            <a:off x="4786831" y="2852177"/>
            <a:ext cx="6097002" cy="1015663"/>
          </a:xfrm>
          <a:prstGeom prst="rect">
            <a:avLst/>
          </a:prstGeom>
          <a:noFill/>
        </p:spPr>
        <p:txBody>
          <a:bodyPr wrap="square">
            <a:spAutoFit/>
          </a:bodyPr>
          <a:lstStyle/>
          <a:p>
            <a:r>
              <a:rPr lang="zh-CN" altLang="en-US" sz="6000" b="1" dirty="0">
                <a:solidFill>
                  <a:srgbClr val="2B77CC"/>
                </a:solidFill>
                <a:latin typeface="微软雅黑" panose="020B0503020204020204" pitchFamily="34" charset="-122"/>
                <a:ea typeface="微软雅黑" panose="020B0503020204020204" pitchFamily="34" charset="-122"/>
                <a:cs typeface="Times New Roman" panose="02020603050405020304" pitchFamily="18" charset="0"/>
              </a:rPr>
              <a:t>后续工作计划</a:t>
            </a:r>
          </a:p>
        </p:txBody>
      </p:sp>
      <p:sp>
        <p:nvSpPr>
          <p:cNvPr id="16" name="矩形 15">
            <a:extLst>
              <a:ext uri="{FF2B5EF4-FFF2-40B4-BE49-F238E27FC236}">
                <a16:creationId xmlns:a16="http://schemas.microsoft.com/office/drawing/2014/main" id="{23D63A92-0526-4CE1-C216-DA6F97E32605}"/>
              </a:ext>
            </a:extLst>
          </p:cNvPr>
          <p:cNvSpPr/>
          <p:nvPr/>
        </p:nvSpPr>
        <p:spPr>
          <a:xfrm>
            <a:off x="4143736" y="482600"/>
            <a:ext cx="279400" cy="5892800"/>
          </a:xfrm>
          <a:prstGeom prst="rect">
            <a:avLst/>
          </a:prstGeom>
          <a:gradFill flip="none" rotWithShape="1">
            <a:gsLst>
              <a:gs pos="0">
                <a:schemeClr val="accent1">
                  <a:tint val="66000"/>
                  <a:satMod val="160000"/>
                </a:schemeClr>
              </a:gs>
              <a:gs pos="50000">
                <a:schemeClr val="accent1">
                  <a:tint val="44500"/>
                  <a:satMod val="160000"/>
                </a:schemeClr>
              </a:gs>
              <a:gs pos="100000">
                <a:schemeClr val="accent1">
                  <a:tint val="23500"/>
                  <a:satMod val="160000"/>
                </a:schemeClr>
              </a:gs>
            </a:gsLst>
            <a:lin ang="18900000" scaled="1"/>
            <a:tileRect/>
          </a:gradFill>
          <a:ln>
            <a:solidFill>
              <a:schemeClr val="tx2">
                <a:lumMod val="60000"/>
                <a:lumOff val="40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spTree>
    <p:extLst>
      <p:ext uri="{BB962C8B-B14F-4D97-AF65-F5344CB8AC3E}">
        <p14:creationId xmlns:p14="http://schemas.microsoft.com/office/powerpoint/2010/main" val="1908416495"/>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7FB809A-DEA2-16F6-E564-D41BD654F446}"/>
            </a:ext>
          </a:extLst>
        </p:cNvPr>
        <p:cNvGrpSpPr/>
        <p:nvPr/>
      </p:nvGrpSpPr>
      <p:grpSpPr>
        <a:xfrm>
          <a:off x="0" y="0"/>
          <a:ext cx="0" cy="0"/>
          <a:chOff x="0" y="0"/>
          <a:chExt cx="0" cy="0"/>
        </a:xfrm>
      </p:grpSpPr>
      <p:sp>
        <p:nvSpPr>
          <p:cNvPr id="11" name="标题 1">
            <a:extLst>
              <a:ext uri="{FF2B5EF4-FFF2-40B4-BE49-F238E27FC236}">
                <a16:creationId xmlns:a16="http://schemas.microsoft.com/office/drawing/2014/main" id="{C073D42E-6900-A244-B102-C4AD78109CC6}"/>
              </a:ext>
            </a:extLst>
          </p:cNvPr>
          <p:cNvSpPr txBox="1"/>
          <p:nvPr/>
        </p:nvSpPr>
        <p:spPr>
          <a:xfrm>
            <a:off x="363891" y="471047"/>
            <a:ext cx="296509" cy="296509"/>
          </a:xfrm>
          <a:prstGeom prst="ellipse">
            <a:avLst/>
          </a:prstGeom>
          <a:solidFill>
            <a:schemeClr val="accent1">
              <a:lumMod val="60000"/>
              <a:lumOff val="40000"/>
            </a:schemeClr>
          </a:solidFill>
          <a:ln w="12700" cap="sq">
            <a:noFill/>
            <a:prstDash val="solid"/>
            <a:miter/>
          </a:ln>
        </p:spPr>
        <p:txBody>
          <a:bodyPr vert="horz" wrap="square" lIns="91440" tIns="45720" rIns="91440" bIns="45720" rtlCol="0" anchor="ctr"/>
          <a:lstStyle/>
          <a:p>
            <a:pPr algn="ctr"/>
            <a:endParaRPr kumimoji="1" lang="zh-CN" altLang="en-US"/>
          </a:p>
        </p:txBody>
      </p:sp>
      <p:sp>
        <p:nvSpPr>
          <p:cNvPr id="2" name="标题 1">
            <a:extLst>
              <a:ext uri="{FF2B5EF4-FFF2-40B4-BE49-F238E27FC236}">
                <a16:creationId xmlns:a16="http://schemas.microsoft.com/office/drawing/2014/main" id="{5AB2605F-57A1-CFEE-7F23-58A6EF358B31}"/>
              </a:ext>
            </a:extLst>
          </p:cNvPr>
          <p:cNvSpPr txBox="1"/>
          <p:nvPr/>
        </p:nvSpPr>
        <p:spPr>
          <a:xfrm>
            <a:off x="787215" y="385281"/>
            <a:ext cx="5308785" cy="468000"/>
          </a:xfrm>
          <a:prstGeom prst="rect">
            <a:avLst/>
          </a:prstGeom>
          <a:noFill/>
          <a:ln cap="sq">
            <a:noFill/>
          </a:ln>
        </p:spPr>
        <p:txBody>
          <a:bodyPr vert="horz" wrap="square" lIns="0" tIns="0" rIns="0" bIns="0" rtlCol="0" anchor="ctr"/>
          <a:lstStyle/>
          <a:p>
            <a:r>
              <a:rPr lang="zh-CN" altLang="en-US" sz="2800" b="1" dirty="0">
                <a:solidFill>
                  <a:srgbClr val="2B77CC"/>
                </a:solidFill>
                <a:latin typeface="微软雅黑" panose="020B0503020204020204" pitchFamily="34" charset="-122"/>
                <a:ea typeface="微软雅黑" panose="020B0503020204020204" pitchFamily="34" charset="-122"/>
                <a:cs typeface="Times New Roman" panose="02020603050405020304" pitchFamily="18" charset="0"/>
              </a:rPr>
              <a:t>后续工作计划</a:t>
            </a:r>
          </a:p>
        </p:txBody>
      </p:sp>
      <p:sp>
        <p:nvSpPr>
          <p:cNvPr id="3" name="文本框 2">
            <a:extLst>
              <a:ext uri="{FF2B5EF4-FFF2-40B4-BE49-F238E27FC236}">
                <a16:creationId xmlns:a16="http://schemas.microsoft.com/office/drawing/2014/main" id="{A8D7DAD0-9C2E-770D-543C-40DF45234AA6}"/>
              </a:ext>
            </a:extLst>
          </p:cNvPr>
          <p:cNvSpPr txBox="1"/>
          <p:nvPr/>
        </p:nvSpPr>
        <p:spPr>
          <a:xfrm>
            <a:off x="997226" y="1274417"/>
            <a:ext cx="9984850" cy="4524315"/>
          </a:xfrm>
          <a:prstGeom prst="rect">
            <a:avLst/>
          </a:prstGeom>
          <a:noFill/>
        </p:spPr>
        <p:txBody>
          <a:bodyPr wrap="square" rtlCol="0">
            <a:spAutoFit/>
          </a:bodyPr>
          <a:lstStyle/>
          <a:p>
            <a:r>
              <a:rPr lang="zh-CN" altLang="en-US" sz="2400" dirty="0">
                <a:latin typeface="黑体" panose="02010609060101010101" pitchFamily="49" charset="-122"/>
                <a:ea typeface="黑体" panose="02010609060101010101" pitchFamily="49" charset="-122"/>
              </a:rPr>
              <a:t>（</a:t>
            </a:r>
            <a:r>
              <a:rPr lang="en-US" altLang="zh-CN" sz="2400" dirty="0">
                <a:latin typeface="黑体" panose="02010609060101010101" pitchFamily="49" charset="-122"/>
                <a:ea typeface="黑体" panose="02010609060101010101" pitchFamily="49" charset="-122"/>
              </a:rPr>
              <a:t>1</a:t>
            </a:r>
            <a:r>
              <a:rPr lang="zh-CN" altLang="en-US" sz="2400" dirty="0">
                <a:latin typeface="黑体" panose="02010609060101010101" pitchFamily="49" charset="-122"/>
                <a:ea typeface="黑体" panose="02010609060101010101" pitchFamily="49" charset="-122"/>
              </a:rPr>
              <a:t>）完善实验验证体系和消融实验，将博弈论指标纳入消融实验的常规报告项；将对比方法扩展至已引入代码库但尚未评估的 </a:t>
            </a:r>
            <a:r>
              <a:rPr lang="en-US" altLang="zh-CN" sz="2400" dirty="0" err="1">
                <a:latin typeface="黑体" panose="02010609060101010101" pitchFamily="49" charset="-122"/>
                <a:ea typeface="黑体" panose="02010609060101010101" pitchFamily="49" charset="-122"/>
              </a:rPr>
              <a:t>MAZero</a:t>
            </a:r>
            <a:r>
              <a:rPr lang="en-US" altLang="zh-CN" sz="2400" dirty="0">
                <a:latin typeface="黑体" panose="02010609060101010101" pitchFamily="49" charset="-122"/>
                <a:ea typeface="黑体" panose="02010609060101010101" pitchFamily="49" charset="-122"/>
              </a:rPr>
              <a:t> </a:t>
            </a:r>
            <a:r>
              <a:rPr lang="zh-CN" altLang="en-US" sz="2400" dirty="0">
                <a:latin typeface="黑体" panose="02010609060101010101" pitchFamily="49" charset="-122"/>
                <a:ea typeface="黑体" panose="02010609060101010101" pitchFamily="49" charset="-122"/>
              </a:rPr>
              <a:t>与 </a:t>
            </a:r>
            <a:r>
              <a:rPr lang="en-US" altLang="zh-CN" sz="2400" dirty="0">
                <a:latin typeface="黑体" panose="02010609060101010101" pitchFamily="49" charset="-122"/>
                <a:ea typeface="黑体" panose="02010609060101010101" pitchFamily="49" charset="-122"/>
              </a:rPr>
              <a:t>DIMA</a:t>
            </a:r>
            <a:r>
              <a:rPr lang="zh-CN" altLang="en-US" sz="2400" dirty="0">
                <a:latin typeface="黑体" panose="02010609060101010101" pitchFamily="49" charset="-122"/>
                <a:ea typeface="黑体" panose="02010609060101010101" pitchFamily="49" charset="-122"/>
              </a:rPr>
              <a:t>；将实验场景由当前的双智能体扩展至四构型族，涵盖两两对立与三对一联盟等更复杂的关系结构。</a:t>
            </a:r>
          </a:p>
          <a:p>
            <a:r>
              <a:rPr lang="zh-CN" altLang="en-US" sz="2400" dirty="0">
                <a:latin typeface="黑体" panose="02010609060101010101" pitchFamily="49" charset="-122"/>
                <a:ea typeface="黑体" panose="02010609060101010101" pitchFamily="49" charset="-122"/>
              </a:rPr>
              <a:t>（</a:t>
            </a:r>
            <a:r>
              <a:rPr lang="en-US" altLang="zh-CN" sz="2400" dirty="0">
                <a:latin typeface="黑体" panose="02010609060101010101" pitchFamily="49" charset="-122"/>
                <a:ea typeface="黑体" panose="02010609060101010101" pitchFamily="49" charset="-122"/>
              </a:rPr>
              <a:t>2</a:t>
            </a:r>
            <a:r>
              <a:rPr lang="zh-CN" altLang="en-US" sz="2400" dirty="0">
                <a:latin typeface="黑体" panose="02010609060101010101" pitchFamily="49" charset="-122"/>
                <a:ea typeface="黑体" panose="02010609060101010101" pitchFamily="49" charset="-122"/>
              </a:rPr>
              <a:t>）开展全动态博弈环境下的求解范式研究。在关系构型允许回合内切换的隐马尔可夫切换博弈设定下，研究切换潜变量的在线追踪机制，即信念后验发生跳变时如何低成本触发超网络对主观参数的重生成；相应地评估范式需要从当前的回合级评估过渡到切换段级评估，以区分模型在稳定构型下的常规表现与切换后短暂适应期内的表现；</a:t>
            </a:r>
          </a:p>
          <a:p>
            <a:r>
              <a:rPr lang="zh-CN" altLang="en-US" sz="2400" dirty="0">
                <a:latin typeface="黑体" panose="02010609060101010101" pitchFamily="49" charset="-122"/>
                <a:ea typeface="黑体" panose="02010609060101010101" pitchFamily="49" charset="-122"/>
              </a:rPr>
              <a:t>（</a:t>
            </a:r>
            <a:r>
              <a:rPr lang="en-US" altLang="zh-CN" sz="2400" dirty="0">
                <a:latin typeface="黑体" panose="02010609060101010101" pitchFamily="49" charset="-122"/>
                <a:ea typeface="黑体" panose="02010609060101010101" pitchFamily="49" charset="-122"/>
              </a:rPr>
              <a:t>3</a:t>
            </a:r>
            <a:r>
              <a:rPr lang="zh-CN" altLang="en-US" sz="2400" dirty="0">
                <a:latin typeface="黑体" panose="02010609060101010101" pitchFamily="49" charset="-122"/>
                <a:ea typeface="黑体" panose="02010609060101010101" pitchFamily="49" charset="-122"/>
              </a:rPr>
              <a:t>）优化算法训练流程与神经网络梯度流向，目前算法训练速度不理想，尝试训练加速。</a:t>
            </a:r>
          </a:p>
          <a:p>
            <a:endParaRPr lang="zh-CN" altLang="en-US" sz="2400" dirty="0">
              <a:latin typeface="黑体" panose="02010609060101010101" pitchFamily="49" charset="-122"/>
              <a:ea typeface="黑体" panose="02010609060101010101" pitchFamily="49" charset="-122"/>
            </a:endParaRPr>
          </a:p>
        </p:txBody>
      </p:sp>
    </p:spTree>
    <p:extLst>
      <p:ext uri="{BB962C8B-B14F-4D97-AF65-F5344CB8AC3E}">
        <p14:creationId xmlns:p14="http://schemas.microsoft.com/office/powerpoint/2010/main" val="88820306"/>
      </p:ext>
    </p:extLst>
  </p:cSld>
  <p:clrMapOvr>
    <a:masterClrMapping/>
  </p:clrMapOvr>
</p:sld>
</file>

<file path=ppt/theme/theme1.xml><?xml version="1.0" encoding="utf-8"?>
<a:theme xmlns:a="http://schemas.openxmlformats.org/drawingml/2006/main" name="Office 主题​​">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等线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等线"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主题​​">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等线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等线"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1328</Words>
  <Application>Microsoft Office PowerPoint</Application>
  <PresentationFormat>宽屏</PresentationFormat>
  <Paragraphs>45</Paragraphs>
  <Slides>13</Slides>
  <Notes>1</Notes>
  <HiddenSlides>0</HiddenSlides>
  <MMClips>0</MMClips>
  <ScaleCrop>false</ScaleCrop>
  <HeadingPairs>
    <vt:vector size="6" baseType="variant">
      <vt:variant>
        <vt:lpstr>已用的字体</vt:lpstr>
      </vt:variant>
      <vt:variant>
        <vt:i4>8</vt:i4>
      </vt:variant>
      <vt:variant>
        <vt:lpstr>主题</vt:lpstr>
      </vt:variant>
      <vt:variant>
        <vt:i4>1</vt:i4>
      </vt:variant>
      <vt:variant>
        <vt:lpstr>幻灯片标题</vt:lpstr>
      </vt:variant>
      <vt:variant>
        <vt:i4>13</vt:i4>
      </vt:variant>
    </vt:vector>
  </HeadingPairs>
  <TitlesOfParts>
    <vt:vector size="22" baseType="lpstr">
      <vt:lpstr>等线</vt:lpstr>
      <vt:lpstr>等线 Light</vt:lpstr>
      <vt:lpstr>黑体</vt:lpstr>
      <vt:lpstr>微软雅黑</vt:lpstr>
      <vt:lpstr>Arial</vt:lpstr>
      <vt:lpstr>Arial Black</vt:lpstr>
      <vt:lpstr>Cambria Math</vt:lpstr>
      <vt:lpstr>Times New Roman</vt:lpstr>
      <vt:lpstr>Office 主题​​</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演示文稿</dc:title>
  <dc:creator>文博 郑</dc:creator>
  <cp:lastModifiedBy>文博 郑</cp:lastModifiedBy>
  <cp:revision>1</cp:revision>
  <dcterms:created xsi:type="dcterms:W3CDTF">2026-07-14T03:32:01Z</dcterms:created>
  <dcterms:modified xsi:type="dcterms:W3CDTF">2026-07-14T03:32:17Z</dcterms:modified>
</cp:coreProperties>
</file>